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335" r:id="rId3"/>
    <p:sldId id="328" r:id="rId4"/>
    <p:sldId id="266" r:id="rId5"/>
    <p:sldId id="329" r:id="rId6"/>
    <p:sldId id="312" r:id="rId7"/>
    <p:sldId id="291" r:id="rId8"/>
    <p:sldId id="306" r:id="rId9"/>
    <p:sldId id="336" r:id="rId10"/>
    <p:sldId id="338" r:id="rId11"/>
    <p:sldId id="330" r:id="rId12"/>
    <p:sldId id="308" r:id="rId13"/>
    <p:sldId id="320" r:id="rId14"/>
    <p:sldId id="310" r:id="rId15"/>
    <p:sldId id="321" r:id="rId16"/>
    <p:sldId id="323" r:id="rId17"/>
    <p:sldId id="322" r:id="rId18"/>
    <p:sldId id="342" r:id="rId19"/>
    <p:sldId id="324" r:id="rId20"/>
    <p:sldId id="325" r:id="rId21"/>
    <p:sldId id="334" r:id="rId22"/>
    <p:sldId id="341" r:id="rId23"/>
    <p:sldId id="33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FC896-616B-496C-9AC6-B220A4264C67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2DD38-AF2C-4BFC-83F4-541E0F5160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64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2DD38-AF2C-4BFC-83F4-541E0F5160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344B-4C19-40BC-AE73-40002A201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CE46A-96AA-4140-BDB0-263A64AD3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0DBE1-67FA-4749-B6AA-349C02CD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AA06-3EED-458E-A66B-86CA495CE4C9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89AE5-B6F3-40FB-838B-6F30FBF70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F6C40-4806-4693-AC0A-09FE937F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2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6E2F-EBA0-48AD-A313-75F93BA2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5E9A-2FF5-409B-B186-CB8F6448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0CED5-3743-4AF6-9737-ADB6C2FD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5814-C1E8-47B1-BA08-74855736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95911-8E53-4DD7-BF3F-B4444CC8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3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0A05-1D68-4125-A957-3CE097FBA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FF199-8434-4820-953B-D883FA68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6D0D4-F960-4072-A6CE-AB636C9BF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D693-C780-4E10-BC38-E63595CD7F0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0954-015D-4BBC-BB3C-24CB246A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D552B-0183-48DD-8029-B96A3626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46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0B45-87C4-4973-AC21-63BAD9C6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79EC-B276-4746-B4FE-1DD3D1783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F806E-0C67-411C-9961-E0F93AAB7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5C2A9-45D0-4224-B9D3-33D4A90C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71E8-D1C3-4D5E-BA42-A9B330BF9E5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AE368-36C5-4FEB-AE22-CA24F32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4D850-01D8-4CB1-80C8-30DC4B22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9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E2A4-98F7-466F-B34F-95346276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935BB-2D77-442C-8E44-8A19C2506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4CBFD-417C-4214-A40C-D61C7BF6F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5AE4E-3192-47AB-A118-BD1B9E7D2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FAD88-D517-4EEE-8D8E-CDD052E35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DA792-571C-4651-952E-8702AA47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0AA0-6081-4E1B-85FB-22EF7AAD04C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3780E-909E-4AE1-8E3F-1B609281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A4B03-396C-47F5-9A22-2E17A9DC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35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1333-EA0B-44DF-A6BF-CF8FDFCF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0B984-86DC-46B1-8BB5-FB115E4B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A0EAA-C031-4930-BC0D-8EE3A6766A51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C4F94-178F-49DA-B43B-C8AAEFB06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BB87F-AB0D-4D3F-AC08-A915ED8E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3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321C0-8BAA-471B-9EA8-B7BB6DEF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B9DAB-82A0-45F3-A973-53C84EE025DC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09A30-F154-44AB-BB41-D4663C00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0B144-4B6C-4E8E-B2EA-61A862D5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66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B995-F807-46C9-BD5C-680A5DC5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A77E-D59B-49AF-986B-DC7B98589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A3540-AF2F-4E8A-90FA-41F4024AA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DB35D-E45A-42FE-A470-74BDA059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9AF3E-4F9E-4282-81FD-A23B77E89FB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43EE5-0201-40C7-BA2C-7B7FC3D1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CE5A3-BEA0-4ABD-825A-A1D0FE272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380C-2F45-4FE5-8F95-CF42FFB8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214C4-1E46-4527-ACF6-9133FDE5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2497E-C515-4FA5-B48C-19DAC780C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5A935-1F8E-44A5-A110-E371CBC8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CB63-68A4-447C-9DAA-39B87137A09C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E315B-94C6-431B-9CF7-5AF0845E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F6935-854B-4DB9-AE53-5FDB0E0B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0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D862-DF19-403C-A04F-A09225E4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359F5-1F71-4ADB-B681-AC0EE444D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9CDE5-6BEC-42AB-B78E-6095C0A1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53E4-FA78-4A3D-BBDA-07C1AF57FFB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982E-C59A-47F3-A129-369D8A0A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BE2F4-E858-4A96-A714-F8D83EB1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96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44680-31F8-4B9C-A5A8-31DB75D19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A2DF5-02B7-4172-8751-418AEE345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77CA5-654F-44AC-8A56-B936E689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9C990-23F2-469F-A4E2-1F1D9FB0931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C7095-DB29-464F-A17D-1A53F09B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664E-A5B4-4B02-9908-40837B5D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2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B2907-3207-403D-AC22-7A839C0D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994" y="365125"/>
            <a:ext cx="92768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7D1D5-C94E-4175-8304-FC17D56B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47309-59EF-4335-830F-9E5AA3E18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48068" y="6356350"/>
            <a:ext cx="1333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E3826-8659-4A66-BAC7-A10C6295D00E}" type="datetime1">
              <a:rPr lang="en-US" smtClean="0"/>
              <a:pPr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CAA87-7DAA-4367-BDCF-F6BFA99A9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6CF25-39B3-4F1C-B4E4-469A2B7BD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19BC1-DC1A-4A81-809D-B4C4A2F78D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91011-4A9E-4071-8D78-EC68FAA7927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200" y="6074403"/>
            <a:ext cx="1409869" cy="783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BF12DF-3D1C-4996-A05D-5DD9FD07E9E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200" y="462521"/>
            <a:ext cx="1043033" cy="11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84BF0B-359A-4728-A136-954B9B8C3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8642"/>
            <a:ext cx="9144000" cy="2387600"/>
          </a:xfrm>
        </p:spPr>
        <p:txBody>
          <a:bodyPr/>
          <a:lstStyle/>
          <a:p>
            <a:r>
              <a:rPr lang="en-US" dirty="0"/>
              <a:t>Texture Mapping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2D686FB-1331-4310-984A-838755B02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1586" y="3965405"/>
            <a:ext cx="3894414" cy="1905000"/>
          </a:xfrm>
        </p:spPr>
        <p:txBody>
          <a:bodyPr/>
          <a:lstStyle/>
          <a:p>
            <a:pPr algn="l"/>
            <a:r>
              <a:rPr lang="en-US" dirty="0"/>
              <a:t>D</a:t>
            </a:r>
            <a:r>
              <a:rPr lang="en-US" dirty="0">
                <a:effectLst/>
              </a:rPr>
              <a:t>r. Sk. </a:t>
            </a:r>
            <a:r>
              <a:rPr lang="en-US" dirty="0"/>
              <a:t>M</a:t>
            </a:r>
            <a:r>
              <a:rPr lang="en-US" dirty="0">
                <a:effectLst/>
              </a:rPr>
              <a:t>d. </a:t>
            </a:r>
            <a:r>
              <a:rPr lang="en-US" dirty="0" err="1"/>
              <a:t>M</a:t>
            </a:r>
            <a:r>
              <a:rPr lang="en-US" dirty="0" err="1">
                <a:effectLst/>
              </a:rPr>
              <a:t>asudul</a:t>
            </a:r>
            <a:r>
              <a:rPr lang="en-US" dirty="0">
                <a:effectLst/>
              </a:rPr>
              <a:t> </a:t>
            </a:r>
            <a:r>
              <a:rPr lang="en-US" dirty="0"/>
              <a:t>A</a:t>
            </a:r>
            <a:r>
              <a:rPr lang="en-US" dirty="0">
                <a:effectLst/>
              </a:rPr>
              <a:t>hsan</a:t>
            </a:r>
          </a:p>
          <a:p>
            <a:pPr algn="l"/>
            <a:r>
              <a:rPr lang="en-US" dirty="0"/>
              <a:t>P</a:t>
            </a:r>
            <a:r>
              <a:rPr lang="en-US" dirty="0">
                <a:effectLst/>
              </a:rPr>
              <a:t>rofessor</a:t>
            </a:r>
          </a:p>
          <a:p>
            <a:pPr algn="l"/>
            <a:r>
              <a:rPr lang="en-US" dirty="0"/>
              <a:t>CSE</a:t>
            </a:r>
            <a:r>
              <a:rPr lang="en-US" dirty="0">
                <a:effectLst/>
              </a:rPr>
              <a:t>, KUET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B0F810C-B5EB-4DBE-9D05-14388184A2EE}"/>
              </a:ext>
            </a:extLst>
          </p:cNvPr>
          <p:cNvSpPr txBox="1">
            <a:spLocks/>
          </p:cNvSpPr>
          <p:nvPr/>
        </p:nvSpPr>
        <p:spPr>
          <a:xfrm>
            <a:off x="7631425" y="3965405"/>
            <a:ext cx="3894414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Md. Tajmilur Rahman</a:t>
            </a:r>
          </a:p>
          <a:p>
            <a:pPr algn="l"/>
            <a:r>
              <a:rPr lang="en-US" dirty="0"/>
              <a:t>Lecturer</a:t>
            </a:r>
          </a:p>
          <a:p>
            <a:pPr algn="l"/>
            <a:r>
              <a:rPr lang="en-US" dirty="0"/>
              <a:t>CSE, KUET</a:t>
            </a:r>
          </a:p>
        </p:txBody>
      </p:sp>
    </p:spTree>
    <p:extLst>
      <p:ext uri="{BB962C8B-B14F-4D97-AF65-F5344CB8AC3E}">
        <p14:creationId xmlns:p14="http://schemas.microsoft.com/office/powerpoint/2010/main" val="54531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FA50-2F38-460A-A9F0-2719EB4B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364B2-DC2E-4B7C-AD2F-405AA3EE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Texture Mapping</a:t>
            </a:r>
          </a:p>
          <a:p>
            <a:r>
              <a:rPr lang="en-US" dirty="0"/>
              <a:t>Why Texture Mapping</a:t>
            </a:r>
          </a:p>
          <a:p>
            <a:r>
              <a:rPr lang="en-US" dirty="0"/>
              <a:t>Linear Texture Mapping</a:t>
            </a:r>
          </a:p>
          <a:p>
            <a:r>
              <a:rPr lang="en-US" dirty="0"/>
              <a:t>Mipmapping</a:t>
            </a:r>
          </a:p>
          <a:p>
            <a:r>
              <a:rPr lang="en-US" dirty="0"/>
              <a:t>Texture Related OpenGL Functions</a:t>
            </a:r>
          </a:p>
          <a:p>
            <a:r>
              <a:rPr lang="en-US" dirty="0"/>
              <a:t>Texture Wrapping</a:t>
            </a:r>
          </a:p>
          <a:p>
            <a:r>
              <a:rPr lang="en-US" dirty="0"/>
              <a:t>Texture Filtering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51AB-F7DA-4A07-A874-A2C48021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FFB7F-6DC7-4FEE-A0F3-77740EAC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54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Texture Mapping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7050"/>
            <a:ext cx="9466006" cy="4351338"/>
          </a:xfrm>
        </p:spPr>
        <p:txBody>
          <a:bodyPr/>
          <a:lstStyle/>
          <a:p>
            <a:pPr algn="just"/>
            <a:r>
              <a:rPr lang="en-US" dirty="0"/>
              <a:t>Texture mapping is the electronic equivalent of applying wallpaper, paint, or veneer to a real object.</a:t>
            </a:r>
          </a:p>
        </p:txBody>
      </p:sp>
      <p:sp>
        <p:nvSpPr>
          <p:cNvPr id="4" name="AutoShape 2" descr="Image result for what is texture mapping"/>
          <p:cNvSpPr>
            <a:spLocks noChangeAspect="1" noChangeArrowheads="1"/>
          </p:cNvSpPr>
          <p:nvPr/>
        </p:nvSpPr>
        <p:spPr bwMode="auto">
          <a:xfrm>
            <a:off x="-2913052" y="-144463"/>
            <a:ext cx="3373427" cy="33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677" y="3122787"/>
            <a:ext cx="5110923" cy="216426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70B9E0-3B83-4082-8FBB-D878193A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13509-1E85-459C-8D01-C507DBD36914}" type="datetime1">
              <a:rPr lang="en-US" smtClean="0"/>
              <a:t>2/1/2026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AEFF3-503B-421F-B5C4-7B3D6A2B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5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7834-8D90-4C9C-A2F4-DEFDC147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D56E-BB55-474C-A9CF-69589C9C0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Texture mapping </a:t>
            </a:r>
            <a:r>
              <a:rPr lang="en-US" dirty="0"/>
              <a:t>uses an image (or texture) to influence the color of a fragment. </a:t>
            </a:r>
          </a:p>
          <a:p>
            <a:r>
              <a:rPr lang="en-US" dirty="0"/>
              <a:t>Textures can be specified using a fixed pattern, such as the regular patterns often used to fill polygons; </a:t>
            </a:r>
          </a:p>
          <a:p>
            <a:pPr lvl="1"/>
            <a:r>
              <a:rPr lang="en-US" dirty="0"/>
              <a:t>by a procedural texture-generation method; </a:t>
            </a:r>
          </a:p>
          <a:p>
            <a:pPr lvl="1"/>
            <a:r>
              <a:rPr lang="en-US" dirty="0"/>
              <a:t>or through a digitized image.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F225C-6C5D-44A2-A2C7-AA9787265C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1"/>
          <a:stretch/>
        </p:blipFill>
        <p:spPr>
          <a:xfrm>
            <a:off x="6096000" y="4071209"/>
            <a:ext cx="4887007" cy="219544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6212-A6CB-47EB-B4D7-A14B6552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609AE-16F7-4934-ACA1-7B9263CC639B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E3E39-CC74-437C-B359-987B23B2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89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7950" y="163978"/>
            <a:ext cx="9285849" cy="1325563"/>
          </a:xfrm>
        </p:spPr>
        <p:txBody>
          <a:bodyPr/>
          <a:lstStyle/>
          <a:p>
            <a:r>
              <a:rPr lang="en-US" b="1" dirty="0"/>
              <a:t>Why Texture Mapping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1851"/>
            <a:ext cx="10515600" cy="4125897"/>
          </a:xfrm>
        </p:spPr>
        <p:txBody>
          <a:bodyPr/>
          <a:lstStyle/>
          <a:p>
            <a:r>
              <a:rPr lang="en-US" dirty="0"/>
              <a:t>Adds realism to the scene</a:t>
            </a:r>
          </a:p>
          <a:p>
            <a:r>
              <a:rPr lang="en-US" dirty="0"/>
              <a:t>Draw a large brick wall without texturing, each brick must be drawn as a separate polygon</a:t>
            </a:r>
          </a:p>
          <a:p>
            <a:r>
              <a:rPr lang="en-US" dirty="0"/>
              <a:t>But With texturing a large flat wall is just a single polygon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725" y="3582080"/>
            <a:ext cx="4145876" cy="2665206"/>
          </a:xfrm>
          <a:prstGeom prst="rect">
            <a:avLst/>
          </a:prstGeom>
          <a:effectLst>
            <a:reflection blurRad="1270000" stA="0" dist="1270000" dir="5400000" sy="-100000" algn="bl" rotWithShape="0"/>
          </a:effec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DE227-9029-4D3F-B7E1-CAEA42CF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5F7D9-060D-4019-A298-4BD6156B32C9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06D29-A0A1-4635-80F6-366677C5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5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457F-159B-43AE-8E46-462C1E12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Texture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7B920B-3ED2-4A84-872E-978CF04AB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352" y="1392318"/>
            <a:ext cx="6260122" cy="524545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90BEB-854A-4223-89B2-98BE0A3A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E6A9-A049-4168-A972-4C97AC717EC6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1B969-7753-49A4-BC8B-3DF4EBB3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5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81C3-1DB0-40D1-8955-C2AE6D85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Texture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F912-758F-471A-9915-43210765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a direct mapping of a block of texture to a surface patch: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78BCA-C844-4809-A538-6FDA3A4C6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937" y="2258593"/>
            <a:ext cx="7490214" cy="40533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6CF7-727C-4D1E-A6B9-D35E58F3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6A645-5299-4A95-A379-7293EA949271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FF07-11EC-47B1-AA49-93A37D34B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6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AEFE-0C68-4576-9327-E7E5ED345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Texture Mapping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8E843-6B12-485E-B06D-BBC234217F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point </a:t>
                </a:r>
                <a:r>
                  <a:rPr lang="en-US" b="1" dirty="0"/>
                  <a:t>p </a:t>
                </a:r>
                <a:r>
                  <a:rPr lang="en-US" dirty="0"/>
                  <a:t>on the surface is a function of two parameters </a:t>
                </a:r>
                <a:r>
                  <a:rPr lang="en-US" i="1" dirty="0"/>
                  <a:t>u </a:t>
                </a:r>
                <a:r>
                  <a:rPr lang="en-US" dirty="0"/>
                  <a:t>and </a:t>
                </a:r>
                <a:r>
                  <a:rPr lang="en-US" i="1" dirty="0"/>
                  <a:t>v</a:t>
                </a:r>
                <a:r>
                  <a:rPr lang="en-US" dirty="0"/>
                  <a:t>. For each pair of values, we generate the point: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Figure 7.12, the patch determined by the corners </a:t>
                </a:r>
                <a:r>
                  <a:rPr lang="en-US" i="1" dirty="0"/>
                  <a:t>(</a:t>
                </a:r>
                <a:r>
                  <a:rPr lang="en-US" i="1" dirty="0" err="1"/>
                  <a:t>s</a:t>
                </a:r>
                <a:r>
                  <a:rPr lang="en-US" dirty="0" err="1"/>
                  <a:t>min</a:t>
                </a:r>
                <a:r>
                  <a:rPr lang="en-US" dirty="0"/>
                  <a:t>, </a:t>
                </a:r>
                <a:r>
                  <a:rPr lang="en-US" i="1" dirty="0" err="1"/>
                  <a:t>t</a:t>
                </a:r>
                <a:r>
                  <a:rPr lang="en-US" dirty="0" err="1"/>
                  <a:t>min</a:t>
                </a:r>
                <a:r>
                  <a:rPr lang="en-US" i="1" dirty="0"/>
                  <a:t>) </a:t>
                </a:r>
                <a:r>
                  <a:rPr lang="en-US" dirty="0"/>
                  <a:t>and </a:t>
                </a:r>
                <a:r>
                  <a:rPr lang="en-US" i="1" dirty="0"/>
                  <a:t>(</a:t>
                </a:r>
                <a:r>
                  <a:rPr lang="en-US" i="1" dirty="0" err="1"/>
                  <a:t>s</a:t>
                </a:r>
                <a:r>
                  <a:rPr lang="en-US" dirty="0" err="1"/>
                  <a:t>max</a:t>
                </a:r>
                <a:r>
                  <a:rPr lang="en-US" dirty="0"/>
                  <a:t>, </a:t>
                </a:r>
                <a:r>
                  <a:rPr lang="en-US" i="1" dirty="0" err="1"/>
                  <a:t>t</a:t>
                </a:r>
                <a:r>
                  <a:rPr lang="en-US" dirty="0" err="1"/>
                  <a:t>max</a:t>
                </a:r>
                <a:r>
                  <a:rPr lang="en-US" i="1" dirty="0"/>
                  <a:t>) </a:t>
                </a:r>
                <a:r>
                  <a:rPr lang="en-US" dirty="0"/>
                  <a:t>corresponds to the surface patch with corners </a:t>
                </a:r>
                <a:r>
                  <a:rPr lang="en-US" i="1" dirty="0"/>
                  <a:t>(</a:t>
                </a:r>
                <a:r>
                  <a:rPr lang="en-US" i="1" dirty="0" err="1"/>
                  <a:t>u</a:t>
                </a:r>
                <a:r>
                  <a:rPr lang="en-US" dirty="0" err="1"/>
                  <a:t>min</a:t>
                </a:r>
                <a:r>
                  <a:rPr lang="en-US" dirty="0"/>
                  <a:t>, </a:t>
                </a:r>
                <a:r>
                  <a:rPr lang="en-US" i="1" dirty="0" err="1"/>
                  <a:t>v</a:t>
                </a:r>
                <a:r>
                  <a:rPr lang="en-US" dirty="0" err="1"/>
                  <a:t>min</a:t>
                </a:r>
                <a:r>
                  <a:rPr lang="en-US" i="1" dirty="0"/>
                  <a:t>) </a:t>
                </a:r>
                <a:r>
                  <a:rPr lang="en-US" dirty="0"/>
                  <a:t>and </a:t>
                </a:r>
                <a:r>
                  <a:rPr lang="en-US" i="1" dirty="0"/>
                  <a:t>(</a:t>
                </a:r>
                <a:r>
                  <a:rPr lang="en-US" i="1" dirty="0" err="1"/>
                  <a:t>u</a:t>
                </a:r>
                <a:r>
                  <a:rPr lang="en-US" dirty="0" err="1"/>
                  <a:t>max</a:t>
                </a:r>
                <a:r>
                  <a:rPr lang="en-US" dirty="0"/>
                  <a:t>, </a:t>
                </a:r>
                <a:r>
                  <a:rPr lang="en-US" i="1" dirty="0" err="1"/>
                  <a:t>v</a:t>
                </a:r>
                <a:r>
                  <a:rPr lang="en-US" dirty="0" err="1"/>
                  <a:t>max</a:t>
                </a:r>
                <a:r>
                  <a:rPr lang="en-US" i="1" dirty="0"/>
                  <a:t>)</a:t>
                </a:r>
                <a:r>
                  <a:rPr lang="en-US" dirty="0"/>
                  <a:t>, then the mapping is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8E843-6B12-485E-B06D-BBC234217F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D226B-F6C7-49B3-997E-B0275993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D10F1-20C8-4DC0-84E8-D27F74B6CA81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A12CC-DB80-478B-B4AE-FDDD6F26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7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6CDB-F3C6-4764-A945-A3E6AD53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Texture Mapping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6E3DA-9DFD-45CE-B96B-501BBE078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713810"/>
            <a:ext cx="10373750" cy="4513254"/>
          </a:xfrm>
        </p:spPr>
      </p:pic>
    </p:spTree>
    <p:extLst>
      <p:ext uri="{BB962C8B-B14F-4D97-AF65-F5344CB8AC3E}">
        <p14:creationId xmlns:p14="http://schemas.microsoft.com/office/powerpoint/2010/main" val="244105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6CDB-F3C6-4764-A945-A3E6AD53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VAOs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428" y="2439389"/>
            <a:ext cx="8457143" cy="3123809"/>
          </a:xfrm>
        </p:spPr>
      </p:pic>
    </p:spTree>
    <p:extLst>
      <p:ext uri="{BB962C8B-B14F-4D97-AF65-F5344CB8AC3E}">
        <p14:creationId xmlns:p14="http://schemas.microsoft.com/office/powerpoint/2010/main" val="56249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4862-DA60-49F9-B55F-C0E8D197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Mipmapping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003B29-686D-4475-8F08-47583A31F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364" y="1690688"/>
            <a:ext cx="9048879" cy="511511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A4F60-6731-4369-AE08-3154DBDE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7CD2-C330-4CF8-91E7-B017BA05CA40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BE384-137B-4E56-BEB3-4F89EF0B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6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6855-17E3-4EBA-AD38-262CFD3E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A34F-4588-4194-AB51-33EC31CB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Pre-calculate how the texture should look at various distances, then use the appropriate texture at each distance. This is called </a:t>
            </a:r>
            <a:r>
              <a:rPr lang="en-US" i="1" dirty="0" err="1"/>
              <a:t>mipmapping</a:t>
            </a:r>
            <a:r>
              <a:rPr lang="en-US" dirty="0"/>
              <a:t>. (OpenGL will help us in this regard)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C6C6-D406-4B70-BF86-1BDC1212D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213" y="3218622"/>
            <a:ext cx="6585574" cy="32742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99AED-2765-42AA-9A14-A12B61CA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AD4CD-0293-4B58-B8CC-15638C3CC3A9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263E-55A5-40E3-89CC-B25F1A5E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4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5BBE-047C-4D30-AC4F-B9D3822D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Related OpenGL Functions:</a:t>
            </a:r>
            <a:br>
              <a:rPr lang="en-US" dirty="0"/>
            </a:br>
            <a:r>
              <a:rPr lang="en-US" b="1" dirty="0" err="1"/>
              <a:t>glBindTexture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04432-8CD1-446E-ADD9-6D78CE87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6993" y="2160522"/>
            <a:ext cx="9896203" cy="372599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textureID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glGenTextures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(1, &amp;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textureID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glBindTexture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GL_TEXTURE_2D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textureID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GL_TEXTURE_2D: </a:t>
            </a:r>
            <a:r>
              <a:rPr lang="en-US" dirty="0"/>
              <a:t>Specify that it is a 2D texture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textureID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/>
              <a:t> ID of the texture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BC801-9750-4CD1-A0EB-7EAEF736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9104-B306-4C4F-8707-095D81FABC12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C7B59-ACA9-49F3-9F79-70928DFB6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15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9BE0-C0E4-4E7A-818C-21BD5839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Related OpenGL Functions:</a:t>
            </a:r>
            <a:br>
              <a:rPr lang="en-US" dirty="0"/>
            </a:br>
            <a:r>
              <a:rPr lang="en-US" b="1" dirty="0"/>
              <a:t>glTexImage2D()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9A603-F173-40BF-832C-56936186A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glTexImage2D(GL_TEXTURE_2D,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level, components, width, 				height, border, format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type,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tarray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/>
              <a:t>GL_TEXTURE_2D:  </a:t>
            </a:r>
            <a:r>
              <a:rPr lang="en-US" dirty="0"/>
              <a:t>Specify that it is a 2D texture</a:t>
            </a:r>
          </a:p>
          <a:p>
            <a:r>
              <a:rPr lang="en-US" b="1" dirty="0"/>
              <a:t>Level:</a:t>
            </a:r>
            <a:r>
              <a:rPr lang="en-US" dirty="0"/>
              <a:t> Used for specifying levels of detail for mipmapping</a:t>
            </a:r>
          </a:p>
          <a:p>
            <a:r>
              <a:rPr lang="en-US" b="1" dirty="0"/>
              <a:t>Components: </a:t>
            </a:r>
            <a:r>
              <a:rPr lang="en-US" dirty="0"/>
              <a:t>Generally is 0 which means GL_RGB, Represents components and 			resolution of components</a:t>
            </a:r>
          </a:p>
          <a:p>
            <a:r>
              <a:rPr lang="en-US" b="1" dirty="0"/>
              <a:t>Width, Height: </a:t>
            </a:r>
            <a:r>
              <a:rPr lang="en-US" dirty="0"/>
              <a:t>The size of the texture must be powers of 2</a:t>
            </a:r>
          </a:p>
          <a:p>
            <a:r>
              <a:rPr lang="en-US" b="1" dirty="0"/>
              <a:t>Border: </a:t>
            </a:r>
            <a:r>
              <a:rPr lang="en-US" dirty="0"/>
              <a:t>Not used here.</a:t>
            </a:r>
          </a:p>
          <a:p>
            <a:r>
              <a:rPr lang="en-US" b="1" dirty="0"/>
              <a:t>Format:  </a:t>
            </a:r>
            <a:r>
              <a:rPr lang="en-US" dirty="0"/>
              <a:t>Specify what the data is (GL_RGB, GL_RGBA, …)</a:t>
            </a:r>
          </a:p>
          <a:p>
            <a:r>
              <a:rPr lang="en-US" b="1" dirty="0"/>
              <a:t>Type: </a:t>
            </a:r>
            <a:r>
              <a:rPr lang="en-US" dirty="0"/>
              <a:t>Specify data type (GL_UNSIGNED_BYTE, GL_BYTE, …)</a:t>
            </a:r>
          </a:p>
          <a:p>
            <a:r>
              <a:rPr lang="en-US" b="1" dirty="0" err="1"/>
              <a:t>tarray</a:t>
            </a:r>
            <a:r>
              <a:rPr lang="en-US" b="1" dirty="0"/>
              <a:t>: </a:t>
            </a:r>
            <a:r>
              <a:rPr lang="en-US" dirty="0"/>
              <a:t>Pointer to CPU-side image data from </a:t>
            </a:r>
            <a:r>
              <a:rPr lang="en-US" dirty="0" err="1"/>
              <a:t>stbi_load</a:t>
            </a:r>
            <a:r>
              <a:rPr lang="en-US" dirty="0"/>
              <a:t>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EF31F-1F3F-4788-B067-89969B2A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7D76-79B5-45C8-9538-F74D8EC121FE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B0497-9F94-4CB9-A996-9B88B67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7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64BB-2CEB-477E-9C30-25E09C31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Related OpenGL Functions:</a:t>
            </a:r>
            <a:br>
              <a:rPr lang="en-US" dirty="0"/>
            </a:br>
            <a:r>
              <a:rPr lang="en-US" b="1" dirty="0" err="1"/>
              <a:t>glTexParameteri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1921-8F9B-45B3-9CC2-AEDF9DD3B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glTexParameteri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(GL_TEXTURE_2D, GL_TEXTURE_MAG_FILTER, GL_LINEAR);</a:t>
            </a:r>
          </a:p>
          <a:p>
            <a:r>
              <a:rPr lang="en-US" dirty="0"/>
              <a:t>This function sets several texture mapping parameters. These parameters are bound to the current texture.</a:t>
            </a:r>
          </a:p>
          <a:p>
            <a:r>
              <a:rPr lang="en-US" dirty="0"/>
              <a:t>parameters:</a:t>
            </a:r>
          </a:p>
          <a:p>
            <a:r>
              <a:rPr lang="en-US" dirty="0"/>
              <a:t>P1: </a:t>
            </a:r>
            <a:r>
              <a:rPr lang="en-US" dirty="0" err="1"/>
              <a:t>GLenum</a:t>
            </a:r>
            <a:r>
              <a:rPr lang="en-US" dirty="0"/>
              <a:t>: The texture target for which this parameter applies. Must be one of GL_TEXTURE_1D, GL_TEXTURE_2D, GL_TEXTURE_3D, or GL_TEXTURE_CUBE_MAP.</a:t>
            </a:r>
          </a:p>
          <a:p>
            <a:r>
              <a:rPr lang="en-US" dirty="0"/>
              <a:t>P2: </a:t>
            </a:r>
            <a:r>
              <a:rPr lang="en-US" dirty="0" err="1"/>
              <a:t>GLenum</a:t>
            </a:r>
            <a:r>
              <a:rPr lang="en-US" dirty="0"/>
              <a:t>: The texturing parameter to set. GL_TEXTURE_MAG_FILTER  Returns the texture magnification filter value</a:t>
            </a:r>
          </a:p>
          <a:p>
            <a:r>
              <a:rPr lang="en-US" dirty="0"/>
              <a:t>P3: </a:t>
            </a:r>
            <a:r>
              <a:rPr lang="en-US" dirty="0" err="1"/>
              <a:t>GLfloat</a:t>
            </a:r>
            <a:r>
              <a:rPr lang="en-US" dirty="0"/>
              <a:t> or </a:t>
            </a:r>
            <a:r>
              <a:rPr lang="en-US" dirty="0" err="1"/>
              <a:t>GLfloat</a:t>
            </a:r>
            <a:r>
              <a:rPr lang="en-US" dirty="0"/>
              <a:t>* or </a:t>
            </a:r>
            <a:r>
              <a:rPr lang="en-US" dirty="0" err="1"/>
              <a:t>GLint</a:t>
            </a:r>
            <a:r>
              <a:rPr lang="en-US" dirty="0"/>
              <a:t> or </a:t>
            </a:r>
            <a:r>
              <a:rPr lang="en-US" dirty="0" err="1"/>
              <a:t>GLint</a:t>
            </a:r>
            <a:r>
              <a:rPr lang="en-US" dirty="0"/>
              <a:t>*: Value of the parameter specified by </a:t>
            </a:r>
            <a:r>
              <a:rPr lang="en-US" dirty="0" err="1"/>
              <a:t>pname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C281-E627-4A73-BB7F-3AA4B3C8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F884B-28FE-4D7C-BD12-ED37B6609854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45D1B-A1FE-4721-B40E-FF99FAFB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07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B9E-39F3-4420-BF5C-C1F7B568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Wrapping: GL_CLAMP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54FBD-05AA-4F86-8761-18BCF42A3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058" y="1580428"/>
            <a:ext cx="6625883" cy="50126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6DFB9-1EA8-49FE-80F0-2DCE7FAF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D443-FA2B-44CB-9C2A-37AA7B07326E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CD3D9-0914-46D5-B8D9-9567E7D9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C25-48BF-4782-843A-ADDD58A9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Wrapping: GL_REPEAT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78E6AC-7D45-4AAA-86E7-810EA6435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21" y="1690688"/>
            <a:ext cx="6274191" cy="482351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77F5A-2A88-4998-A5F0-19E75CDE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1CD-762E-4551-AB05-D269D9B5F526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D99EB-2500-41FB-B891-4D494395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6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39C4-C1F7-438A-ACDB-AD8A2545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Filtering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654ECD-1B90-4C96-BBE4-53D51DDD3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408" y="1866130"/>
            <a:ext cx="4391638" cy="270547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125F1-8E2B-4324-9447-D4843D5E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E95BD-154D-4135-AEED-731C6B36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AC4858-D6CA-4BED-B199-A647C611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640" y="1804209"/>
            <a:ext cx="4486901" cy="2829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1A2E41-61B8-4FA6-99C7-97FC8536348F}"/>
              </a:ext>
            </a:extLst>
          </p:cNvPr>
          <p:cNvSpPr txBox="1"/>
          <p:nvPr/>
        </p:nvSpPr>
        <p:spPr>
          <a:xfrm>
            <a:off x="1322110" y="4741952"/>
            <a:ext cx="40323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GL_NEAREST (also known as nearest neighbor or point filtering) selects the </a:t>
            </a:r>
            <a:r>
              <a:rPr lang="en-US" dirty="0" err="1"/>
              <a:t>texel</a:t>
            </a:r>
            <a:r>
              <a:rPr lang="en-US" dirty="0"/>
              <a:t> that center is closest to the texture coordinate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35B934-E450-464B-A05C-DC9B78D9E081}"/>
              </a:ext>
            </a:extLst>
          </p:cNvPr>
          <p:cNvSpPr txBox="1"/>
          <p:nvPr/>
        </p:nvSpPr>
        <p:spPr>
          <a:xfrm>
            <a:off x="6686747" y="4741952"/>
            <a:ext cx="4306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GL_LINEAR (also known as (bi)linear filtering) takes an interpolated value from the texture coordinate’s neighboring </a:t>
            </a:r>
            <a:r>
              <a:rPr lang="en-US" dirty="0" err="1"/>
              <a:t>texels</a:t>
            </a:r>
            <a:r>
              <a:rPr lang="en-US" dirty="0"/>
              <a:t>, approximating a color between the </a:t>
            </a:r>
            <a:r>
              <a:rPr lang="en-US" dirty="0" err="1"/>
              <a:t>texels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952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009B-D42D-412D-A292-AC25ACC0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Filtering: GL_NEAREST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B7DD3-1BEA-4209-A2F5-364B3E6A6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75" y="1690688"/>
            <a:ext cx="4685303" cy="484502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E2321-872C-4610-9C76-1CE74386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0D875-65B8-4423-A212-51C86EEB08CA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B191F-9DA2-4E73-8921-26F18A83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60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0075-5926-466E-801A-4DDFCC7E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Texture Filtering: GL_LINEAR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C1A0D-AD1D-4221-A0E2-EBABA92E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318" y="1876163"/>
            <a:ext cx="4281439" cy="444868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A216F-74FD-4F17-9191-BBD9F13A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C8D2-65C9-44B9-93E5-905C1F1B2AD5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DBF87-7DD5-43C2-94FA-CF9978A6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5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2FA1-656B-493F-8559-E7C7B6BB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248" y="459433"/>
            <a:ext cx="1118884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 GL_REPEAT, GL_CLAMP_TO_EDGE, GL_MIRRORED_REPEAT, GL_LINEAR, GL_NEAREST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FC4E-E014-4B06-B837-45654D88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5BD3F-93B6-4C69-B31D-BAE71A8D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21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E7344E-F55F-47C9-86BE-80D801CEF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418" y="1784996"/>
            <a:ext cx="4871164" cy="38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55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multiple textured objects in your project with:</a:t>
            </a:r>
          </a:p>
          <a:p>
            <a:pPr lvl="1"/>
            <a:r>
              <a:rPr lang="en-US" dirty="0"/>
              <a:t>simple texture without surface color</a:t>
            </a:r>
          </a:p>
          <a:p>
            <a:pPr lvl="1"/>
            <a:r>
              <a:rPr lang="en-US" dirty="0"/>
              <a:t>blended texture with surface color</a:t>
            </a:r>
          </a:p>
          <a:p>
            <a:pPr lvl="2"/>
            <a:r>
              <a:rPr lang="en-US" dirty="0"/>
              <a:t>Color computed on the vertex</a:t>
            </a:r>
          </a:p>
          <a:p>
            <a:pPr lvl="2"/>
            <a:r>
              <a:rPr lang="en-US" dirty="0"/>
              <a:t>Color computed on the fragment</a:t>
            </a:r>
          </a:p>
          <a:p>
            <a:r>
              <a:rPr lang="en-US" dirty="0"/>
              <a:t>Add textured curvy surfaced object (at least sphere and cone) in your project.</a:t>
            </a:r>
          </a:p>
          <a:p>
            <a:endParaRPr lang="en-US" dirty="0"/>
          </a:p>
          <a:p>
            <a:r>
              <a:rPr lang="en-US" dirty="0"/>
              <a:t>Add keyboard interactions to toggle the features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930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4F21-FB66-4FB2-BC83-FBE4BCEC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823AA-990B-4051-B382-2E761A380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https://learnopengl.com/Getting-started/Textures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0AEEE-3BCB-4E4C-89AD-83F7B5BF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9EA2-216D-4D7C-A5FC-47DCF6A53FC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19235-39CA-4AC7-983A-C96068A7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9BC1-DC1A-4A81-809D-B4C4A2F78DA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4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3912</TotalTime>
  <Words>837</Words>
  <Application>Microsoft Office PowerPoint</Application>
  <PresentationFormat>Widescreen</PresentationFormat>
  <Paragraphs>123</Paragraphs>
  <Slides>23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Cascadia Mono</vt:lpstr>
      <vt:lpstr>Courier New</vt:lpstr>
      <vt:lpstr>Wingdings</vt:lpstr>
      <vt:lpstr>Office Theme</vt:lpstr>
      <vt:lpstr>Texture Mapping</vt:lpstr>
      <vt:lpstr>Outlines</vt:lpstr>
      <vt:lpstr>What is Texture Mapping </vt:lpstr>
      <vt:lpstr>Texture Mapping</vt:lpstr>
      <vt:lpstr>Why Texture Mapping </vt:lpstr>
      <vt:lpstr>Example of Texture</vt:lpstr>
      <vt:lpstr>Linear Texture Mapping</vt:lpstr>
      <vt:lpstr>Linear Texture Mapping</vt:lpstr>
      <vt:lpstr>Two Dimensional Texture Mapping</vt:lpstr>
      <vt:lpstr>The VAOs</vt:lpstr>
      <vt:lpstr>Mipmapping</vt:lpstr>
      <vt:lpstr>Mipmapping</vt:lpstr>
      <vt:lpstr>Texture Related OpenGL Functions: glBindTexture()</vt:lpstr>
      <vt:lpstr>Texture Related OpenGL Functions: glTexImage2D()</vt:lpstr>
      <vt:lpstr>Texture Related OpenGL Functions: glTexParameteri()</vt:lpstr>
      <vt:lpstr>Texture Wrapping: GL_CLAMP</vt:lpstr>
      <vt:lpstr>Texture Wrapping: GL_REPEAT</vt:lpstr>
      <vt:lpstr>Texture Filtering</vt:lpstr>
      <vt:lpstr>Texture Filtering: GL_NEAREST</vt:lpstr>
      <vt:lpstr>Texture Filtering: GL_LINEAR</vt:lpstr>
      <vt:lpstr> GL_REPEAT, GL_CLAMP_TO_EDGE, GL_MIRRORED_REPEAT, GL_LINEAR, GL_NEAREST</vt:lpstr>
      <vt:lpstr>Assignment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Texture Mapping</dc:title>
  <dc:creator>Utsha</dc:creator>
  <cp:lastModifiedBy>Tajmilur</cp:lastModifiedBy>
  <cp:revision>162</cp:revision>
  <dcterms:created xsi:type="dcterms:W3CDTF">2019-10-11T09:13:06Z</dcterms:created>
  <dcterms:modified xsi:type="dcterms:W3CDTF">2026-02-01T04:38:32Z</dcterms:modified>
</cp:coreProperties>
</file>