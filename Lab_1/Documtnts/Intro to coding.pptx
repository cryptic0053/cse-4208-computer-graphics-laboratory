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21"/>
  </p:notesMasterIdLst>
  <p:sldIdLst>
    <p:sldId id="256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7" r:id="rId11"/>
    <p:sldId id="276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68" r:id="rId20"/>
  </p:sldIdLst>
  <p:sldSz cx="12192000" cy="6858000"/>
  <p:notesSz cx="7559675" cy="10691813"/>
  <p:embeddedFontLst>
    <p:embeddedFont>
      <p:font typeface="Cascadia Mono" panose="020B0609020000020004" pitchFamily="49" charset="0"/>
      <p:regular r:id="rId22"/>
      <p:bold r:id="rId23"/>
      <p:italic r:id="rId24"/>
      <p:boldItalic r:id="rId25"/>
    </p:embeddedFont>
    <p:embeddedFont>
      <p:font typeface="Century Gothic" panose="020B050202020202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imjgV6+YW8VWecuy0djt6iOpN9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141FA8F-AC57-4174-B333-9EC3E896AB3B}">
  <a:tblStyle styleId="{0141FA8F-AC57-4174-B333-9EC3E896AB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2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3086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9099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8510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0553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3983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8259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83367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7258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29171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5668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67192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5531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89504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81548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94018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25013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subTitle" idx="1"/>
          </p:nvPr>
        </p:nvSpPr>
        <p:spPr>
          <a:xfrm>
            <a:off x="2589120" y="2133720"/>
            <a:ext cx="8915040" cy="377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ftr" idx="11"/>
          </p:nvPr>
        </p:nvSpPr>
        <p:spPr>
          <a:xfrm>
            <a:off x="2589120" y="6135840"/>
            <a:ext cx="76197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sldNum" idx="12"/>
          </p:nvPr>
        </p:nvSpPr>
        <p:spPr>
          <a:xfrm>
            <a:off x="531720" y="452952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2589120" y="2133720"/>
            <a:ext cx="8915040" cy="377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2589120" y="6135840"/>
            <a:ext cx="76197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4"/>
          <p:cNvGrpSpPr/>
          <p:nvPr/>
        </p:nvGrpSpPr>
        <p:grpSpPr>
          <a:xfrm>
            <a:off x="0" y="228600"/>
            <a:ext cx="2851200" cy="6638400"/>
            <a:chOff x="0" y="228600"/>
            <a:chExt cx="2851200" cy="6638400"/>
          </a:xfrm>
        </p:grpSpPr>
        <p:sp>
          <p:nvSpPr>
            <p:cNvPr id="7" name="Google Shape;7;p14"/>
            <p:cNvSpPr/>
            <p:nvPr/>
          </p:nvSpPr>
          <p:spPr>
            <a:xfrm>
              <a:off x="0" y="2575080"/>
              <a:ext cx="100440" cy="62568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8;p14"/>
            <p:cNvSpPr/>
            <p:nvPr/>
          </p:nvSpPr>
          <p:spPr>
            <a:xfrm>
              <a:off x="128520" y="3156480"/>
              <a:ext cx="646200" cy="2322000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9;p14"/>
            <p:cNvSpPr/>
            <p:nvPr/>
          </p:nvSpPr>
          <p:spPr>
            <a:xfrm>
              <a:off x="807120" y="5447160"/>
              <a:ext cx="609120" cy="1419840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0;p14"/>
            <p:cNvSpPr/>
            <p:nvPr/>
          </p:nvSpPr>
          <p:spPr>
            <a:xfrm>
              <a:off x="959760" y="6503760"/>
              <a:ext cx="171000" cy="363240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14"/>
            <p:cNvSpPr/>
            <p:nvPr/>
          </p:nvSpPr>
          <p:spPr>
            <a:xfrm>
              <a:off x="100800" y="3201120"/>
              <a:ext cx="821520" cy="3328200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4"/>
            <p:cNvSpPr/>
            <p:nvPr/>
          </p:nvSpPr>
          <p:spPr>
            <a:xfrm>
              <a:off x="22320" y="228600"/>
              <a:ext cx="105840" cy="2927520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4"/>
            <p:cNvSpPr/>
            <p:nvPr/>
          </p:nvSpPr>
          <p:spPr>
            <a:xfrm>
              <a:off x="78120" y="2944080"/>
              <a:ext cx="77760" cy="493560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4"/>
            <p:cNvSpPr/>
            <p:nvPr/>
          </p:nvSpPr>
          <p:spPr>
            <a:xfrm>
              <a:off x="769680" y="5478840"/>
              <a:ext cx="189720" cy="1024560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4"/>
            <p:cNvSpPr/>
            <p:nvPr/>
          </p:nvSpPr>
          <p:spPr>
            <a:xfrm>
              <a:off x="775440" y="1398960"/>
              <a:ext cx="2075760" cy="404784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4"/>
            <p:cNvSpPr/>
            <p:nvPr/>
          </p:nvSpPr>
          <p:spPr>
            <a:xfrm>
              <a:off x="922680" y="6530040"/>
              <a:ext cx="161640" cy="336960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4"/>
            <p:cNvSpPr/>
            <p:nvPr/>
          </p:nvSpPr>
          <p:spPr>
            <a:xfrm>
              <a:off x="769680" y="5359320"/>
              <a:ext cx="37080" cy="22140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4"/>
            <p:cNvSpPr/>
            <p:nvPr/>
          </p:nvSpPr>
          <p:spPr>
            <a:xfrm>
              <a:off x="849960" y="6244560"/>
              <a:ext cx="238320" cy="622080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" name="Google Shape;19;p14"/>
          <p:cNvGrpSpPr/>
          <p:nvPr/>
        </p:nvGrpSpPr>
        <p:grpSpPr>
          <a:xfrm>
            <a:off x="27360" y="-720"/>
            <a:ext cx="2356200" cy="6853680"/>
            <a:chOff x="27360" y="-720"/>
            <a:chExt cx="2356200" cy="6853680"/>
          </a:xfrm>
        </p:grpSpPr>
        <p:sp>
          <p:nvSpPr>
            <p:cNvPr id="20" name="Google Shape;20;p14"/>
            <p:cNvSpPr/>
            <p:nvPr/>
          </p:nvSpPr>
          <p:spPr>
            <a:xfrm>
              <a:off x="27360" y="-720"/>
              <a:ext cx="493920" cy="4400640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4"/>
            <p:cNvSpPr/>
            <p:nvPr/>
          </p:nvSpPr>
          <p:spPr>
            <a:xfrm>
              <a:off x="550440" y="4316400"/>
              <a:ext cx="423000" cy="1580400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4"/>
            <p:cNvSpPr/>
            <p:nvPr/>
          </p:nvSpPr>
          <p:spPr>
            <a:xfrm>
              <a:off x="1006200" y="5862600"/>
              <a:ext cx="430560" cy="990360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4"/>
            <p:cNvSpPr/>
            <p:nvPr/>
          </p:nvSpPr>
          <p:spPr>
            <a:xfrm>
              <a:off x="521640" y="4364280"/>
              <a:ext cx="551520" cy="2235600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4"/>
            <p:cNvSpPr/>
            <p:nvPr/>
          </p:nvSpPr>
          <p:spPr>
            <a:xfrm>
              <a:off x="468000" y="1289160"/>
              <a:ext cx="173880" cy="302688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4"/>
            <p:cNvSpPr/>
            <p:nvPr/>
          </p:nvSpPr>
          <p:spPr>
            <a:xfrm>
              <a:off x="1111680" y="6571440"/>
              <a:ext cx="133920" cy="281160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4"/>
            <p:cNvSpPr/>
            <p:nvPr/>
          </p:nvSpPr>
          <p:spPr>
            <a:xfrm>
              <a:off x="502560" y="4107600"/>
              <a:ext cx="82080" cy="511200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4"/>
            <p:cNvSpPr/>
            <p:nvPr/>
          </p:nvSpPr>
          <p:spPr>
            <a:xfrm>
              <a:off x="973800" y="3145680"/>
              <a:ext cx="1409760" cy="2716560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4"/>
            <p:cNvSpPr/>
            <p:nvPr/>
          </p:nvSpPr>
          <p:spPr>
            <a:xfrm>
              <a:off x="1073520" y="6600240"/>
              <a:ext cx="120240" cy="25272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4"/>
            <p:cNvSpPr/>
            <p:nvPr/>
          </p:nvSpPr>
          <p:spPr>
            <a:xfrm>
              <a:off x="973800" y="5897160"/>
              <a:ext cx="137520" cy="67392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4"/>
            <p:cNvSpPr/>
            <p:nvPr/>
          </p:nvSpPr>
          <p:spPr>
            <a:xfrm>
              <a:off x="973800" y="5772600"/>
              <a:ext cx="37800" cy="22752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4"/>
            <p:cNvSpPr/>
            <p:nvPr/>
          </p:nvSpPr>
          <p:spPr>
            <a:xfrm>
              <a:off x="1006200" y="6322680"/>
              <a:ext cx="210240" cy="530280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" name="Google Shape;32;p14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38160" dist="25560" dir="5400000" rotWithShape="0">
              <a:srgbClr val="000000">
                <a:alpha val="24705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4"/>
          <p:cNvSpPr txBox="1">
            <a:spLocks noGrp="1"/>
          </p:cNvSpPr>
          <p:nvPr>
            <p:ph type="title"/>
          </p:nvPr>
        </p:nvSpPr>
        <p:spPr>
          <a:xfrm>
            <a:off x="2589120" y="2514600"/>
            <a:ext cx="891504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entury Gothic"/>
              <a:buNone/>
              <a:defRPr sz="900" b="0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ftr" idx="11"/>
          </p:nvPr>
        </p:nvSpPr>
        <p:spPr>
          <a:xfrm>
            <a:off x="2589120" y="6135840"/>
            <a:ext cx="76197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6" name="Google Shape;36;p14"/>
          <p:cNvSpPr/>
          <p:nvPr/>
        </p:nvSpPr>
        <p:spPr>
          <a:xfrm>
            <a:off x="0" y="4323960"/>
            <a:ext cx="1744200" cy="778320"/>
          </a:xfrm>
          <a:custGeom>
            <a:avLst/>
            <a:gdLst/>
            <a:ahLst/>
            <a:cxnLst/>
            <a:rect l="l" t="t" r="r" b="b"/>
            <a:pathLst>
              <a:path w="372" h="166" extrusionOk="0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4"/>
          <p:cNvSpPr txBox="1">
            <a:spLocks noGrp="1"/>
          </p:cNvSpPr>
          <p:nvPr>
            <p:ph type="sldNum" idx="12"/>
          </p:nvPr>
        </p:nvSpPr>
        <p:spPr>
          <a:xfrm>
            <a:off x="531720" y="452952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u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u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u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u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u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u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u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u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u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16"/>
          <p:cNvGrpSpPr/>
          <p:nvPr/>
        </p:nvGrpSpPr>
        <p:grpSpPr>
          <a:xfrm>
            <a:off x="0" y="228600"/>
            <a:ext cx="2851200" cy="6638400"/>
            <a:chOff x="0" y="228600"/>
            <a:chExt cx="2851200" cy="6638400"/>
          </a:xfrm>
        </p:grpSpPr>
        <p:sp>
          <p:nvSpPr>
            <p:cNvPr id="47" name="Google Shape;47;p16"/>
            <p:cNvSpPr/>
            <p:nvPr/>
          </p:nvSpPr>
          <p:spPr>
            <a:xfrm>
              <a:off x="0" y="2575080"/>
              <a:ext cx="100440" cy="62568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16"/>
            <p:cNvSpPr/>
            <p:nvPr/>
          </p:nvSpPr>
          <p:spPr>
            <a:xfrm>
              <a:off x="128520" y="3156480"/>
              <a:ext cx="646200" cy="2322000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6"/>
            <p:cNvSpPr/>
            <p:nvPr/>
          </p:nvSpPr>
          <p:spPr>
            <a:xfrm>
              <a:off x="807120" y="5447160"/>
              <a:ext cx="609120" cy="1419840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6"/>
            <p:cNvSpPr/>
            <p:nvPr/>
          </p:nvSpPr>
          <p:spPr>
            <a:xfrm>
              <a:off x="959760" y="6503760"/>
              <a:ext cx="171000" cy="363240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6"/>
            <p:cNvSpPr/>
            <p:nvPr/>
          </p:nvSpPr>
          <p:spPr>
            <a:xfrm>
              <a:off x="100800" y="3201120"/>
              <a:ext cx="821520" cy="3328200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6"/>
            <p:cNvSpPr/>
            <p:nvPr/>
          </p:nvSpPr>
          <p:spPr>
            <a:xfrm>
              <a:off x="22320" y="228600"/>
              <a:ext cx="105840" cy="2927520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6"/>
            <p:cNvSpPr/>
            <p:nvPr/>
          </p:nvSpPr>
          <p:spPr>
            <a:xfrm>
              <a:off x="78120" y="2944080"/>
              <a:ext cx="77760" cy="493560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6"/>
            <p:cNvSpPr/>
            <p:nvPr/>
          </p:nvSpPr>
          <p:spPr>
            <a:xfrm>
              <a:off x="769680" y="5478840"/>
              <a:ext cx="189720" cy="1024560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6"/>
            <p:cNvSpPr/>
            <p:nvPr/>
          </p:nvSpPr>
          <p:spPr>
            <a:xfrm>
              <a:off x="775440" y="1398960"/>
              <a:ext cx="2075760" cy="404784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6"/>
            <p:cNvSpPr/>
            <p:nvPr/>
          </p:nvSpPr>
          <p:spPr>
            <a:xfrm>
              <a:off x="922680" y="6530040"/>
              <a:ext cx="161640" cy="336960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6"/>
            <p:cNvSpPr/>
            <p:nvPr/>
          </p:nvSpPr>
          <p:spPr>
            <a:xfrm>
              <a:off x="769680" y="5359320"/>
              <a:ext cx="37080" cy="22140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6"/>
            <p:cNvSpPr/>
            <p:nvPr/>
          </p:nvSpPr>
          <p:spPr>
            <a:xfrm>
              <a:off x="849960" y="6244560"/>
              <a:ext cx="238320" cy="622080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" name="Google Shape;59;p16"/>
          <p:cNvGrpSpPr/>
          <p:nvPr/>
        </p:nvGrpSpPr>
        <p:grpSpPr>
          <a:xfrm>
            <a:off x="27360" y="-720"/>
            <a:ext cx="2356200" cy="6853680"/>
            <a:chOff x="27360" y="-720"/>
            <a:chExt cx="2356200" cy="6853680"/>
          </a:xfrm>
        </p:grpSpPr>
        <p:sp>
          <p:nvSpPr>
            <p:cNvPr id="60" name="Google Shape;60;p16"/>
            <p:cNvSpPr/>
            <p:nvPr/>
          </p:nvSpPr>
          <p:spPr>
            <a:xfrm>
              <a:off x="27360" y="-720"/>
              <a:ext cx="493920" cy="4400640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6"/>
            <p:cNvSpPr/>
            <p:nvPr/>
          </p:nvSpPr>
          <p:spPr>
            <a:xfrm>
              <a:off x="550440" y="4316400"/>
              <a:ext cx="423000" cy="1580400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6"/>
            <p:cNvSpPr/>
            <p:nvPr/>
          </p:nvSpPr>
          <p:spPr>
            <a:xfrm>
              <a:off x="1006200" y="5862600"/>
              <a:ext cx="430560" cy="990360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6"/>
            <p:cNvSpPr/>
            <p:nvPr/>
          </p:nvSpPr>
          <p:spPr>
            <a:xfrm>
              <a:off x="521640" y="4364280"/>
              <a:ext cx="551520" cy="2235600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6"/>
            <p:cNvSpPr/>
            <p:nvPr/>
          </p:nvSpPr>
          <p:spPr>
            <a:xfrm>
              <a:off x="468000" y="1289160"/>
              <a:ext cx="173880" cy="302688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6"/>
            <p:cNvSpPr/>
            <p:nvPr/>
          </p:nvSpPr>
          <p:spPr>
            <a:xfrm>
              <a:off x="1111680" y="6571440"/>
              <a:ext cx="133920" cy="281160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6"/>
            <p:cNvSpPr/>
            <p:nvPr/>
          </p:nvSpPr>
          <p:spPr>
            <a:xfrm>
              <a:off x="502560" y="4107600"/>
              <a:ext cx="82080" cy="511200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6"/>
            <p:cNvSpPr/>
            <p:nvPr/>
          </p:nvSpPr>
          <p:spPr>
            <a:xfrm>
              <a:off x="973800" y="3145680"/>
              <a:ext cx="1409760" cy="2716560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6"/>
            <p:cNvSpPr/>
            <p:nvPr/>
          </p:nvSpPr>
          <p:spPr>
            <a:xfrm>
              <a:off x="1073520" y="6600240"/>
              <a:ext cx="120240" cy="25272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6"/>
            <p:cNvSpPr/>
            <p:nvPr/>
          </p:nvSpPr>
          <p:spPr>
            <a:xfrm>
              <a:off x="973800" y="5897160"/>
              <a:ext cx="137520" cy="67392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6"/>
            <p:cNvSpPr/>
            <p:nvPr/>
          </p:nvSpPr>
          <p:spPr>
            <a:xfrm>
              <a:off x="973800" y="5772600"/>
              <a:ext cx="37800" cy="227520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6"/>
            <p:cNvSpPr/>
            <p:nvPr/>
          </p:nvSpPr>
          <p:spPr>
            <a:xfrm>
              <a:off x="1006200" y="6322680"/>
              <a:ext cx="210240" cy="530280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16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38160" dist="25560" dir="5400000" rotWithShape="0">
              <a:srgbClr val="000000">
                <a:alpha val="24705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2589120" y="2133720"/>
            <a:ext cx="8915040" cy="377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entury Gothic"/>
              <a:buNone/>
              <a:defRPr sz="900" b="0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2589120" y="6135840"/>
            <a:ext cx="76197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7" name="Google Shape;77;p16"/>
          <p:cNvSpPr/>
          <p:nvPr/>
        </p:nvSpPr>
        <p:spPr>
          <a:xfrm rot="10800000" flipH="1">
            <a:off x="-3960" y="713880"/>
            <a:ext cx="1588320" cy="506880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 txBox="1"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FEFFFF"/>
              </a:buClr>
              <a:buSzPts val="2000"/>
              <a:buFont typeface="Century Gothic"/>
              <a:buNone/>
              <a:defRPr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title"/>
          </p:nvPr>
        </p:nvSpPr>
        <p:spPr>
          <a:xfrm>
            <a:off x="2589120" y="2514600"/>
            <a:ext cx="891504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</a:pPr>
            <a:r>
              <a:rPr lang="en-US" sz="5400" b="0" strike="noStrik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Introduction to Modern OpenGL codes</a:t>
            </a:r>
            <a:endParaRPr sz="5400" b="0" strike="noStrik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2589120" y="4777200"/>
            <a:ext cx="8915040" cy="11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3333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Century Gothic"/>
              <a:buNone/>
            </a:pPr>
            <a:r>
              <a:rPr lang="en-US" sz="1800" b="0" i="0" u="none" strike="noStrike" cap="none" dirty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By Md. Tajmilur Rahman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Century Gothic"/>
              <a:buNone/>
            </a:pPr>
            <a:r>
              <a:rPr lang="en-US" sz="1800" b="0" i="0" u="none" strike="noStrike" cap="none" dirty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Lecturer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Century Gothic"/>
              <a:buNone/>
            </a:pPr>
            <a:r>
              <a:rPr lang="en-US" sz="1800" b="0" i="0" u="none" strike="noStrike" cap="none" dirty="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CSE, KUET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b="0" strike="noStrik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Window Creation</a:t>
            </a:r>
            <a:endParaRPr sz="4000" b="0" strike="noStrik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2589120" y="2133720"/>
            <a:ext cx="8915040" cy="377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glfw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initialize and configure</a:t>
            </a:r>
          </a:p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------------------------------</a:t>
            </a:r>
          </a:p>
          <a:p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glfwInit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glfwWindowHint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(GLFW_CONTEXT_VERSION_MAJOR, 3);</a:t>
            </a:r>
          </a:p>
          <a:p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glfwWindowHint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(GLFW_CONTEXT_VERSION_MINOR, 3);</a:t>
            </a:r>
          </a:p>
          <a:p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glfwWindowHint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(GLFW_OPENGL_PROFILE, GLFW_OPENGL_CORE_PROFILE);</a:t>
            </a:r>
            <a:endParaRPr sz="2400" b="0" i="0" u="none" strike="noStrike" cap="none" dirty="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</a:pPr>
            <a:fld id="{00000000-1234-1234-1234-123412341234}" type="slidenum">
              <a:rPr lang="en-US"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fld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entury Gothic"/>
              <a:buNone/>
            </a:pPr>
            <a:r>
              <a:rPr lang="en-US"/>
              <a:t>01/10/2024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89379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b="0" strike="noStrik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Window Creation (contd.)</a:t>
            </a:r>
            <a:endParaRPr sz="4000" b="0" strike="noStrik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2589120" y="2133720"/>
            <a:ext cx="8915040" cy="377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glfw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window creation// --------------------</a:t>
            </a:r>
          </a:p>
          <a:p>
            <a:endParaRPr lang="en-US" sz="24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GLFWwindow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* window = 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glfwCreateWindow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(SCR_WIDTH, SCR_HEIGHT,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"CSE 4208: Computer Graphics Laboratory"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US" sz="24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glfwMakeContextCurrent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(window);</a:t>
            </a:r>
            <a:endParaRPr sz="2400" b="0" i="0" u="none" strike="noStrike" cap="none" dirty="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</a:pPr>
            <a:fld id="{00000000-1234-1234-1234-123412341234}" type="slidenum">
              <a:rPr lang="en-US"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fld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entury Gothic"/>
              <a:buNone/>
            </a:pPr>
            <a:r>
              <a:rPr lang="en-US"/>
              <a:t>01/10/2024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485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b="0" strike="noStrik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Window Termination</a:t>
            </a:r>
            <a:endParaRPr sz="4000" b="0" strike="noStrik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2589120" y="2133720"/>
            <a:ext cx="8915040" cy="377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glfw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terminate, clearing all previously allocated GLFW resources.</a:t>
            </a:r>
          </a:p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------------------------------------------------------------------</a:t>
            </a:r>
          </a:p>
          <a:p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glfwTerminate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  <a:endParaRPr sz="2400" b="0" i="0" u="none" strike="noStrike" cap="none" dirty="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</a:pPr>
            <a:fld id="{00000000-1234-1234-1234-123412341234}" type="slidenum">
              <a:rPr lang="en-US"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fld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entury Gothic"/>
              <a:buNone/>
            </a:pPr>
            <a:r>
              <a:rPr lang="en-US"/>
              <a:t>01/10/2024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17736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b="0" strike="noStrik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Function Pointer Loading</a:t>
            </a:r>
            <a:endParaRPr sz="4000" b="0" strike="noStrik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2589120" y="2133720"/>
            <a:ext cx="8915040" cy="377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glad: load all OpenGL function pointers</a:t>
            </a:r>
          </a:p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---------------------------------------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(!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gladLoadGLLoader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((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GLADloadproc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glfwGetProcAddress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std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::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"Failed to initialize GLAD"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std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::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endl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-1;</a:t>
            </a:r>
          </a:p>
          <a:p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sz="2400" b="0" i="0" u="none" strike="noStrike" cap="none" dirty="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</a:pPr>
            <a:fld id="{00000000-1234-1234-1234-123412341234}" type="slidenum">
              <a:rPr lang="en-US"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fld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entury Gothic"/>
              <a:buNone/>
            </a:pPr>
            <a:r>
              <a:rPr lang="en-US"/>
              <a:t>01/10/2024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47730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b="0" strike="noStrik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Simple Render Loop</a:t>
            </a:r>
            <a:endParaRPr sz="4000" b="0" strike="noStrik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1878743" y="1904760"/>
            <a:ext cx="8915040" cy="4045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while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(!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glfwWindowShouldClose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(window))</a:t>
            </a:r>
          </a:p>
          <a:p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en-US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processInput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(window);</a:t>
            </a:r>
          </a:p>
          <a:p>
            <a:endParaRPr lang="en-US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glClearColor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(0.2f, 0.3f, 0.3f, 1.0f);</a:t>
            </a:r>
          </a:p>
          <a:p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glClear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(GL_COLOR_BUFFER_BIT);</a:t>
            </a:r>
          </a:p>
          <a:p>
            <a:endParaRPr lang="en-US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glfwSwapBuffers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(window);</a:t>
            </a:r>
          </a:p>
          <a:p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glfwPollEvents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sz="2400" b="0" i="0" u="none" strike="noStrike" cap="none" dirty="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</a:pPr>
            <a:fld id="{00000000-1234-1234-1234-123412341234}" type="slidenum">
              <a:rPr lang="en-US"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fld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entury Gothic"/>
              <a:buNone/>
            </a:pPr>
            <a:r>
              <a:rPr lang="en-US"/>
              <a:t>01/10/2024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1742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b="0" strike="noStrik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Result</a:t>
            </a:r>
            <a:endParaRPr sz="4000" b="0" strike="noStrik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</a:pPr>
            <a:fld id="{00000000-1234-1234-1234-123412341234}" type="slidenum">
              <a:rPr lang="en-US"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fld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entury Gothic"/>
              <a:buNone/>
            </a:pPr>
            <a:r>
              <a:rPr lang="en-US"/>
              <a:t>01/10/2024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243" y="1573726"/>
            <a:ext cx="6252039" cy="492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0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200703" cy="12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b="0" strike="noStrik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Draw: Additional code in render loop</a:t>
            </a:r>
            <a:endParaRPr sz="4000" b="0" strike="noStrik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2235911" y="2335236"/>
            <a:ext cx="8915040" cy="379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draw our first triangle</a:t>
            </a:r>
          </a:p>
          <a:p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glUseProgram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shaderProgram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glBindVertexArray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(VAO); </a:t>
            </a:r>
          </a:p>
          <a:p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glDrawArrays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GL_TRIANGLES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, 0, 3);</a:t>
            </a:r>
            <a:endParaRPr sz="2400" b="0" i="0" u="none" strike="noStrike" cap="none" dirty="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</a:pPr>
            <a:fld id="{00000000-1234-1234-1234-123412341234}" type="slidenum">
              <a:rPr lang="en-US"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fld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entury Gothic"/>
              <a:buNone/>
            </a:pPr>
            <a:r>
              <a:rPr lang="en-US"/>
              <a:t>01/10/2024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201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b="0" strike="noStrik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Draw: What program?</a:t>
            </a:r>
            <a:endParaRPr sz="4000" b="0" strike="noStrik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2589120" y="2133720"/>
            <a:ext cx="8915040" cy="377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fr-F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fr-FR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fr-FR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fr-FR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vertexShaderSource</a:t>
            </a:r>
            <a:r>
              <a:rPr lang="fr-FR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fr-F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"#version 330 </a:t>
            </a:r>
            <a:r>
              <a:rPr lang="fr-F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core</a:t>
            </a:r>
            <a:r>
              <a:rPr lang="fr-F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\n"</a:t>
            </a:r>
            <a:endParaRPr lang="fr-FR" sz="24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"layout (location = 0) in vec3 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aPos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;\n"</a:t>
            </a:r>
            <a:endParaRPr lang="en-US" sz="24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"void main()\n"</a:t>
            </a:r>
            <a:endParaRPr lang="en-US" sz="24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"{\n"</a:t>
            </a:r>
            <a:endParaRPr lang="en-US" sz="24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  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gl_Position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vec4(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aPos.x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aPos.y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aPos.z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1.0);\n"</a:t>
            </a:r>
            <a:endParaRPr lang="en-US" sz="24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"}\0"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sz="2400" b="0" i="0" u="none" strike="noStrike" cap="none" dirty="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</a:pPr>
            <a:fld id="{00000000-1234-1234-1234-123412341234}" type="slidenum">
              <a:rPr lang="en-US"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fld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entury Gothic"/>
              <a:buNone/>
            </a:pPr>
            <a:r>
              <a:rPr lang="en-US"/>
              <a:t>01/10/2024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27742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b="0" strike="noStrik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Draw: What program? (contd.)</a:t>
            </a:r>
            <a:endParaRPr sz="4000" b="0" strike="noStrik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2589120" y="2133720"/>
            <a:ext cx="8915040" cy="377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fr-FR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fr-FR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fr-FR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</a:t>
            </a:r>
            <a:r>
              <a:rPr lang="fr-FR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* </a:t>
            </a:r>
            <a:r>
              <a:rPr lang="fr-FR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fragmentShaderSource</a:t>
            </a:r>
            <a:r>
              <a:rPr lang="fr-FR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fr-F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"#version 330 </a:t>
            </a:r>
            <a:r>
              <a:rPr lang="fr-FR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core</a:t>
            </a:r>
            <a:r>
              <a:rPr lang="fr-F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\n"</a:t>
            </a:r>
            <a:endParaRPr lang="fr-FR" sz="24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"out vec4 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FragColor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;\n"</a:t>
            </a:r>
            <a:endParaRPr lang="en-US" sz="24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"void main()\n"</a:t>
            </a:r>
            <a:endParaRPr lang="en-US" sz="24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"{\n"</a:t>
            </a:r>
            <a:endParaRPr lang="en-US" sz="24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pt-BR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   FragColor = vec4(1.0f, 0.5f, 0.2f, 1.0f);\n"</a:t>
            </a:r>
            <a:endParaRPr lang="pt-BR" sz="24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"}\n\0"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sz="2400" b="0" i="0" u="none" strike="noStrike" cap="none" dirty="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</a:pPr>
            <a:fld id="{00000000-1234-1234-1234-123412341234}" type="slidenum">
              <a:rPr lang="en-US"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fld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entury Gothic"/>
              <a:buNone/>
            </a:pPr>
            <a:r>
              <a:rPr lang="en-US"/>
              <a:t>01/10/2024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4299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b="0" strike="noStrik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Draw: What program? (contd.)</a:t>
            </a:r>
            <a:endParaRPr sz="4000" b="0" strike="noStrik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2589480" y="1721880"/>
            <a:ext cx="8915040" cy="377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vertex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shader</a:t>
            </a:r>
            <a:endParaRPr lang="en-US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unsigned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vertexShader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glCreateShader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GL_VERTEX_SHADER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glShaderSource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vertexShader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, 1, &amp;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vertexShaderSource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glCompileShader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vertexShader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US" sz="24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fragment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shader</a:t>
            </a:r>
            <a:endParaRPr lang="en-US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unsigned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fragmentShader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glCreateShader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GL_FRAGMENT_SHADER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glShaderSource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fragmentShader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, 1, &amp;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fragmentShaderSource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glCompileShader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fragmentShader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sz="2400" b="0" i="0" u="none" strike="noStrike" cap="none" dirty="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</a:pPr>
            <a:fld id="{00000000-1234-1234-1234-123412341234}" type="slidenum">
              <a:rPr lang="en-US"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</a:t>
            </a:fld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entury Gothic"/>
              <a:buNone/>
            </a:pPr>
            <a:r>
              <a:rPr lang="en-US"/>
              <a:t>01/10/2024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88751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b="0" strike="noStrik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Draw: What program? (contd.)</a:t>
            </a:r>
            <a:endParaRPr sz="4000" b="0" strike="noStrik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2589480" y="1721880"/>
            <a:ext cx="8915040" cy="377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link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shaders</a:t>
            </a:r>
            <a:endParaRPr lang="en-US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unsigned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shaderProgram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glCreateProgram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glAttachShader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shaderProgram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vertexShader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glAttachShader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shaderProgram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fragmentShader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glLinkProgram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shaderProgram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sz="2400" b="0" i="0" u="none" strike="noStrike" cap="none" dirty="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</a:pPr>
            <a:fld id="{00000000-1234-1234-1234-123412341234}" type="slidenum">
              <a:rPr lang="en-US"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</a:t>
            </a:fld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entury Gothic"/>
              <a:buNone/>
            </a:pPr>
            <a:r>
              <a:rPr lang="en-US"/>
              <a:t>01/10/2024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67987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b="0" strike="noStrik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Draw: What Vertex Array Object?</a:t>
            </a:r>
            <a:endParaRPr sz="4000" b="0" strike="noStrik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2589480" y="2264898"/>
            <a:ext cx="8915040" cy="3234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set up vertex data (and buffer(s)) and configure vertex attributes</a:t>
            </a:r>
          </a:p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------------------------------------------------------------------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float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vertices[] = {</a:t>
            </a:r>
          </a:p>
          <a:p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   -0.5f, -0.5f, 0.0f,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left  </a:t>
            </a:r>
          </a:p>
          <a:p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    0.5f, -0.5f, 0.0f,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right </a:t>
            </a:r>
          </a:p>
          <a:p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    0.0f,  0.5f, 0.0f 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top   </a:t>
            </a:r>
          </a:p>
          <a:p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  <a:endParaRPr sz="2400" b="0" i="0" u="none" strike="noStrike" cap="none" dirty="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</a:pPr>
            <a:fld id="{00000000-1234-1234-1234-123412341234}" type="slidenum">
              <a:rPr lang="en-US"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</a:t>
            </a:fld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entury Gothic"/>
              <a:buNone/>
            </a:pPr>
            <a:r>
              <a:rPr lang="en-US"/>
              <a:t>01/10/2024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46492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b="0" strike="noStrik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Draw: What Vertex Array Object? (contd.)</a:t>
            </a:r>
            <a:endParaRPr sz="4000" b="0" strike="noStrik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2589480" y="2264898"/>
            <a:ext cx="8915040" cy="423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unsigned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 VBO, VAO;</a:t>
            </a:r>
          </a:p>
          <a:p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glGenVertexArrays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(1, &amp;VAO);</a:t>
            </a:r>
          </a:p>
          <a:p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glGenBuffers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(1, &amp;VBO);</a:t>
            </a:r>
          </a:p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bind the Vertex Array Object first, then bind and set vertex buffer(s), and then configure vertex attributes(s).</a:t>
            </a:r>
          </a:p>
          <a:p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glBindVertexArray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(VAO);</a:t>
            </a:r>
          </a:p>
          <a:p>
            <a:endParaRPr lang="en-US" sz="2400" dirty="0"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glBindBuffer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GL_ARRAY_BUFFER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, VBO);</a:t>
            </a:r>
          </a:p>
          <a:p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glBufferData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GL_ARRAY_BUFFER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sizeof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(vertices), vertices, 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GL_STATIC_DRAW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sz="2400" b="0" i="0" u="none" strike="noStrike" cap="none" dirty="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</a:pPr>
            <a:fld id="{00000000-1234-1234-1234-123412341234}" type="slidenum">
              <a:rPr lang="en-US"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14</a:t>
            </a:fld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entury Gothic"/>
              <a:buNone/>
            </a:pPr>
            <a:r>
              <a:rPr lang="en-US"/>
              <a:t>01/10/2024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55166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b="0" strike="noStrike" dirty="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Draw: What Vertex Array Object? (contd.)</a:t>
            </a:r>
            <a:endParaRPr sz="4000" b="0" strike="noStrik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2589480" y="2264898"/>
            <a:ext cx="8915040" cy="4093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sz="2400" dirty="0">
              <a:solidFill>
                <a:srgbClr val="6F008A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6F008A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glVertexAttribPointer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(0, 3, 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GL_FLOAT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GL_FALSE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, 3 *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sizeof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float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), 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*)0);</a:t>
            </a:r>
          </a:p>
          <a:p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glEnableVertexAttribArray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(0);</a:t>
            </a:r>
          </a:p>
          <a:p>
            <a:endParaRPr lang="en-US" sz="2400" dirty="0">
              <a:solidFill>
                <a:srgbClr val="6F008A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glBindVertexArray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(0);</a:t>
            </a:r>
            <a:endParaRPr sz="2400" b="0" i="0" u="none" strike="noStrike" cap="none" dirty="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</a:pPr>
            <a:fld id="{00000000-1234-1234-1234-123412341234}" type="slidenum">
              <a:rPr lang="en-US"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fld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entury Gothic"/>
              <a:buNone/>
            </a:pPr>
            <a:r>
              <a:rPr lang="en-US"/>
              <a:t>01/10/2024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0351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200703" cy="12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b="0" strike="noStrik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Draw: That’s how it is</a:t>
            </a:r>
            <a:endParaRPr sz="4000" b="0" strike="noStrik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2235911" y="2335236"/>
            <a:ext cx="8915040" cy="379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draw our first triangle</a:t>
            </a:r>
          </a:p>
          <a:p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glUseProgram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shaderProgram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glBindVertexArray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(VAO); </a:t>
            </a:r>
          </a:p>
          <a:p>
            <a:r>
              <a:rPr lang="en-US" sz="2400" dirty="0" err="1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glDrawArrays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GL_TRIANGLES</a:t>
            </a:r>
            <a:r>
              <a:rPr lang="en-US" sz="2400" dirty="0">
                <a:highlight>
                  <a:srgbClr val="FFFFFF"/>
                </a:highlight>
                <a:latin typeface="Cascadia Mono" panose="020B0609020000020004" pitchFamily="49" charset="0"/>
              </a:rPr>
              <a:t>, 0, 3);</a:t>
            </a:r>
            <a:endParaRPr sz="2400" b="0" i="0" u="none" strike="noStrike" cap="none" dirty="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</a:pPr>
            <a:fld id="{00000000-1234-1234-1234-123412341234}" type="slidenum">
              <a:rPr lang="en-US"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16</a:t>
            </a:fld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entury Gothic"/>
              <a:buNone/>
            </a:pPr>
            <a:r>
              <a:rPr lang="en-US"/>
              <a:t>01/10/2024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66706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2593080" y="624240"/>
            <a:ext cx="8200703" cy="12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b="0" strike="noStrik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result: Triangle</a:t>
            </a:r>
            <a:endParaRPr sz="4000" b="0" strike="noStrike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</a:pPr>
            <a:fld id="{00000000-1234-1234-1234-123412341234}" type="slidenum">
              <a:rPr lang="en-US"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17</a:t>
            </a:fld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entury Gothic"/>
              <a:buNone/>
            </a:pPr>
            <a:r>
              <a:rPr lang="en-US"/>
              <a:t>01/10/2024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165" y="1608646"/>
            <a:ext cx="6207726" cy="489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95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 txBox="1">
            <a:spLocks noGrp="1"/>
          </p:cNvSpPr>
          <p:nvPr>
            <p:ph type="title"/>
          </p:nvPr>
        </p:nvSpPr>
        <p:spPr>
          <a:xfrm>
            <a:off x="1671480" y="2868480"/>
            <a:ext cx="8689680" cy="12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b="0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 you</a:t>
            </a:r>
            <a:endParaRPr sz="4000" b="0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2" name="Google Shape;192;p13"/>
          <p:cNvSpPr txBox="1">
            <a:spLocks noGrp="1"/>
          </p:cNvSpPr>
          <p:nvPr>
            <p:ph type="sldNum" idx="12"/>
          </p:nvPr>
        </p:nvSpPr>
        <p:spPr>
          <a:xfrm>
            <a:off x="531720" y="787680"/>
            <a:ext cx="77940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Century Gothic"/>
              <a:buNone/>
            </a:pPr>
            <a:fld id="{00000000-1234-1234-1234-123412341234}" type="slidenum">
              <a:rPr lang="en-US" sz="2000" b="0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18</a:t>
            </a:fld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dt" idx="10"/>
          </p:nvPr>
        </p:nvSpPr>
        <p:spPr>
          <a:xfrm>
            <a:off x="10361520" y="6130440"/>
            <a:ext cx="1145880" cy="37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entury Gothic"/>
              <a:buNone/>
            </a:pPr>
            <a:r>
              <a:rPr lang="en-US"/>
              <a:t>01/10/2024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740</Words>
  <Application>Microsoft Office PowerPoint</Application>
  <PresentationFormat>Widescreen</PresentationFormat>
  <Paragraphs>142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Century Gothic</vt:lpstr>
      <vt:lpstr>Cascadia Mono</vt:lpstr>
      <vt:lpstr>Times New Roman</vt:lpstr>
      <vt:lpstr>Wisp</vt:lpstr>
      <vt:lpstr>Wisp</vt:lpstr>
      <vt:lpstr>Introduction to Modern OpenGL codes</vt:lpstr>
      <vt:lpstr>Window Creation</vt:lpstr>
      <vt:lpstr>Window Creation (contd.)</vt:lpstr>
      <vt:lpstr>Window Termination</vt:lpstr>
      <vt:lpstr>Function Pointer Loading</vt:lpstr>
      <vt:lpstr>A Simple Render Loop</vt:lpstr>
      <vt:lpstr>The Result</vt:lpstr>
      <vt:lpstr>To Draw: Additional code in render loop</vt:lpstr>
      <vt:lpstr>To Draw: What program?</vt:lpstr>
      <vt:lpstr>To Draw: What program? (contd.)</vt:lpstr>
      <vt:lpstr>To Draw: What program? (contd.)</vt:lpstr>
      <vt:lpstr>To Draw: What program? (contd.)</vt:lpstr>
      <vt:lpstr>To Draw: What Vertex Array Object?</vt:lpstr>
      <vt:lpstr>To Draw: What Vertex Array Object? (contd.)</vt:lpstr>
      <vt:lpstr>To Draw: What Vertex Array Object? (contd.)</vt:lpstr>
      <vt:lpstr>To Draw: That’s how it is</vt:lpstr>
      <vt:lpstr>The result: Triangle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Modern OpenGL codes</dc:title>
  <dc:creator>Badiuzzaman-work-PC</dc:creator>
  <cp:lastModifiedBy>Tajmilur</cp:lastModifiedBy>
  <cp:revision>15</cp:revision>
  <dcterms:created xsi:type="dcterms:W3CDTF">2023-02-19T05:17:28Z</dcterms:created>
  <dcterms:modified xsi:type="dcterms:W3CDTF">2025-12-23T04:54:49Z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12</vt:i4>
  </property>
</Properties>
</file>