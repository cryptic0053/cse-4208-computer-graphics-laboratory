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</p:sldMasterIdLst>
  <p:notesMasterIdLst>
    <p:notesMasterId r:id="rId44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8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7" roundtripDataSignature="AMtx7mhGPKGjjxRrUa+OmGBEKXgLfqCv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4D82FF1-B67B-4846-B4D8-9A8A2C8897DC}">
  <a:tblStyle styleId="{94D82FF1-B67B-4846-B4D8-9A8A2C8897D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9" Type="http://schemas.openxmlformats.org/officeDocument/2006/relationships/slide" Target="slides/slide27.xml"/><Relationship Id="rId21" Type="http://schemas.openxmlformats.org/officeDocument/2006/relationships/slide" Target="slides/slide9.xml"/><Relationship Id="rId34" Type="http://schemas.openxmlformats.org/officeDocument/2006/relationships/slide" Target="slides/slide22.xml"/><Relationship Id="rId42" Type="http://schemas.openxmlformats.org/officeDocument/2006/relationships/slide" Target="slides/slide30.xml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9" Type="http://schemas.openxmlformats.org/officeDocument/2006/relationships/slide" Target="slides/slide17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40" Type="http://schemas.openxmlformats.org/officeDocument/2006/relationships/slide" Target="slides/slide28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49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openxmlformats.org/officeDocument/2006/relationships/slide" Target="slides/slide31.xml"/><Relationship Id="rId48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20" Type="http://schemas.openxmlformats.org/officeDocument/2006/relationships/slide" Target="slides/slide8.xml"/><Relationship Id="rId41" Type="http://schemas.openxmlformats.org/officeDocument/2006/relationships/slide" Target="slides/slide2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Interactive Introduction to OpenGL Programming</a:t>
            </a:r>
            <a:endParaRPr sz="12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7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7:notes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04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7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Interactive Introduction to OpenGL Programming</a:t>
            </a:r>
            <a:endParaRPr sz="12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8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8:notes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04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8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Interactive Introduction to OpenGL Programming</a:t>
            </a:r>
            <a:endParaRPr sz="12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9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9:notes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04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9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Interactive Introduction to OpenGL Programming</a:t>
            </a:r>
            <a:endParaRPr sz="1200" b="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10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10:notes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04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p10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7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8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1" name="Google Shape;37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04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2" name="Google Shape;372;p18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160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form 3D geometric objects, you need to decompose them into geometric primitives that OpenGL can draw.  OpenGL only knows how to draw three things: points, lines, and triangles, but can use collections of the same type of primitive to optimize rendering.</a:t>
            </a:r>
            <a:endParaRPr sz="2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3" name="Google Shape;373;p18:notes"/>
          <p:cNvGraphicFramePr/>
          <p:nvPr/>
        </p:nvGraphicFramePr>
        <p:xfrm>
          <a:off x="682200" y="5259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{94D82FF1-B67B-4846-B4D8-9A8A2C8897DC}</a:tableStyleId>
              </a:tblPr>
              <a:tblGrid>
                <a:gridCol w="158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91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OpenGL Primitive</a:t>
                      </a:r>
                      <a:endParaRPr sz="1100" b="0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200" marR="97200" marT="45725" marB="457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sz="1100" b="0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200" marR="97200" marT="45725" marB="457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 Vertices for </a:t>
                      </a:r>
                      <a:r>
                        <a:rPr lang="en-US" sz="1100" b="0" i="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Primitives</a:t>
                      </a:r>
                      <a:endParaRPr sz="1100" b="0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200" marR="97200" marT="45725" marB="457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GL_POINTS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200" marR="97200" marT="45725" marB="457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Render a single point per vertex (points may be larger than a single pixel)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200" marR="97200" marT="45725" marB="457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200" marR="97200" marT="45725" marB="457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GL_LINES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200" marR="97200" marT="45725" marB="457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Connect each pair of vertices with a single line segment.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200" marR="97200" marT="45725" marB="457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2n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200" marR="97200" marT="45725" marB="457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GL_LINE_STRIP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200" marR="97200" marT="45725" marB="457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Connect each successive vertex to the previous one with a line segment.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200" marR="97200" marT="45725" marB="457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n+1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200" marR="97200" marT="45725" marB="457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GL_LINE_LOOP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200" marR="97200" marT="45725" marB="457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Connect all vertices in a loop of line segments.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200" marR="97200" marT="45725" marB="457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200" marR="97200" marT="45725" marB="457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GL_TRIANGLES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200" marR="97200" marT="45725" marB="457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Render a triangle for each triple of vertices.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200" marR="97200" marT="45725" marB="457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3n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200" marR="97200" marT="45725" marB="457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5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GL_TRIANGLE_STRIP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200" marR="97200" marT="45725" marB="457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Render a triangle from the first three vertices in the list, and then create a new triangle with the last two rendered vertices, and the new vertex.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200" marR="97200" marT="45725" marB="457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n+2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200" marR="97200" marT="45725" marB="457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GL_TRIANGLE_FAN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200" marR="97200" marT="45725" marB="457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Create triangles by using the first vertex in the list, and pairs of successive vertices.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200" marR="97200" marT="45725" marB="457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n+2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7200" marR="97200" marT="45725" marB="457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9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5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7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9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2"/>
          <p:cNvSpPr txBox="1">
            <a:spLocks noGrp="1"/>
          </p:cNvSpPr>
          <p:nvPr>
            <p:ph type="subTitle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32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2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32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4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4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4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4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34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8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8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38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0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0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40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2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2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42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4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4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4"/>
          <p:cNvSpPr txBox="1">
            <a:spLocks noGrp="1"/>
          </p:cNvSpPr>
          <p:nvPr>
            <p:ph type="body" idx="2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44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4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44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blank">
  <p:cSld name="BLANK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6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6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46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8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8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48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48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0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50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50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blank">
  <p:cSld name="BLANK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2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52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52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blank">
  <p:cSld name="BLANK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4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54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54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1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1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1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3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3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3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3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3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5"/>
          <p:cNvSpPr txBox="1">
            <a:spLocks noGrp="1"/>
          </p:cNvSpPr>
          <p:nvPr>
            <p:ph type="body" idx="1"/>
          </p:nvPr>
        </p:nvSpPr>
        <p:spPr>
          <a:xfrm>
            <a:off x="465840" y="1270080"/>
            <a:ext cx="11345040" cy="520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3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7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9" name="Google Shape;39;p37"/>
          <p:cNvSpPr txBox="1">
            <a:spLocks noGrp="1"/>
          </p:cNvSpPr>
          <p:nvPr>
            <p:ph type="body" idx="1"/>
          </p:nvPr>
        </p:nvSpPr>
        <p:spPr>
          <a:xfrm rot="5400000">
            <a:off x="3920220" y="-1256580"/>
            <a:ext cx="4350960" cy="1051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37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37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37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9"/>
          <p:cNvSpPr txBox="1">
            <a:spLocks noGrp="1"/>
          </p:cNvSpPr>
          <p:nvPr>
            <p:ph type="title"/>
          </p:nvPr>
        </p:nvSpPr>
        <p:spPr>
          <a:xfrm rot="5400000">
            <a:off x="7133580" y="1956420"/>
            <a:ext cx="5811480" cy="262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Google Shape;49;p39"/>
          <p:cNvSpPr txBox="1">
            <a:spLocks noGrp="1"/>
          </p:cNvSpPr>
          <p:nvPr>
            <p:ph type="body" idx="1"/>
          </p:nvPr>
        </p:nvSpPr>
        <p:spPr>
          <a:xfrm rot="5400000">
            <a:off x="1799280" y="-596160"/>
            <a:ext cx="5811480" cy="773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39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39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39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1"/>
          <p:cNvSpPr txBox="1"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9" name="Google Shape;59;p41"/>
          <p:cNvSpPr txBox="1">
            <a:spLocks noGrp="1"/>
          </p:cNvSpPr>
          <p:nvPr>
            <p:ph type="body" idx="1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41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41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41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3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9" name="Google Shape;69;p43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43"/>
          <p:cNvSpPr txBox="1">
            <a:spLocks noGrp="1"/>
          </p:cNvSpPr>
          <p:nvPr>
            <p:ph type="body" idx="2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43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43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43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5"/>
          <p:cNvSpPr txBox="1"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Google Shape;83;p45"/>
          <p:cNvSpPr txBox="1">
            <a:spLocks noGrp="1"/>
          </p:cNvSpPr>
          <p:nvPr>
            <p:ph type="body" idx="1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45"/>
          <p:cNvSpPr txBox="1">
            <a:spLocks noGrp="1"/>
          </p:cNvSpPr>
          <p:nvPr>
            <p:ph type="body" idx="2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45"/>
          <p:cNvSpPr txBox="1">
            <a:spLocks noGrp="1"/>
          </p:cNvSpPr>
          <p:nvPr>
            <p:ph type="body" idx="3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45"/>
          <p:cNvSpPr txBox="1">
            <a:spLocks noGrp="1"/>
          </p:cNvSpPr>
          <p:nvPr>
            <p:ph type="body" idx="4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45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45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45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7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6" name="Google Shape;96;p47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Google Shape;97;p47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47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9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49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49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1"/>
          <p:cNvSpPr txBox="1"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4" name="Google Shape;114;p51"/>
          <p:cNvSpPr txBox="1">
            <a:spLocks noGrp="1"/>
          </p:cNvSpPr>
          <p:nvPr>
            <p:ph type="body" idx="1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51"/>
          <p:cNvSpPr txBox="1">
            <a:spLocks noGrp="1"/>
          </p:cNvSpPr>
          <p:nvPr>
            <p:ph type="body" idx="2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51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51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51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3"/>
          <p:cNvSpPr txBox="1"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5" name="Google Shape;125;p53"/>
          <p:cNvSpPr txBox="1">
            <a:spLocks noGrp="1"/>
          </p:cNvSpPr>
          <p:nvPr>
            <p:ph type="body" idx="1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6" name="Google Shape;126;p53"/>
          <p:cNvSpPr txBox="1">
            <a:spLocks noGrp="1"/>
          </p:cNvSpPr>
          <p:nvPr>
            <p:ph type="body" idx="2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7" name="Google Shape;127;p53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8" name="Google Shape;128;p53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9" name="Google Shape;129;p53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ost-world.com/Lost_World02/Jurassic_Park.Site/Jurassic_Park.html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g"/><Relationship Id="rId5" Type="http://schemas.openxmlformats.org/officeDocument/2006/relationships/hyperlink" Target="http://www.idsoftware.com/" TargetMode="Externa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opengl.com/Getting-started/OpenGL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60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CSE 4208</a:t>
            </a:r>
            <a:br>
              <a:rPr lang="en-US" sz="6000"/>
            </a:br>
            <a:r>
              <a:rPr lang="en-US" sz="60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OpenGL Libraries </a:t>
            </a:r>
            <a:endParaRPr sz="60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"/>
          <p:cNvSpPr txBox="1">
            <a:spLocks noGrp="1"/>
          </p:cNvSpPr>
          <p:nvPr>
            <p:ph type="subTitle" idx="1"/>
          </p:nvPr>
        </p:nvSpPr>
        <p:spPr>
          <a:xfrm>
            <a:off x="1523880" y="4220280"/>
            <a:ext cx="3972600" cy="165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4965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Sk. Md. Masudul Ahsan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Professor,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Dept. of CSE,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KUET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/>
          <p:nvPr/>
        </p:nvSpPr>
        <p:spPr>
          <a:xfrm>
            <a:off x="7210080" y="4220280"/>
            <a:ext cx="3972600" cy="165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7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Md. </a:t>
            </a:r>
            <a:r>
              <a:rPr lang="en-US" sz="227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Tajmilur Rahman</a:t>
            </a:r>
            <a:endParaRPr sz="2279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227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Lecturer,</a:t>
            </a:r>
            <a:endParaRPr sz="2279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227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Dept. of CSE,</a:t>
            </a:r>
            <a:endParaRPr sz="2279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227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KUET</a:t>
            </a:r>
            <a:endParaRPr sz="2279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2279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589860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3550"/>
          </a:bodyPr>
          <a:lstStyle/>
          <a:p>
            <a:pPr marL="228600" marR="0" lvl="0" indent="-2286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 of graphics programming</a:t>
            </a:r>
            <a:endParaRPr/>
          </a:p>
          <a:p>
            <a:pPr marL="228600" marR="0" lvl="0" indent="-228625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OpenGL?</a:t>
            </a:r>
            <a:endParaRPr/>
          </a:p>
          <a:p>
            <a:pPr marL="228600" marR="0" lvl="0" indent="-228625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evolution of the OpenGL pipeline</a:t>
            </a:r>
            <a:endParaRPr/>
          </a:p>
          <a:p>
            <a:pPr marL="228600" marR="0" lvl="0" indent="-228625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simplified pipeline model</a:t>
            </a:r>
            <a:endParaRPr/>
          </a:p>
          <a:p>
            <a:pPr marL="228600" marR="0" lvl="0" indent="-228625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Ground Rule</a:t>
            </a:r>
            <a:endParaRPr/>
          </a:p>
          <a:p>
            <a:pPr marL="228600" marR="0" lvl="0" indent="-228625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OpenGL related libraries</a:t>
            </a:r>
            <a:endParaRPr/>
          </a:p>
          <a:p>
            <a:pPr marL="228600" marR="0" lvl="0" indent="-228625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﻿Core-profile vs Immediate mode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25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 machine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"/>
          <p:cNvSpPr/>
          <p:nvPr/>
        </p:nvSpPr>
        <p:spPr>
          <a:xfrm>
            <a:off x="7464960" y="1819440"/>
            <a:ext cx="373860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OpenGL’s geometric primitives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Shaders and GLSL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OpenGL programming in a nutshell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/>
          </a:p>
        </p:txBody>
      </p:sp>
      <p:sp>
        <p:nvSpPr>
          <p:cNvPr id="149" name="Google Shape;149;p2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21/10/2024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 of graphics programming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create a synthetic image in such a way that it is close to reality.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create artificial animation that emulates virtual reality.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why </a:t>
            </a:r>
            <a:r>
              <a:rPr lang="en-US" dirty="0"/>
              <a:t>we need that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/>
          </a:p>
        </p:txBody>
      </p:sp>
      <p:sp>
        <p:nvSpPr>
          <p:cNvPr id="157" name="Google Shape;157;p3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21/10/2024</a:t>
            </a:r>
            <a:endParaRPr/>
          </a:p>
        </p:txBody>
      </p:sp>
      <p:pic>
        <p:nvPicPr>
          <p:cNvPr id="6" name="Google Shape;173;p7">
            <a:hlinkClick r:id="rId3"/>
            <a:extLst>
              <a:ext uri="{FF2B5EF4-FFF2-40B4-BE49-F238E27FC236}">
                <a16:creationId xmlns:a16="http://schemas.microsoft.com/office/drawing/2014/main" id="{4B6486C9-9A74-4B31-AEDA-FC5067C107A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4311" y="4149420"/>
            <a:ext cx="2742840" cy="220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86;p8">
            <a:hlinkClick r:id="rId5"/>
            <a:extLst>
              <a:ext uri="{FF2B5EF4-FFF2-40B4-BE49-F238E27FC236}">
                <a16:creationId xmlns:a16="http://schemas.microsoft.com/office/drawing/2014/main" id="{15F5F2BF-2BD5-4A6A-9D34-B585525C399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99603" y="4149420"/>
            <a:ext cx="2928720" cy="2162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07;p10" descr="H:\hier\pictures\dissertation\torp.wholething.gif">
            <a:extLst>
              <a:ext uri="{FF2B5EF4-FFF2-40B4-BE49-F238E27FC236}">
                <a16:creationId xmlns:a16="http://schemas.microsoft.com/office/drawing/2014/main" id="{A5288CDC-FEC4-4A92-82B8-DC04C73E3E3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4950" t="14905" r="2173" b="6656"/>
          <a:stretch/>
        </p:blipFill>
        <p:spPr>
          <a:xfrm>
            <a:off x="7933803" y="4149419"/>
            <a:ext cx="3419517" cy="216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OpenGL?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0834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OpenGL is a computer graphics rendering API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lvl="1" indent="-325564" algn="l" rtl="0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create interactive applications that render high-quality color images composed of 3D geometric objects and images.</a:t>
            </a:r>
            <a:endParaRPr sz="2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lvl="1" indent="-325564" algn="l" rtl="0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Forms the basis of many interactive applications that include 3D graphics.</a:t>
            </a:r>
            <a:endParaRPr sz="2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lvl="1" indent="-325564" algn="l" rtl="0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OpenGL API is window and operating system independent. </a:t>
            </a:r>
            <a:endParaRPr sz="2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43839" algn="l" rtl="0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OpenGL needs a window to draw into. </a:t>
            </a:r>
            <a:endParaRPr sz="2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43839" algn="l" rtl="0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</a:t>
            </a:r>
            <a:r>
              <a:rPr lang="en-US" sz="2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controlled by the windowing system (GLFW or some</a:t>
            </a:r>
            <a:r>
              <a:rPr lang="en-US" sz="2400"/>
              <a:t> other library</a:t>
            </a:r>
            <a:r>
              <a:rPr lang="en-US" sz="2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2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/>
          </a:p>
        </p:txBody>
      </p:sp>
      <p:sp>
        <p:nvSpPr>
          <p:cNvPr id="165" name="Google Shape;165;p4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21/10/2024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evolution of the OpenGL pipeline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OpenGL 1.0 was released on July 1st, 1994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Its pipeline was entirely fixed-function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lang="en-US" sz="21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only operations available were fixed by the implementation</a:t>
            </a:r>
            <a:endParaRPr sz="21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pipeline evolved, but remained fixed-function through OpenGL versions 1.1 through 2.0 (Sept. 2004)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2" name="Google Shape;172;p5"/>
          <p:cNvGrpSpPr/>
          <p:nvPr/>
        </p:nvGrpSpPr>
        <p:grpSpPr>
          <a:xfrm>
            <a:off x="1353240" y="3867840"/>
            <a:ext cx="10258200" cy="2853360"/>
            <a:chOff x="1353240" y="3867840"/>
            <a:chExt cx="10258200" cy="2853360"/>
          </a:xfrm>
        </p:grpSpPr>
        <p:sp>
          <p:nvSpPr>
            <p:cNvPr id="173" name="Google Shape;173;p5"/>
            <p:cNvSpPr/>
            <p:nvPr/>
          </p:nvSpPr>
          <p:spPr>
            <a:xfrm>
              <a:off x="4872960" y="4688280"/>
              <a:ext cx="1357920" cy="1016280"/>
            </a:xfrm>
            <a:prstGeom prst="roundRect">
              <a:avLst>
                <a:gd name="adj" fmla="val 16667"/>
              </a:avLst>
            </a:prstGeom>
            <a:solidFill>
              <a:srgbClr val="7F7F7F"/>
            </a:solidFill>
            <a:ln>
              <a:noFill/>
            </a:ln>
            <a:effectLst>
              <a:outerShdw blurRad="57240" dist="1908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Primitive</a:t>
              </a: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Setup and Rasterization</a:t>
              </a: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6633000" y="4688280"/>
              <a:ext cx="1357920" cy="101628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6082CA"/>
                </a:gs>
                <a:gs pos="50000">
                  <a:srgbClr val="3D6FC9"/>
                </a:gs>
                <a:gs pos="100000">
                  <a:srgbClr val="2F61BA"/>
                </a:gs>
              </a:gsLst>
              <a:lin ang="5400000" scaled="0"/>
            </a:gradFill>
            <a:ln>
              <a:noFill/>
            </a:ln>
            <a:effectLst>
              <a:outerShdw blurRad="57240" dist="1908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Fragment Coloring and Texturing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8393040" y="4688280"/>
              <a:ext cx="1357920" cy="101628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6082CA"/>
                </a:gs>
                <a:gs pos="50000">
                  <a:srgbClr val="3D6FC9"/>
                </a:gs>
                <a:gs pos="100000">
                  <a:srgbClr val="2F61BA"/>
                </a:gs>
              </a:gsLst>
              <a:lin ang="5400000" scaled="0"/>
            </a:gradFill>
            <a:ln>
              <a:noFill/>
            </a:ln>
            <a:effectLst>
              <a:outerShdw blurRad="57240" dist="1908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Blending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6" name="Google Shape;176;p5" descr="T:\redtransteapot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153080" y="4383000"/>
              <a:ext cx="1458360" cy="1623600"/>
            </a:xfrm>
            <a:prstGeom prst="rect">
              <a:avLst/>
            </a:prstGeom>
            <a:noFill/>
            <a:ln w="9525" cap="flat" cmpd="sng">
              <a:solidFill>
                <a:srgbClr val="ACB8CA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177" name="Google Shape;177;p5"/>
            <p:cNvSpPr/>
            <p:nvPr/>
          </p:nvSpPr>
          <p:spPr>
            <a:xfrm>
              <a:off x="1353240" y="3867840"/>
              <a:ext cx="1357920" cy="101628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6082CA"/>
                </a:gs>
                <a:gs pos="50000">
                  <a:srgbClr val="3D6FC9"/>
                </a:gs>
                <a:gs pos="100000">
                  <a:srgbClr val="2F61BA"/>
                </a:gs>
              </a:gsLst>
              <a:lin ang="5400000" scaled="0"/>
            </a:gradFill>
            <a:ln>
              <a:noFill/>
            </a:ln>
            <a:effectLst>
              <a:outerShdw blurRad="57240" dist="1908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Vertex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1353240" y="5402160"/>
              <a:ext cx="1357920" cy="101628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6082CA"/>
                </a:gs>
                <a:gs pos="50000">
                  <a:srgbClr val="3D6FC9"/>
                </a:gs>
                <a:gs pos="100000">
                  <a:srgbClr val="2F61BA"/>
                </a:gs>
              </a:gsLst>
              <a:lin ang="5400000" scaled="0"/>
            </a:gradFill>
            <a:ln>
              <a:noFill/>
            </a:ln>
            <a:effectLst>
              <a:outerShdw blurRad="57240" dist="1908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Pixel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3113280" y="3867840"/>
              <a:ext cx="1357920" cy="101628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6082CA"/>
                </a:gs>
                <a:gs pos="50000">
                  <a:srgbClr val="3D6FC9"/>
                </a:gs>
                <a:gs pos="100000">
                  <a:srgbClr val="2F61BA"/>
                </a:gs>
              </a:gsLst>
              <a:lin ang="5400000" scaled="0"/>
            </a:gradFill>
            <a:ln>
              <a:noFill/>
            </a:ln>
            <a:effectLst>
              <a:outerShdw blurRad="57240" dist="1908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Vertex Transform and Lighting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3308400" y="5704920"/>
              <a:ext cx="1357920" cy="101628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6082CA"/>
                </a:gs>
                <a:gs pos="50000">
                  <a:srgbClr val="3D6FC9"/>
                </a:gs>
                <a:gs pos="100000">
                  <a:srgbClr val="2F61BA"/>
                </a:gs>
              </a:gsLst>
              <a:lin ang="5400000" scaled="0"/>
            </a:gradFill>
            <a:ln>
              <a:noFill/>
            </a:ln>
            <a:effectLst>
              <a:outerShdw blurRad="57240" dist="1908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Texture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Store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1" name="Google Shape;181;p5"/>
            <p:cNvCxnSpPr>
              <a:stCxn id="177" idx="3"/>
              <a:endCxn id="179" idx="1"/>
            </p:cNvCxnSpPr>
            <p:nvPr/>
          </p:nvCxnSpPr>
          <p:spPr>
            <a:xfrm>
              <a:off x="2711160" y="4375980"/>
              <a:ext cx="4020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82" name="Google Shape;182;p5"/>
            <p:cNvCxnSpPr>
              <a:stCxn id="179" idx="3"/>
              <a:endCxn id="173" idx="1"/>
            </p:cNvCxnSpPr>
            <p:nvPr/>
          </p:nvCxnSpPr>
          <p:spPr>
            <a:xfrm>
              <a:off x="4471200" y="4375980"/>
              <a:ext cx="401700" cy="8205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83" name="Google Shape;183;p5"/>
            <p:cNvCxnSpPr>
              <a:stCxn id="178" idx="3"/>
              <a:endCxn id="173" idx="1"/>
            </p:cNvCxnSpPr>
            <p:nvPr/>
          </p:nvCxnSpPr>
          <p:spPr>
            <a:xfrm rot="10800000" flipH="1">
              <a:off x="2711160" y="5196300"/>
              <a:ext cx="2161800" cy="714000"/>
            </a:xfrm>
            <a:prstGeom prst="bentConnector3">
              <a:avLst>
                <a:gd name="adj1" fmla="val 13921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84" name="Google Shape;184;p5"/>
            <p:cNvCxnSpPr>
              <a:stCxn id="178" idx="3"/>
              <a:endCxn id="180" idx="1"/>
            </p:cNvCxnSpPr>
            <p:nvPr/>
          </p:nvCxnSpPr>
          <p:spPr>
            <a:xfrm>
              <a:off x="2711160" y="5910300"/>
              <a:ext cx="597300" cy="302700"/>
            </a:xfrm>
            <a:prstGeom prst="bentConnector3">
              <a:avLst>
                <a:gd name="adj1" fmla="val 5003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85" name="Google Shape;185;p5"/>
            <p:cNvCxnSpPr>
              <a:stCxn id="180" idx="3"/>
              <a:endCxn id="174" idx="2"/>
            </p:cNvCxnSpPr>
            <p:nvPr/>
          </p:nvCxnSpPr>
          <p:spPr>
            <a:xfrm rot="10800000" flipH="1">
              <a:off x="4666320" y="5704560"/>
              <a:ext cx="2645700" cy="508500"/>
            </a:xfrm>
            <a:prstGeom prst="bentConnector2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86" name="Google Shape;186;p5"/>
            <p:cNvCxnSpPr>
              <a:stCxn id="173" idx="3"/>
              <a:endCxn id="174" idx="1"/>
            </p:cNvCxnSpPr>
            <p:nvPr/>
          </p:nvCxnSpPr>
          <p:spPr>
            <a:xfrm>
              <a:off x="6230880" y="5196420"/>
              <a:ext cx="4020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87" name="Google Shape;187;p5"/>
            <p:cNvCxnSpPr>
              <a:stCxn id="174" idx="3"/>
            </p:cNvCxnSpPr>
            <p:nvPr/>
          </p:nvCxnSpPr>
          <p:spPr>
            <a:xfrm>
              <a:off x="7990920" y="5196420"/>
              <a:ext cx="402600" cy="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188" name="Google Shape;188;p5"/>
            <p:cNvCxnSpPr>
              <a:stCxn id="175" idx="3"/>
              <a:endCxn id="176" idx="1"/>
            </p:cNvCxnSpPr>
            <p:nvPr/>
          </p:nvCxnSpPr>
          <p:spPr>
            <a:xfrm rot="10800000" flipH="1">
              <a:off x="9750960" y="5194920"/>
              <a:ext cx="402000" cy="1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189" name="Google Shape;189;p5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/>
          </a:p>
        </p:txBody>
      </p:sp>
      <p:sp>
        <p:nvSpPr>
          <p:cNvPr id="190" name="Google Shape;190;p5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21/10/2024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evolution of the OpenGL pipeline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OpenGL 2.0 (officially) added programmable shaders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n-US" sz="19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vertex shading augmented the fixed-function transform and lighting stage</a:t>
            </a:r>
            <a:endParaRPr sz="19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n-US" sz="19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fragment shading augmented the fragment coloring stage</a:t>
            </a:r>
            <a:endParaRPr sz="19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However, the fixed-function pipeline was still available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7" name="Google Shape;197;p6"/>
          <p:cNvGrpSpPr/>
          <p:nvPr/>
        </p:nvGrpSpPr>
        <p:grpSpPr>
          <a:xfrm>
            <a:off x="960840" y="3439800"/>
            <a:ext cx="10392480" cy="3098880"/>
            <a:chOff x="960840" y="3439800"/>
            <a:chExt cx="10392480" cy="3098880"/>
          </a:xfrm>
        </p:grpSpPr>
        <p:sp>
          <p:nvSpPr>
            <p:cNvPr id="198" name="Google Shape;198;p6"/>
            <p:cNvSpPr/>
            <p:nvPr/>
          </p:nvSpPr>
          <p:spPr>
            <a:xfrm>
              <a:off x="4527000" y="4330800"/>
              <a:ext cx="1375560" cy="1103760"/>
            </a:xfrm>
            <a:prstGeom prst="roundRect">
              <a:avLst>
                <a:gd name="adj" fmla="val 16667"/>
              </a:avLst>
            </a:prstGeom>
            <a:solidFill>
              <a:srgbClr val="7F7F7F"/>
            </a:solidFill>
            <a:ln>
              <a:noFill/>
            </a:ln>
            <a:effectLst>
              <a:outerShdw blurRad="57240" dist="1908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Primitive</a:t>
              </a: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Setup and Rasterization</a:t>
              </a: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6310080" y="4330800"/>
              <a:ext cx="1375560" cy="1103760"/>
            </a:xfrm>
            <a:prstGeom prst="roundRect">
              <a:avLst>
                <a:gd name="adj" fmla="val 16667"/>
              </a:avLst>
            </a:prstGeom>
            <a:solidFill>
              <a:srgbClr val="81C9F0"/>
            </a:solidFill>
            <a:ln>
              <a:noFill/>
            </a:ln>
            <a:effectLst>
              <a:outerShdw blurRad="57240" dist="1908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Fragment Coloring and Texturing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8093160" y="4330800"/>
              <a:ext cx="1375560" cy="110376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6082CA"/>
                </a:gs>
                <a:gs pos="50000">
                  <a:srgbClr val="3D6FC9"/>
                </a:gs>
                <a:gs pos="100000">
                  <a:srgbClr val="2F61BA"/>
                </a:gs>
              </a:gsLst>
              <a:lin ang="5400000" scaled="0"/>
            </a:gradFill>
            <a:ln>
              <a:noFill/>
            </a:ln>
            <a:effectLst>
              <a:outerShdw blurRad="57240" dist="1908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Blending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1" name="Google Shape;201;p6" descr="T:\redtransteapot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5880" y="3999600"/>
              <a:ext cx="1477440" cy="1762920"/>
            </a:xfrm>
            <a:prstGeom prst="rect">
              <a:avLst/>
            </a:prstGeom>
            <a:noFill/>
            <a:ln w="9525" cap="flat" cmpd="sng">
              <a:solidFill>
                <a:srgbClr val="ACB8CA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202" name="Google Shape;202;p6"/>
            <p:cNvSpPr/>
            <p:nvPr/>
          </p:nvSpPr>
          <p:spPr>
            <a:xfrm>
              <a:off x="960840" y="3439800"/>
              <a:ext cx="1375560" cy="110376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6082CA"/>
                </a:gs>
                <a:gs pos="50000">
                  <a:srgbClr val="3D6FC9"/>
                </a:gs>
                <a:gs pos="100000">
                  <a:srgbClr val="2F61BA"/>
                </a:gs>
              </a:gsLst>
              <a:lin ang="5400000" scaled="0"/>
            </a:gradFill>
            <a:ln>
              <a:noFill/>
            </a:ln>
            <a:effectLst>
              <a:outerShdw blurRad="57240" dist="1908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Vertex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960840" y="5105880"/>
              <a:ext cx="1375560" cy="110376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6082CA"/>
                </a:gs>
                <a:gs pos="50000">
                  <a:srgbClr val="3D6FC9"/>
                </a:gs>
                <a:gs pos="100000">
                  <a:srgbClr val="2F61BA"/>
                </a:gs>
              </a:gsLst>
              <a:lin ang="5400000" scaled="0"/>
            </a:gradFill>
            <a:ln>
              <a:noFill/>
            </a:ln>
            <a:effectLst>
              <a:outerShdw blurRad="57240" dist="1908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Pixel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2743920" y="3439800"/>
              <a:ext cx="1375560" cy="1103760"/>
            </a:xfrm>
            <a:prstGeom prst="roundRect">
              <a:avLst>
                <a:gd name="adj" fmla="val 16667"/>
              </a:avLst>
            </a:prstGeom>
            <a:solidFill>
              <a:srgbClr val="C4E0B2"/>
            </a:solidFill>
            <a:ln>
              <a:noFill/>
            </a:ln>
            <a:effectLst>
              <a:outerShdw blurRad="57240" dist="1908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Vertex Transform and Lighting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2941560" y="5434920"/>
              <a:ext cx="1375560" cy="110376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6082CA"/>
                </a:gs>
                <a:gs pos="50000">
                  <a:srgbClr val="3D6FC9"/>
                </a:gs>
                <a:gs pos="100000">
                  <a:srgbClr val="2F61BA"/>
                </a:gs>
              </a:gsLst>
              <a:lin ang="5400000" scaled="0"/>
            </a:gradFill>
            <a:ln>
              <a:noFill/>
            </a:ln>
            <a:effectLst>
              <a:outerShdw blurRad="57240" dist="1908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Texture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Store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6" name="Google Shape;206;p6"/>
            <p:cNvCxnSpPr>
              <a:stCxn id="202" idx="3"/>
              <a:endCxn id="204" idx="1"/>
            </p:cNvCxnSpPr>
            <p:nvPr/>
          </p:nvCxnSpPr>
          <p:spPr>
            <a:xfrm>
              <a:off x="2336400" y="3991680"/>
              <a:ext cx="407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07" name="Google Shape;207;p6"/>
            <p:cNvCxnSpPr>
              <a:stCxn id="204" idx="3"/>
              <a:endCxn id="198" idx="1"/>
            </p:cNvCxnSpPr>
            <p:nvPr/>
          </p:nvCxnSpPr>
          <p:spPr>
            <a:xfrm>
              <a:off x="4119480" y="3991680"/>
              <a:ext cx="407400" cy="8910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08" name="Google Shape;208;p6"/>
            <p:cNvCxnSpPr>
              <a:stCxn id="203" idx="3"/>
              <a:endCxn id="198" idx="1"/>
            </p:cNvCxnSpPr>
            <p:nvPr/>
          </p:nvCxnSpPr>
          <p:spPr>
            <a:xfrm rot="10800000" flipH="1">
              <a:off x="2336400" y="4882560"/>
              <a:ext cx="2190600" cy="775200"/>
            </a:xfrm>
            <a:prstGeom prst="bentConnector3">
              <a:avLst>
                <a:gd name="adj1" fmla="val 13935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09" name="Google Shape;209;p6"/>
            <p:cNvCxnSpPr>
              <a:stCxn id="203" idx="3"/>
              <a:endCxn id="205" idx="1"/>
            </p:cNvCxnSpPr>
            <p:nvPr/>
          </p:nvCxnSpPr>
          <p:spPr>
            <a:xfrm>
              <a:off x="2336400" y="5657760"/>
              <a:ext cx="605100" cy="329100"/>
            </a:xfrm>
            <a:prstGeom prst="bentConnector3">
              <a:avLst>
                <a:gd name="adj1" fmla="val 50029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10" name="Google Shape;210;p6"/>
            <p:cNvCxnSpPr>
              <a:stCxn id="205" idx="3"/>
              <a:endCxn id="199" idx="2"/>
            </p:cNvCxnSpPr>
            <p:nvPr/>
          </p:nvCxnSpPr>
          <p:spPr>
            <a:xfrm rot="10800000" flipH="1">
              <a:off x="4317120" y="5434500"/>
              <a:ext cx="2680800" cy="552300"/>
            </a:xfrm>
            <a:prstGeom prst="bentConnector2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11" name="Google Shape;211;p6"/>
            <p:cNvCxnSpPr>
              <a:stCxn id="198" idx="3"/>
              <a:endCxn id="199" idx="1"/>
            </p:cNvCxnSpPr>
            <p:nvPr/>
          </p:nvCxnSpPr>
          <p:spPr>
            <a:xfrm>
              <a:off x="5902560" y="4882680"/>
              <a:ext cx="407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12" name="Google Shape;212;p6"/>
            <p:cNvCxnSpPr>
              <a:stCxn id="199" idx="3"/>
            </p:cNvCxnSpPr>
            <p:nvPr/>
          </p:nvCxnSpPr>
          <p:spPr>
            <a:xfrm>
              <a:off x="7685640" y="4882680"/>
              <a:ext cx="407400" cy="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13" name="Google Shape;213;p6"/>
            <p:cNvCxnSpPr>
              <a:stCxn id="200" idx="3"/>
              <a:endCxn id="201" idx="1"/>
            </p:cNvCxnSpPr>
            <p:nvPr/>
          </p:nvCxnSpPr>
          <p:spPr>
            <a:xfrm rot="10800000" flipH="1">
              <a:off x="9468720" y="4881180"/>
              <a:ext cx="407100" cy="1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214" name="Google Shape;214;p6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/>
          </a:p>
        </p:txBody>
      </p:sp>
      <p:sp>
        <p:nvSpPr>
          <p:cNvPr id="215" name="Google Shape;215;p6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21/10/2024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"/>
          <p:cNvSpPr txBox="1">
            <a:spLocks noGrp="1"/>
          </p:cNvSpPr>
          <p:nvPr>
            <p:ph type="sldNum" idx="12"/>
          </p:nvPr>
        </p:nvSpPr>
        <p:spPr>
          <a:xfrm>
            <a:off x="8610480" y="631044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7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evolutionary change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 txBox="1">
            <a:spLocks noGrp="1"/>
          </p:cNvSpPr>
          <p:nvPr>
            <p:ph type="body" idx="1"/>
          </p:nvPr>
        </p:nvSpPr>
        <p:spPr>
          <a:xfrm>
            <a:off x="838080" y="1834200"/>
            <a:ext cx="10515240" cy="427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OpenGL 3.0 introduced the deprecation model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method used to remove features from OpenGL</a:t>
            </a:r>
            <a:endParaRPr sz="2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pipeline remained the same until OpenGL 3.1 (released March 24th, 2009)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Introduced a change in how OpenGL contexts are used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21/10/2024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"/>
          <p:cNvSpPr txBox="1">
            <a:spLocks noGrp="1"/>
          </p:cNvSpPr>
          <p:nvPr>
            <p:ph type="sldNum" idx="12"/>
          </p:nvPr>
        </p:nvSpPr>
        <p:spPr>
          <a:xfrm>
            <a:off x="8610480" y="63313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8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exclusively programmable pipeline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 txBox="1">
            <a:spLocks noGrp="1"/>
          </p:cNvSpPr>
          <p:nvPr>
            <p:ph type="body" idx="1"/>
          </p:nvPr>
        </p:nvSpPr>
        <p:spPr>
          <a:xfrm>
            <a:off x="838080" y="1775160"/>
            <a:ext cx="105152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OpenGL 3.1 removed the fixed-function pipeline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programs were required to use only shaders</a:t>
            </a:r>
            <a:endParaRPr sz="2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Additionally, almost all data is GPU-resident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vertex data sent using buffer objects</a:t>
            </a:r>
            <a:endParaRPr sz="2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5" name="Google Shape;235;p8"/>
          <p:cNvGrpSpPr/>
          <p:nvPr/>
        </p:nvGrpSpPr>
        <p:grpSpPr>
          <a:xfrm>
            <a:off x="1496880" y="3832560"/>
            <a:ext cx="9486000" cy="2888640"/>
            <a:chOff x="1496880" y="3832560"/>
            <a:chExt cx="9486000" cy="2888640"/>
          </a:xfrm>
        </p:grpSpPr>
        <p:sp>
          <p:nvSpPr>
            <p:cNvPr id="236" name="Google Shape;236;p8"/>
            <p:cNvSpPr/>
            <p:nvPr/>
          </p:nvSpPr>
          <p:spPr>
            <a:xfrm>
              <a:off x="4751640" y="4589280"/>
              <a:ext cx="1255680" cy="1165680"/>
            </a:xfrm>
            <a:prstGeom prst="roundRect">
              <a:avLst>
                <a:gd name="adj" fmla="val 16667"/>
              </a:avLst>
            </a:prstGeom>
            <a:solidFill>
              <a:srgbClr val="7F7F7F"/>
            </a:solidFill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240" dist="1908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Primitive</a:t>
              </a: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Setup and Rasterization</a:t>
              </a: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6379200" y="4589280"/>
              <a:ext cx="1255680" cy="1165680"/>
            </a:xfrm>
            <a:prstGeom prst="roundRect">
              <a:avLst>
                <a:gd name="adj" fmla="val 16667"/>
              </a:avLst>
            </a:prstGeom>
            <a:solidFill>
              <a:srgbClr val="7030A0"/>
            </a:solidFill>
            <a:ln>
              <a:noFill/>
            </a:ln>
            <a:effectLst>
              <a:outerShdw blurRad="57240" dist="1908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Fragment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Shader</a:t>
              </a: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8006760" y="4589280"/>
              <a:ext cx="1255680" cy="116568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6082CA"/>
                </a:gs>
                <a:gs pos="50000">
                  <a:srgbClr val="3D6FC9"/>
                </a:gs>
                <a:gs pos="100000">
                  <a:srgbClr val="2F61BA"/>
                </a:gs>
              </a:gsLst>
              <a:lin ang="5400000" scaled="0"/>
            </a:gradFill>
            <a:ln>
              <a:noFill/>
            </a:ln>
            <a:effectLst>
              <a:outerShdw blurRad="57240" dist="1908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Blending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9" name="Google Shape;239;p8" descr="T:\redtransteapot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634320" y="4239000"/>
              <a:ext cx="1348560" cy="1861920"/>
            </a:xfrm>
            <a:prstGeom prst="rect">
              <a:avLst/>
            </a:prstGeom>
            <a:noFill/>
            <a:ln w="9525" cap="flat" cmpd="sng">
              <a:solidFill>
                <a:srgbClr val="ACB8CA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240" name="Google Shape;240;p8"/>
            <p:cNvSpPr/>
            <p:nvPr/>
          </p:nvSpPr>
          <p:spPr>
            <a:xfrm>
              <a:off x="1496880" y="3832560"/>
              <a:ext cx="1255680" cy="116568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6082CA"/>
                </a:gs>
                <a:gs pos="50000">
                  <a:srgbClr val="3D6FC9"/>
                </a:gs>
                <a:gs pos="100000">
                  <a:srgbClr val="2F61BA"/>
                </a:gs>
              </a:gsLst>
              <a:lin ang="5400000" scaled="0"/>
            </a:gradFill>
            <a:ln>
              <a:noFill/>
            </a:ln>
            <a:effectLst>
              <a:outerShdw blurRad="57240" dist="1908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Vertex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8"/>
            <p:cNvSpPr/>
            <p:nvPr/>
          </p:nvSpPr>
          <p:spPr>
            <a:xfrm>
              <a:off x="1496880" y="5555520"/>
              <a:ext cx="1255680" cy="116568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6082CA"/>
                </a:gs>
                <a:gs pos="50000">
                  <a:srgbClr val="3D6FC9"/>
                </a:gs>
                <a:gs pos="100000">
                  <a:srgbClr val="2F61BA"/>
                </a:gs>
              </a:gsLst>
              <a:lin ang="5400000" scaled="0"/>
            </a:gradFill>
            <a:ln>
              <a:noFill/>
            </a:ln>
            <a:effectLst>
              <a:outerShdw blurRad="57240" dist="1908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Pixel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8"/>
            <p:cNvSpPr/>
            <p:nvPr/>
          </p:nvSpPr>
          <p:spPr>
            <a:xfrm>
              <a:off x="3154320" y="3832560"/>
              <a:ext cx="1255680" cy="1165680"/>
            </a:xfrm>
            <a:prstGeom prst="roundRect">
              <a:avLst>
                <a:gd name="adj" fmla="val 16667"/>
              </a:avLst>
            </a:prstGeom>
            <a:solidFill>
              <a:srgbClr val="7030A0"/>
            </a:solidFill>
            <a:ln>
              <a:noFill/>
            </a:ln>
            <a:effectLst>
              <a:outerShdw blurRad="57240" dist="1908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Vertex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Shader</a:t>
              </a: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8"/>
            <p:cNvSpPr/>
            <p:nvPr/>
          </p:nvSpPr>
          <p:spPr>
            <a:xfrm>
              <a:off x="3154320" y="5552280"/>
              <a:ext cx="1255680" cy="116568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6082CA"/>
                </a:gs>
                <a:gs pos="50000">
                  <a:srgbClr val="3D6FC9"/>
                </a:gs>
                <a:gs pos="100000">
                  <a:srgbClr val="2F61BA"/>
                </a:gs>
              </a:gsLst>
              <a:lin ang="5400000" scaled="0"/>
            </a:gradFill>
            <a:ln>
              <a:noFill/>
            </a:ln>
            <a:effectLst>
              <a:outerShdw blurRad="57240" dist="1908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Texture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Store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4" name="Google Shape;244;p8"/>
            <p:cNvCxnSpPr>
              <a:stCxn id="240" idx="3"/>
              <a:endCxn id="242" idx="1"/>
            </p:cNvCxnSpPr>
            <p:nvPr/>
          </p:nvCxnSpPr>
          <p:spPr>
            <a:xfrm>
              <a:off x="2752560" y="4415400"/>
              <a:ext cx="4017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45" name="Google Shape;245;p8"/>
            <p:cNvCxnSpPr>
              <a:stCxn id="242" idx="3"/>
              <a:endCxn id="236" idx="1"/>
            </p:cNvCxnSpPr>
            <p:nvPr/>
          </p:nvCxnSpPr>
          <p:spPr>
            <a:xfrm>
              <a:off x="4410000" y="4415400"/>
              <a:ext cx="341700" cy="756600"/>
            </a:xfrm>
            <a:prstGeom prst="bentConnector3">
              <a:avLst>
                <a:gd name="adj1" fmla="val 50052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46" name="Google Shape;246;p8"/>
            <p:cNvCxnSpPr>
              <a:stCxn id="241" idx="3"/>
              <a:endCxn id="243" idx="1"/>
            </p:cNvCxnSpPr>
            <p:nvPr/>
          </p:nvCxnSpPr>
          <p:spPr>
            <a:xfrm rot="10800000" flipH="1">
              <a:off x="2752560" y="6135060"/>
              <a:ext cx="401700" cy="3300"/>
            </a:xfrm>
            <a:prstGeom prst="bentConnector3">
              <a:avLst>
                <a:gd name="adj1" fmla="val 4991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47" name="Google Shape;247;p8"/>
            <p:cNvCxnSpPr>
              <a:stCxn id="243" idx="3"/>
              <a:endCxn id="237" idx="2"/>
            </p:cNvCxnSpPr>
            <p:nvPr/>
          </p:nvCxnSpPr>
          <p:spPr>
            <a:xfrm rot="10800000" flipH="1">
              <a:off x="4410000" y="5755020"/>
              <a:ext cx="2597100" cy="380100"/>
            </a:xfrm>
            <a:prstGeom prst="bentConnector2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48" name="Google Shape;248;p8"/>
            <p:cNvCxnSpPr>
              <a:stCxn id="236" idx="3"/>
              <a:endCxn id="237" idx="1"/>
            </p:cNvCxnSpPr>
            <p:nvPr/>
          </p:nvCxnSpPr>
          <p:spPr>
            <a:xfrm>
              <a:off x="6007320" y="5172120"/>
              <a:ext cx="3720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49" name="Google Shape;249;p8"/>
            <p:cNvCxnSpPr>
              <a:stCxn id="237" idx="3"/>
            </p:cNvCxnSpPr>
            <p:nvPr/>
          </p:nvCxnSpPr>
          <p:spPr>
            <a:xfrm>
              <a:off x="7634880" y="5172120"/>
              <a:ext cx="372300" cy="3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50" name="Google Shape;250;p8"/>
            <p:cNvCxnSpPr>
              <a:stCxn id="238" idx="3"/>
              <a:endCxn id="239" idx="1"/>
            </p:cNvCxnSpPr>
            <p:nvPr/>
          </p:nvCxnSpPr>
          <p:spPr>
            <a:xfrm rot="10800000" flipH="1">
              <a:off x="9262440" y="5170020"/>
              <a:ext cx="372000" cy="2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251" name="Google Shape;251;p8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21/10/2024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"/>
          <p:cNvSpPr txBox="1">
            <a:spLocks noGrp="1"/>
          </p:cNvSpPr>
          <p:nvPr>
            <p:ph type="sldNum" idx="12"/>
          </p:nvPr>
        </p:nvSpPr>
        <p:spPr>
          <a:xfrm>
            <a:off x="8610480" y="63493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9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Programmability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 txBox="1">
            <a:spLocks noGrp="1"/>
          </p:cNvSpPr>
          <p:nvPr>
            <p:ph type="body" idx="1"/>
          </p:nvPr>
        </p:nvSpPr>
        <p:spPr>
          <a:xfrm>
            <a:off x="838080" y="1753560"/>
            <a:ext cx="105152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OpenGL 3.2 (released August 3rd, 2009) added an additional shading stage – geometry shaders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1" name="Google Shape;261;p9"/>
          <p:cNvGrpSpPr/>
          <p:nvPr/>
        </p:nvGrpSpPr>
        <p:grpSpPr>
          <a:xfrm>
            <a:off x="915480" y="2723760"/>
            <a:ext cx="10437840" cy="3632400"/>
            <a:chOff x="915480" y="2723760"/>
            <a:chExt cx="10437840" cy="3632400"/>
          </a:xfrm>
        </p:grpSpPr>
        <p:sp>
          <p:nvSpPr>
            <p:cNvPr id="262" name="Google Shape;262;p9"/>
            <p:cNvSpPr/>
            <p:nvPr/>
          </p:nvSpPr>
          <p:spPr>
            <a:xfrm>
              <a:off x="5450760" y="3501360"/>
              <a:ext cx="1215360" cy="1198080"/>
            </a:xfrm>
            <a:prstGeom prst="roundRect">
              <a:avLst>
                <a:gd name="adj" fmla="val 16667"/>
              </a:avLst>
            </a:prstGeom>
            <a:solidFill>
              <a:srgbClr val="7F7F7F"/>
            </a:solidFill>
            <a:ln>
              <a:noFill/>
            </a:ln>
            <a:effectLst>
              <a:outerShdw blurRad="57240" dist="1908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Primitive</a:t>
              </a:r>
              <a:endParaRPr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Setup and Rasterization</a:t>
              </a:r>
              <a:endParaRPr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9"/>
            <p:cNvSpPr/>
            <p:nvPr/>
          </p:nvSpPr>
          <p:spPr>
            <a:xfrm>
              <a:off x="6982920" y="3501360"/>
              <a:ext cx="1215360" cy="1198080"/>
            </a:xfrm>
            <a:prstGeom prst="roundRect">
              <a:avLst>
                <a:gd name="adj" fmla="val 16667"/>
              </a:avLst>
            </a:prstGeom>
            <a:solidFill>
              <a:srgbClr val="7030A0"/>
            </a:solidFill>
            <a:ln>
              <a:noFill/>
            </a:ln>
            <a:effectLst>
              <a:outerShdw blurRad="57240" dist="1908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Fragment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Shader</a:t>
              </a: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9"/>
            <p:cNvSpPr/>
            <p:nvPr/>
          </p:nvSpPr>
          <p:spPr>
            <a:xfrm>
              <a:off x="8515440" y="3501360"/>
              <a:ext cx="1215360" cy="119808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6082CA"/>
                </a:gs>
                <a:gs pos="50000">
                  <a:srgbClr val="3D6FC9"/>
                </a:gs>
                <a:gs pos="100000">
                  <a:srgbClr val="2F61BA"/>
                </a:gs>
              </a:gsLst>
              <a:lin ang="5400000" scaled="0"/>
            </a:gradFill>
            <a:ln>
              <a:noFill/>
            </a:ln>
            <a:effectLst>
              <a:outerShdw blurRad="57240" dist="1908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Blending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5" name="Google Shape;265;p9" descr="T:\redtransteapot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047960" y="3141720"/>
              <a:ext cx="1305360" cy="1913760"/>
            </a:xfrm>
            <a:prstGeom prst="rect">
              <a:avLst/>
            </a:prstGeom>
            <a:noFill/>
            <a:ln w="9525" cap="flat" cmpd="sng">
              <a:solidFill>
                <a:srgbClr val="ACB8CA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266" name="Google Shape;266;p9"/>
            <p:cNvSpPr/>
            <p:nvPr/>
          </p:nvSpPr>
          <p:spPr>
            <a:xfrm>
              <a:off x="915480" y="2723760"/>
              <a:ext cx="1215360" cy="119808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6082CA"/>
                </a:gs>
                <a:gs pos="50000">
                  <a:srgbClr val="3D6FC9"/>
                </a:gs>
                <a:gs pos="100000">
                  <a:srgbClr val="2F61BA"/>
                </a:gs>
              </a:gsLst>
              <a:lin ang="5400000" scaled="0"/>
            </a:gradFill>
            <a:ln>
              <a:noFill/>
            </a:ln>
            <a:effectLst>
              <a:outerShdw blurRad="57240" dist="1908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Vertex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9"/>
            <p:cNvSpPr/>
            <p:nvPr/>
          </p:nvSpPr>
          <p:spPr>
            <a:xfrm>
              <a:off x="915480" y="5158080"/>
              <a:ext cx="1215360" cy="119808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6082CA"/>
                </a:gs>
                <a:gs pos="50000">
                  <a:srgbClr val="3D6FC9"/>
                </a:gs>
                <a:gs pos="100000">
                  <a:srgbClr val="2F61BA"/>
                </a:gs>
              </a:gsLst>
              <a:lin ang="5400000" scaled="0"/>
            </a:gradFill>
            <a:ln>
              <a:noFill/>
            </a:ln>
            <a:effectLst>
              <a:outerShdw blurRad="57240" dist="1908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Pixel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9"/>
            <p:cNvSpPr/>
            <p:nvPr/>
          </p:nvSpPr>
          <p:spPr>
            <a:xfrm>
              <a:off x="2520000" y="2723760"/>
              <a:ext cx="1215360" cy="1198080"/>
            </a:xfrm>
            <a:prstGeom prst="roundRect">
              <a:avLst>
                <a:gd name="adj" fmla="val 16667"/>
              </a:avLst>
            </a:prstGeom>
            <a:solidFill>
              <a:srgbClr val="7030A0"/>
            </a:solidFill>
            <a:ln>
              <a:noFill/>
            </a:ln>
            <a:effectLst>
              <a:outerShdw blurRad="57240" dist="1908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Vertex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Shader</a:t>
              </a: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9"/>
            <p:cNvSpPr/>
            <p:nvPr/>
          </p:nvSpPr>
          <p:spPr>
            <a:xfrm>
              <a:off x="2520000" y="5154840"/>
              <a:ext cx="1215360" cy="119808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6082CA"/>
                </a:gs>
                <a:gs pos="50000">
                  <a:srgbClr val="3D6FC9"/>
                </a:gs>
                <a:gs pos="100000">
                  <a:srgbClr val="2F61BA"/>
                </a:gs>
              </a:gsLst>
              <a:lin ang="5400000" scaled="0"/>
            </a:gradFill>
            <a:ln>
              <a:noFill/>
            </a:ln>
            <a:effectLst>
              <a:outerShdw blurRad="57240" dist="1908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Texture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Store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0" name="Google Shape;270;p9"/>
            <p:cNvCxnSpPr>
              <a:stCxn id="266" idx="3"/>
              <a:endCxn id="268" idx="1"/>
            </p:cNvCxnSpPr>
            <p:nvPr/>
          </p:nvCxnSpPr>
          <p:spPr>
            <a:xfrm>
              <a:off x="2130840" y="3322800"/>
              <a:ext cx="3891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71" name="Google Shape;271;p9"/>
            <p:cNvCxnSpPr>
              <a:stCxn id="268" idx="3"/>
              <a:endCxn id="262" idx="1"/>
            </p:cNvCxnSpPr>
            <p:nvPr/>
          </p:nvCxnSpPr>
          <p:spPr>
            <a:xfrm>
              <a:off x="3735360" y="3322800"/>
              <a:ext cx="1715400" cy="777600"/>
            </a:xfrm>
            <a:prstGeom prst="bentConnector3">
              <a:avLst>
                <a:gd name="adj1" fmla="val 85456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72" name="Google Shape;272;p9"/>
            <p:cNvCxnSpPr>
              <a:stCxn id="267" idx="3"/>
              <a:endCxn id="269" idx="1"/>
            </p:cNvCxnSpPr>
            <p:nvPr/>
          </p:nvCxnSpPr>
          <p:spPr>
            <a:xfrm rot="10800000" flipH="1">
              <a:off x="2130840" y="5753820"/>
              <a:ext cx="389100" cy="3300"/>
            </a:xfrm>
            <a:prstGeom prst="bentConnector3">
              <a:avLst>
                <a:gd name="adj1" fmla="val 50138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73" name="Google Shape;273;p9"/>
            <p:cNvCxnSpPr>
              <a:stCxn id="269" idx="3"/>
              <a:endCxn id="263" idx="2"/>
            </p:cNvCxnSpPr>
            <p:nvPr/>
          </p:nvCxnSpPr>
          <p:spPr>
            <a:xfrm rot="10800000" flipH="1">
              <a:off x="3735360" y="4699380"/>
              <a:ext cx="3855300" cy="1054500"/>
            </a:xfrm>
            <a:prstGeom prst="bentConnector2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74" name="Google Shape;274;p9"/>
            <p:cNvCxnSpPr>
              <a:stCxn id="262" idx="3"/>
              <a:endCxn id="263" idx="1"/>
            </p:cNvCxnSpPr>
            <p:nvPr/>
          </p:nvCxnSpPr>
          <p:spPr>
            <a:xfrm>
              <a:off x="6666120" y="4100400"/>
              <a:ext cx="3168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75" name="Google Shape;275;p9"/>
            <p:cNvCxnSpPr>
              <a:stCxn id="263" idx="3"/>
            </p:cNvCxnSpPr>
            <p:nvPr/>
          </p:nvCxnSpPr>
          <p:spPr>
            <a:xfrm>
              <a:off x="8198280" y="4100400"/>
              <a:ext cx="274200" cy="3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76" name="Google Shape;276;p9"/>
            <p:cNvCxnSpPr>
              <a:stCxn id="264" idx="3"/>
              <a:endCxn id="265" idx="1"/>
            </p:cNvCxnSpPr>
            <p:nvPr/>
          </p:nvCxnSpPr>
          <p:spPr>
            <a:xfrm rot="10800000" flipH="1">
              <a:off x="9730800" y="4098600"/>
              <a:ext cx="317100" cy="18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277" name="Google Shape;277;p9"/>
            <p:cNvSpPr/>
            <p:nvPr/>
          </p:nvSpPr>
          <p:spPr>
            <a:xfrm>
              <a:off x="3813480" y="4001400"/>
              <a:ext cx="1215360" cy="119808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71A6DA"/>
                </a:gs>
                <a:gs pos="50000">
                  <a:srgbClr val="549ADA"/>
                </a:gs>
                <a:gs pos="100000">
                  <a:srgbClr val="448AC9"/>
                </a:gs>
              </a:gsLst>
              <a:lin ang="5400000" scaled="0"/>
            </a:gradFill>
            <a:ln w="9525" cap="flat" cmpd="sng">
              <a:solidFill>
                <a:srgbClr val="5B9BD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Geometry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00" b="0" i="0" u="none" strike="noStrike" cap="none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Shader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8" name="Google Shape;278;p9"/>
            <p:cNvCxnSpPr>
              <a:stCxn id="268" idx="3"/>
              <a:endCxn id="277" idx="0"/>
            </p:cNvCxnSpPr>
            <p:nvPr/>
          </p:nvCxnSpPr>
          <p:spPr>
            <a:xfrm>
              <a:off x="3735360" y="3322800"/>
              <a:ext cx="685800" cy="678600"/>
            </a:xfrm>
            <a:prstGeom prst="bentConnector2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79" name="Google Shape;279;p9"/>
            <p:cNvCxnSpPr>
              <a:stCxn id="277" idx="3"/>
              <a:endCxn id="262" idx="1"/>
            </p:cNvCxnSpPr>
            <p:nvPr/>
          </p:nvCxnSpPr>
          <p:spPr>
            <a:xfrm rot="10800000" flipH="1">
              <a:off x="5028840" y="4100340"/>
              <a:ext cx="421800" cy="500100"/>
            </a:xfrm>
            <a:prstGeom prst="bentConnector3">
              <a:avLst>
                <a:gd name="adj1" fmla="val 40784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sp>
        <p:nvSpPr>
          <p:cNvPr id="280" name="Google Shape;280;p9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21/10/2024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"/>
          <p:cNvSpPr txBox="1">
            <a:spLocks noGrp="1"/>
          </p:cNvSpPr>
          <p:nvPr>
            <p:ph type="sldNum" idx="12"/>
          </p:nvPr>
        </p:nvSpPr>
        <p:spPr>
          <a:xfrm>
            <a:off x="86212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10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simplified pipeline model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9" name="Google Shape;289;p10"/>
          <p:cNvGrpSpPr/>
          <p:nvPr/>
        </p:nvGrpSpPr>
        <p:grpSpPr>
          <a:xfrm>
            <a:off x="793440" y="1776960"/>
            <a:ext cx="10326240" cy="4384800"/>
            <a:chOff x="793440" y="1776960"/>
            <a:chExt cx="10326240" cy="4384800"/>
          </a:xfrm>
        </p:grpSpPr>
        <p:sp>
          <p:nvSpPr>
            <p:cNvPr id="290" name="Google Shape;290;p10"/>
            <p:cNvSpPr/>
            <p:nvPr/>
          </p:nvSpPr>
          <p:spPr>
            <a:xfrm>
              <a:off x="1591560" y="3332880"/>
              <a:ext cx="1788840" cy="9756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80B761"/>
                </a:gs>
                <a:gs pos="50000">
                  <a:srgbClr val="6FB142"/>
                </a:gs>
                <a:gs pos="100000">
                  <a:srgbClr val="61A235"/>
                </a:gs>
              </a:gsLst>
              <a:lin ang="5400000" scaled="0"/>
            </a:gradFill>
            <a:ln w="9525" cap="flat" cmpd="sng">
              <a:solidFill>
                <a:srgbClr val="70AD4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Vertex</a:t>
              </a:r>
              <a:b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Processing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0"/>
            <p:cNvSpPr/>
            <p:nvPr/>
          </p:nvSpPr>
          <p:spPr>
            <a:xfrm>
              <a:off x="4283640" y="3332880"/>
              <a:ext cx="1788840" cy="9756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80B761"/>
                </a:gs>
                <a:gs pos="50000">
                  <a:srgbClr val="6FB142"/>
                </a:gs>
                <a:gs pos="100000">
                  <a:srgbClr val="61A235"/>
                </a:gs>
              </a:gsLst>
              <a:lin ang="5400000" scaled="0"/>
            </a:gradFill>
            <a:ln w="9525" cap="flat" cmpd="sng">
              <a:solidFill>
                <a:srgbClr val="70AD4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Rasterizer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0"/>
            <p:cNvSpPr/>
            <p:nvPr/>
          </p:nvSpPr>
          <p:spPr>
            <a:xfrm>
              <a:off x="6975720" y="3332880"/>
              <a:ext cx="1788840" cy="9756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80B761"/>
                </a:gs>
                <a:gs pos="50000">
                  <a:srgbClr val="6FB142"/>
                </a:gs>
                <a:gs pos="100000">
                  <a:srgbClr val="61A235"/>
                </a:gs>
              </a:gsLst>
              <a:lin ang="5400000" scaled="0"/>
            </a:gradFill>
            <a:ln w="9525" cap="flat" cmpd="sng">
              <a:solidFill>
                <a:srgbClr val="70AD4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Fragment Processing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3" name="Google Shape;293;p10" descr="T:\redtransteapot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583200" y="3197520"/>
              <a:ext cx="1536480" cy="1246680"/>
            </a:xfrm>
            <a:prstGeom prst="rect">
              <a:avLst/>
            </a:prstGeom>
            <a:noFill/>
            <a:ln w="9525" cap="flat" cmpd="sng">
              <a:solidFill>
                <a:srgbClr val="ACB8CA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294" name="Google Shape;294;p10"/>
            <p:cNvSpPr/>
            <p:nvPr/>
          </p:nvSpPr>
          <p:spPr>
            <a:xfrm>
              <a:off x="1733400" y="5034600"/>
              <a:ext cx="1505160" cy="1127160"/>
            </a:xfrm>
            <a:prstGeom prst="flowChartDocument">
              <a:avLst/>
            </a:prstGeom>
            <a:gradFill>
              <a:gsLst>
                <a:gs pos="0">
                  <a:srgbClr val="FFC54B"/>
                </a:gs>
                <a:gs pos="50000">
                  <a:srgbClr val="FFBF00"/>
                </a:gs>
                <a:gs pos="100000">
                  <a:srgbClr val="E2AA00"/>
                </a:gs>
              </a:gsLst>
              <a:lin ang="5400000" scaled="0"/>
            </a:gradFill>
            <a:ln w="952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483225"/>
                  </a:solidFill>
                  <a:latin typeface="Calibri"/>
                  <a:ea typeface="Calibri"/>
                  <a:cs typeface="Calibri"/>
                  <a:sym typeface="Calibri"/>
                </a:rPr>
                <a:t>Vertex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483225"/>
                  </a:solidFill>
                  <a:latin typeface="Calibri"/>
                  <a:ea typeface="Calibri"/>
                  <a:cs typeface="Calibri"/>
                  <a:sym typeface="Calibri"/>
                </a:rPr>
                <a:t>Shader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0"/>
            <p:cNvSpPr/>
            <p:nvPr/>
          </p:nvSpPr>
          <p:spPr>
            <a:xfrm>
              <a:off x="7117200" y="5034600"/>
              <a:ext cx="1505160" cy="1127160"/>
            </a:xfrm>
            <a:prstGeom prst="flowChartDocument">
              <a:avLst/>
            </a:prstGeom>
            <a:gradFill>
              <a:gsLst>
                <a:gs pos="0">
                  <a:srgbClr val="FFC54B"/>
                </a:gs>
                <a:gs pos="50000">
                  <a:srgbClr val="FFBF00"/>
                </a:gs>
                <a:gs pos="100000">
                  <a:srgbClr val="E2AA00"/>
                </a:gs>
              </a:gsLst>
              <a:lin ang="5400000" scaled="0"/>
            </a:gradFill>
            <a:ln w="952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483225"/>
                  </a:solidFill>
                  <a:latin typeface="Calibri"/>
                  <a:ea typeface="Calibri"/>
                  <a:cs typeface="Calibri"/>
                  <a:sym typeface="Calibri"/>
                </a:rPr>
                <a:t>Fragment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483225"/>
                  </a:solidFill>
                  <a:latin typeface="Calibri"/>
                  <a:ea typeface="Calibri"/>
                  <a:cs typeface="Calibri"/>
                  <a:sym typeface="Calibri"/>
                </a:rPr>
                <a:t>Shader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6" name="Google Shape;296;p10"/>
            <p:cNvCxnSpPr>
              <a:stCxn id="290" idx="3"/>
              <a:endCxn id="291" idx="1"/>
            </p:cNvCxnSpPr>
            <p:nvPr/>
          </p:nvCxnSpPr>
          <p:spPr>
            <a:xfrm>
              <a:off x="3380400" y="3820680"/>
              <a:ext cx="9033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97" name="Google Shape;297;p10"/>
            <p:cNvCxnSpPr>
              <a:stCxn id="291" idx="3"/>
              <a:endCxn id="292" idx="1"/>
            </p:cNvCxnSpPr>
            <p:nvPr/>
          </p:nvCxnSpPr>
          <p:spPr>
            <a:xfrm>
              <a:off x="6072480" y="3820680"/>
              <a:ext cx="9033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98" name="Google Shape;298;p10"/>
            <p:cNvCxnSpPr>
              <a:stCxn id="292" idx="3"/>
              <a:endCxn id="293" idx="1"/>
            </p:cNvCxnSpPr>
            <p:nvPr/>
          </p:nvCxnSpPr>
          <p:spPr>
            <a:xfrm>
              <a:off x="8764560" y="3820680"/>
              <a:ext cx="818700" cy="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299" name="Google Shape;299;p10"/>
            <p:cNvCxnSpPr>
              <a:stCxn id="294" idx="0"/>
              <a:endCxn id="290" idx="2"/>
            </p:cNvCxnSpPr>
            <p:nvPr/>
          </p:nvCxnSpPr>
          <p:spPr>
            <a:xfrm rot="10800000">
              <a:off x="2485980" y="4308600"/>
              <a:ext cx="0" cy="726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00" name="Google Shape;300;p10"/>
            <p:cNvCxnSpPr>
              <a:stCxn id="295" idx="0"/>
              <a:endCxn id="292" idx="2"/>
            </p:cNvCxnSpPr>
            <p:nvPr/>
          </p:nvCxnSpPr>
          <p:spPr>
            <a:xfrm rot="10800000" flipH="1">
              <a:off x="7869780" y="4308600"/>
              <a:ext cx="300" cy="726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301" name="Google Shape;301;p10"/>
            <p:cNvSpPr/>
            <p:nvPr/>
          </p:nvSpPr>
          <p:spPr>
            <a:xfrm>
              <a:off x="2741760" y="1776960"/>
              <a:ext cx="6609240" cy="626040"/>
            </a:xfrm>
            <a:prstGeom prst="rightArrow">
              <a:avLst>
                <a:gd name="adj1" fmla="val 50000"/>
                <a:gd name="adj2" fmla="val 50000"/>
              </a:avLst>
            </a:prstGeom>
            <a:gradFill>
              <a:gsLst>
                <a:gs pos="0">
                  <a:srgbClr val="6082CA"/>
                </a:gs>
                <a:gs pos="50000">
                  <a:srgbClr val="3D6FC9"/>
                </a:gs>
                <a:gs pos="100000">
                  <a:srgbClr val="2F61BA"/>
                </a:gs>
              </a:gsLst>
              <a:lin ang="5400000" scaled="0"/>
            </a:gradFill>
            <a:ln w="9525" cap="flat" cmpd="sng">
              <a:solidFill>
                <a:srgbClr val="4472C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GPU Data Flow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0"/>
            <p:cNvSpPr/>
            <p:nvPr/>
          </p:nvSpPr>
          <p:spPr>
            <a:xfrm>
              <a:off x="866160" y="1837080"/>
              <a:ext cx="1629000" cy="3945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450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0"/>
            <p:cNvSpPr/>
            <p:nvPr/>
          </p:nvSpPr>
          <p:spPr>
            <a:xfrm>
              <a:off x="9226800" y="1837080"/>
              <a:ext cx="1773720" cy="3945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450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Framebuffer</a:t>
              </a:r>
              <a:endPara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0"/>
            <p:cNvSpPr/>
            <p:nvPr/>
          </p:nvSpPr>
          <p:spPr>
            <a:xfrm>
              <a:off x="793440" y="2904480"/>
              <a:ext cx="943200" cy="333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450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1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Vertices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0"/>
            <p:cNvSpPr/>
            <p:nvPr/>
          </p:nvSpPr>
          <p:spPr>
            <a:xfrm>
              <a:off x="3212640" y="2903040"/>
              <a:ext cx="943200" cy="333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450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1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Vertices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0"/>
            <p:cNvSpPr/>
            <p:nvPr/>
          </p:nvSpPr>
          <p:spPr>
            <a:xfrm>
              <a:off x="5725080" y="2904480"/>
              <a:ext cx="1206720" cy="333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450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1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Fragments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0"/>
            <p:cNvSpPr/>
            <p:nvPr/>
          </p:nvSpPr>
          <p:spPr>
            <a:xfrm>
              <a:off x="8647920" y="2903040"/>
              <a:ext cx="735840" cy="333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5000" rIns="90000" bIns="450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1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Pixels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8" name="Google Shape;308;p10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21/10/2024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Ground Rule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9624" lnSpcReduction="20000"/>
          </a:bodyPr>
          <a:lstStyle/>
          <a:p>
            <a:pPr marL="228600" marR="0" lvl="0" indent="-22862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We’ll concentrate on OpenGL version 3.3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61" algn="l" rtl="0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Clr>
                <a:srgbClr val="4472C4"/>
              </a:buClr>
              <a:buSzPct val="100000"/>
              <a:buFont typeface="Arial"/>
              <a:buChar char="•"/>
            </a:pPr>
            <a:r>
              <a:rPr lang="en-US" sz="2400" b="0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Allows more efficient use of GPU resources</a:t>
            </a:r>
            <a:endParaRPr sz="2400" b="0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29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rgbClr val="4472C4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you’re familiar with “classic” graphics pipelines, modern OpenGL doesn’t support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61" algn="l" rtl="0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Clr>
                <a:srgbClr val="4472C4"/>
              </a:buClr>
              <a:buSzPct val="100000"/>
              <a:buFont typeface="Arial"/>
              <a:buChar char="•"/>
            </a:pPr>
            <a:r>
              <a:rPr lang="en-US" sz="2400" b="0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Fixed-function graphics operations</a:t>
            </a:r>
            <a:endParaRPr sz="2400" b="0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30" algn="l" rtl="0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Clr>
                <a:srgbClr val="4472C4"/>
              </a:buClr>
              <a:buSzPct val="100000"/>
              <a:buFont typeface="Arial"/>
              <a:buChar char="•"/>
            </a:pPr>
            <a:r>
              <a:rPr lang="en-US" sz="2000" b="0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lighting</a:t>
            </a:r>
            <a:endParaRPr sz="2000" b="0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30" algn="l" rtl="0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Clr>
                <a:srgbClr val="4472C4"/>
              </a:buClr>
              <a:buSzPct val="100000"/>
              <a:buFont typeface="Arial"/>
              <a:buChar char="•"/>
            </a:pPr>
            <a:r>
              <a:rPr lang="en-US" sz="2000" b="0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Transformations</a:t>
            </a:r>
            <a:endParaRPr sz="2000" b="0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29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rgbClr val="4472C4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All applications must use shaders for their graphics processing</a:t>
            </a:r>
            <a:endParaRPr sz="2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/>
          </a:p>
        </p:txBody>
      </p:sp>
      <p:sp>
        <p:nvSpPr>
          <p:cNvPr id="316" name="Google Shape;316;p11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21/10/2024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AE935-E5D0-4D09-A176-CB412379E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Shortly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75EC1B-F145-4B7F-A80C-D8D7E05352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079" y="1800438"/>
            <a:ext cx="11039693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writes a list of points</a:t>
            </a:r>
          </a:p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VBO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stores points on GPU</a:t>
            </a:r>
          </a:p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tells how to read them</a:t>
            </a:r>
          </a:p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Vertex shader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moves points (Transformations)</a:t>
            </a:r>
          </a:p>
          <a:p>
            <a:pPr marL="514350" marR="0" lvl="0" indent="-5143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Fragment shader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colors pixels</a:t>
            </a:r>
          </a:p>
        </p:txBody>
      </p:sp>
    </p:spTree>
    <p:extLst>
      <p:ext uri="{BB962C8B-B14F-4D97-AF65-F5344CB8AC3E}">
        <p14:creationId xmlns:p14="http://schemas.microsoft.com/office/powerpoint/2010/main" val="1239079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OpenGL related libraries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GL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lang="en-US" sz="2800" b="0" i="1" u="none" strike="noStrike" cap="none" dirty="0" err="1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gl.h</a:t>
            </a:r>
            <a:r>
              <a:rPr lang="en-US" sz="2800" b="0" i="1" u="none" strike="noStrike" cap="none" dirty="0">
                <a:solidFill>
                  <a:srgbClr val="6699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lang="en-US" sz="2800" b="0" i="1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Opengl32.lib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basic commands for graphics drawing</a:t>
            </a:r>
            <a:endParaRPr sz="2400" b="0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GLFW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28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glfw3.h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2800" b="0" i="0" u="none" strike="noStrike" cap="none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glfw3.lib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4472C4"/>
              </a:buClr>
              <a:buSzPts val="2400"/>
              <a:buFont typeface="Arial"/>
              <a:buChar char="•"/>
            </a:pPr>
            <a:r>
              <a:rPr lang="en-US" sz="2400" b="0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﻿Gives us the bare necessities required for rendering goodies to the screen.</a:t>
            </a:r>
            <a:endParaRPr sz="2400" b="0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4472C4"/>
              </a:buClr>
              <a:buSzPts val="2400"/>
              <a:buFont typeface="Arial"/>
              <a:buChar char="•"/>
            </a:pPr>
            <a:r>
              <a:rPr lang="en-US" sz="2400" b="0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﻿It allows us to create an OpenGL context, define window parameters, and handle user input, which is plenty enough for our purposes.</a:t>
            </a:r>
            <a:endParaRPr sz="2400" b="0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GLAD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28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glad.h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4472C4"/>
              </a:buClr>
              <a:buSzPts val="2400"/>
              <a:buFont typeface="Arial"/>
              <a:buChar char="•"/>
            </a:pPr>
            <a:r>
              <a:rPr lang="en-US" sz="2400" b="0" strike="noStrike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﻿</a:t>
            </a:r>
            <a:r>
              <a:rPr lang="en-US" sz="2400" b="0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Retrieves the location of the functions needed at run time and stores them in function pointers for later use.</a:t>
            </a:r>
            <a:endParaRPr sz="2400" b="0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/>
          </a:p>
        </p:txBody>
      </p:sp>
      <p:sp>
        <p:nvSpPr>
          <p:cNvPr id="324" name="Google Shape;324;p12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21/10/2024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﻿Core-profile vs Immediate mode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8553" lnSpcReduction="10000"/>
          </a:bodyPr>
          <a:lstStyle/>
          <a:p>
            <a:pPr marL="228600" marR="0" lvl="0" indent="-22863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Immediate mode</a:t>
            </a:r>
            <a:endParaRPr/>
          </a:p>
          <a:p>
            <a:pPr marL="685800" lvl="1" indent="-228617" algn="l" rtl="0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﻿Referred to as the fixed function pipeline.</a:t>
            </a:r>
            <a:endParaRPr sz="2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17" algn="l" rtl="0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﻿Easy-to-use method.</a:t>
            </a:r>
            <a:endParaRPr sz="2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17" algn="l" rtl="0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﻿Most of the functionality of OpenGL was hidden inside the library.</a:t>
            </a:r>
            <a:endParaRPr sz="2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17" algn="l" rtl="0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﻿Developers did not have much control over how OpenGL does its calculations.</a:t>
            </a:r>
            <a:endParaRPr sz="2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30" algn="l" rtl="0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profile mode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17" algn="l" rtl="0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﻿Removed all old deprecated functionality.</a:t>
            </a:r>
            <a:endParaRPr sz="2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17" algn="l" rtl="0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﻿It is very flexible and efficient but difficult to learn.</a:t>
            </a:r>
            <a:endParaRPr sz="2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17" algn="l" rtl="0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2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﻿This modern approach requires the developer to truly understand OpenGL and graphics programming.</a:t>
            </a:r>
            <a:endParaRPr sz="2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21/10/2024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4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 machine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OpenGL is by itself a large state machine: 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 sz="2800" b="1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 collection of variables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define how OpenGL should currently operate. 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state of OpenGL is commonly referred to as the OpenGL context. 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often change its state by setting some options, manipulating some buffers and then render using the current context.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/>
          </a:p>
        </p:txBody>
      </p:sp>
      <p:sp>
        <p:nvSpPr>
          <p:cNvPr id="340" name="Google Shape;340;p14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21/10/2024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5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 machine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838075" y="1619651"/>
            <a:ext cx="10515300" cy="44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❏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﻿Whenever we tell OpenGL that we now want to draw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something it draws using the current context.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change the state of OpenGL by changing some context variable that sets how OpenGL should draw. 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❏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soon as we change the context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tell OpenGL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draw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something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 next drawing commands will now draw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according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the new context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5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/>
          </a:p>
        </p:txBody>
      </p:sp>
      <p:sp>
        <p:nvSpPr>
          <p:cNvPr id="348" name="Google Shape;348;p15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21/10/2024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6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endParaRPr sz="4400" b="0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6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﻿</a:t>
            </a:r>
            <a:r>
              <a:rPr lang="en-US" sz="2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 collection of options that represents a subset of OpenGL’s state.</a:t>
            </a:r>
            <a:endParaRPr dirty="0">
              <a:solidFill>
                <a:schemeClr val="tx1"/>
              </a:solidFill>
            </a:endParaRPr>
          </a:p>
          <a:p>
            <a:pPr marL="228600" marR="0" lvl="0" indent="-22860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could have an object that represents the </a:t>
            </a:r>
            <a:r>
              <a:rPr lang="en-US" sz="2800" b="0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settings of the drawing window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could then set its size, how many colors it supports and so on. One could visualize an object as a C-like struct: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37440" y="4907700"/>
            <a:ext cx="3215880" cy="163116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6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/>
          </a:p>
        </p:txBody>
      </p:sp>
      <p:sp>
        <p:nvSpPr>
          <p:cNvPr id="357" name="Google Shape;357;p16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21/10/2024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7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3" name="Google Shape;36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80" y="1589400"/>
            <a:ext cx="5347800" cy="1839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8080" y="3563280"/>
            <a:ext cx="7772040" cy="246492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7"/>
          <p:cNvSpPr/>
          <p:nvPr/>
        </p:nvSpPr>
        <p:spPr>
          <a:xfrm>
            <a:off x="10309680" y="1734840"/>
            <a:ext cx="1189800" cy="310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﻿This little piece of code is a workflow you’ll frequently see when working with OpenGL.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7"/>
          <p:cNvSpPr/>
          <p:nvPr/>
        </p:nvSpPr>
        <p:spPr>
          <a:xfrm>
            <a:off x="8520480" y="1455120"/>
            <a:ext cx="1569240" cy="3421440"/>
          </a:xfrm>
          <a:prstGeom prst="rightBrace">
            <a:avLst>
              <a:gd name="adj1" fmla="val 8333"/>
              <a:gd name="adj2" fmla="val 50000"/>
            </a:avLst>
          </a:prstGeom>
          <a:noFill/>
          <a:ln w="3810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7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/>
          </a:p>
        </p:txBody>
      </p:sp>
      <p:sp>
        <p:nvSpPr>
          <p:cNvPr id="368" name="Google Shape;368;p17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21/10/2024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8"/>
          <p:cNvSpPr txBox="1">
            <a:spLocks noGrp="1"/>
          </p:cNvSpPr>
          <p:nvPr>
            <p:ph type="body" idx="4294967295"/>
          </p:nvPr>
        </p:nvSpPr>
        <p:spPr>
          <a:xfrm>
            <a:off x="548280" y="1301400"/>
            <a:ext cx="11345040" cy="520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primitives are specified by vertices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8"/>
          <p:cNvSpPr txBox="1">
            <a:spLocks noGrp="1"/>
          </p:cNvSpPr>
          <p:nvPr>
            <p:ph type="title" idx="4294967295"/>
          </p:nvPr>
        </p:nvSpPr>
        <p:spPr>
          <a:xfrm>
            <a:off x="567720" y="165960"/>
            <a:ext cx="11202120" cy="9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OpenGL’s geometric primitives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7" name="Google Shape;377;p18"/>
          <p:cNvGrpSpPr/>
          <p:nvPr/>
        </p:nvGrpSpPr>
        <p:grpSpPr>
          <a:xfrm>
            <a:off x="3915360" y="4444920"/>
            <a:ext cx="4204800" cy="2083320"/>
            <a:chOff x="3915360" y="4444920"/>
            <a:chExt cx="4204800" cy="2083320"/>
          </a:xfrm>
        </p:grpSpPr>
        <p:sp>
          <p:nvSpPr>
            <p:cNvPr id="378" name="Google Shape;378;p18"/>
            <p:cNvSpPr/>
            <p:nvPr/>
          </p:nvSpPr>
          <p:spPr>
            <a:xfrm>
              <a:off x="3915360" y="5918040"/>
              <a:ext cx="4204800" cy="61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3350" tIns="76675" rIns="153350" bIns="76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GL_TRIANGLE_STRIP</a:t>
              </a:r>
              <a:endPara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9" name="Google Shape;379;p18"/>
            <p:cNvGrpSpPr/>
            <p:nvPr/>
          </p:nvGrpSpPr>
          <p:grpSpPr>
            <a:xfrm>
              <a:off x="5202720" y="4444920"/>
              <a:ext cx="1424160" cy="1353960"/>
              <a:chOff x="5202720" y="4444920"/>
              <a:chExt cx="1424160" cy="1353960"/>
            </a:xfrm>
          </p:grpSpPr>
          <p:sp>
            <p:nvSpPr>
              <p:cNvPr id="380" name="Google Shape;380;p18"/>
              <p:cNvSpPr/>
              <p:nvPr/>
            </p:nvSpPr>
            <p:spPr>
              <a:xfrm>
                <a:off x="5202720" y="4444920"/>
                <a:ext cx="1424160" cy="499320"/>
              </a:xfrm>
              <a:custGeom>
                <a:avLst/>
                <a:gdLst/>
                <a:ahLst/>
                <a:cxnLst/>
                <a:rect l="l" t="t" r="r" b="b"/>
                <a:pathLst>
                  <a:path w="673" h="337" extrusionOk="0">
                    <a:moveTo>
                      <a:pt x="0" y="48"/>
                    </a:moveTo>
                    <a:lnTo>
                      <a:pt x="672" y="0"/>
                    </a:lnTo>
                    <a:lnTo>
                      <a:pt x="144" y="336"/>
                    </a:lnTo>
                    <a:lnTo>
                      <a:pt x="0" y="48"/>
                    </a:lnTo>
                  </a:path>
                </a:pathLst>
              </a:custGeom>
              <a:gradFill>
                <a:gsLst>
                  <a:gs pos="0">
                    <a:srgbClr val="5F5F5F"/>
                  </a:gs>
                  <a:gs pos="100000">
                    <a:srgbClr val="FFFFFF"/>
                  </a:gs>
                </a:gsLst>
                <a:lin ang="18900000" scaled="0"/>
              </a:gradFill>
              <a:ln w="127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5507640" y="4444920"/>
                <a:ext cx="1119240" cy="499320"/>
              </a:xfrm>
              <a:custGeom>
                <a:avLst/>
                <a:gdLst/>
                <a:ahLst/>
                <a:cxnLst/>
                <a:rect l="l" t="t" r="r" b="b"/>
                <a:pathLst>
                  <a:path w="529" h="337" extrusionOk="0">
                    <a:moveTo>
                      <a:pt x="0" y="336"/>
                    </a:moveTo>
                    <a:lnTo>
                      <a:pt x="528" y="0"/>
                    </a:lnTo>
                    <a:lnTo>
                      <a:pt x="384" y="288"/>
                    </a:lnTo>
                    <a:lnTo>
                      <a:pt x="0" y="336"/>
                    </a:lnTo>
                  </a:path>
                </a:pathLst>
              </a:custGeom>
              <a:gradFill>
                <a:gsLst>
                  <a:gs pos="0">
                    <a:srgbClr val="5F5F5F"/>
                  </a:gs>
                  <a:gs pos="100000">
                    <a:srgbClr val="FFFFFF"/>
                  </a:gs>
                </a:gsLst>
                <a:lin ang="18900000" scaled="0"/>
              </a:gradFill>
              <a:ln w="127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5406120" y="4872240"/>
                <a:ext cx="916200" cy="42840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289" extrusionOk="0">
                    <a:moveTo>
                      <a:pt x="432" y="0"/>
                    </a:moveTo>
                    <a:lnTo>
                      <a:pt x="48" y="48"/>
                    </a:lnTo>
                    <a:lnTo>
                      <a:pt x="0" y="288"/>
                    </a:lnTo>
                    <a:lnTo>
                      <a:pt x="432" y="0"/>
                    </a:lnTo>
                  </a:path>
                </a:pathLst>
              </a:custGeom>
              <a:gradFill>
                <a:gsLst>
                  <a:gs pos="0">
                    <a:srgbClr val="5F5F5F"/>
                  </a:gs>
                  <a:gs pos="100000">
                    <a:srgbClr val="AFAFAF"/>
                  </a:gs>
                </a:gsLst>
                <a:lin ang="2700000" scaled="0"/>
              </a:gradFill>
              <a:ln w="127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18"/>
              <p:cNvSpPr/>
              <p:nvPr/>
            </p:nvSpPr>
            <p:spPr>
              <a:xfrm>
                <a:off x="5406120" y="4872240"/>
                <a:ext cx="916200" cy="49932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37" extrusionOk="0">
                    <a:moveTo>
                      <a:pt x="432" y="0"/>
                    </a:moveTo>
                    <a:lnTo>
                      <a:pt x="384" y="336"/>
                    </a:lnTo>
                    <a:lnTo>
                      <a:pt x="0" y="288"/>
                    </a:lnTo>
                    <a:lnTo>
                      <a:pt x="432" y="0"/>
                    </a:lnTo>
                  </a:path>
                </a:pathLst>
              </a:custGeom>
              <a:gradFill>
                <a:gsLst>
                  <a:gs pos="0">
                    <a:srgbClr val="000000"/>
                  </a:gs>
                  <a:gs pos="100000">
                    <a:srgbClr val="B2B2B2"/>
                  </a:gs>
                </a:gsLst>
                <a:lin ang="2700000" scaled="0"/>
              </a:gradFill>
              <a:ln w="127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18"/>
              <p:cNvSpPr/>
              <p:nvPr/>
            </p:nvSpPr>
            <p:spPr>
              <a:xfrm>
                <a:off x="5406120" y="5299200"/>
                <a:ext cx="814680" cy="499320"/>
              </a:xfrm>
              <a:custGeom>
                <a:avLst/>
                <a:gdLst/>
                <a:ahLst/>
                <a:cxnLst/>
                <a:rect l="l" t="t" r="r" b="b"/>
                <a:pathLst>
                  <a:path w="385" h="337" extrusionOk="0">
                    <a:moveTo>
                      <a:pt x="0" y="0"/>
                    </a:moveTo>
                    <a:lnTo>
                      <a:pt x="192" y="336"/>
                    </a:lnTo>
                    <a:lnTo>
                      <a:pt x="384" y="48"/>
                    </a:lnTo>
                    <a:lnTo>
                      <a:pt x="0" y="0"/>
                    </a:lnTo>
                  </a:path>
                </a:pathLst>
              </a:custGeom>
              <a:gradFill>
                <a:gsLst>
                  <a:gs pos="0">
                    <a:srgbClr val="000000"/>
                  </a:gs>
                  <a:gs pos="100000">
                    <a:srgbClr val="FFFFFF"/>
                  </a:gs>
                </a:gsLst>
                <a:lin ang="18900000" scaled="0"/>
              </a:gradFill>
              <a:ln w="127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18"/>
              <p:cNvSpPr/>
              <p:nvPr/>
            </p:nvSpPr>
            <p:spPr>
              <a:xfrm>
                <a:off x="5812200" y="5370480"/>
                <a:ext cx="712800" cy="428400"/>
              </a:xfrm>
              <a:custGeom>
                <a:avLst/>
                <a:gdLst/>
                <a:ahLst/>
                <a:cxnLst/>
                <a:rect l="l" t="t" r="r" b="b"/>
                <a:pathLst>
                  <a:path w="337" h="289" extrusionOk="0">
                    <a:moveTo>
                      <a:pt x="192" y="0"/>
                    </a:moveTo>
                    <a:lnTo>
                      <a:pt x="336" y="192"/>
                    </a:lnTo>
                    <a:lnTo>
                      <a:pt x="0" y="288"/>
                    </a:lnTo>
                    <a:lnTo>
                      <a:pt x="192" y="0"/>
                    </a:lnTo>
                  </a:path>
                </a:pathLst>
              </a:custGeom>
              <a:gradFill>
                <a:gsLst>
                  <a:gs pos="0">
                    <a:srgbClr val="5F5F5F"/>
                  </a:gs>
                  <a:gs pos="100000">
                    <a:srgbClr val="AFAFAF"/>
                  </a:gs>
                </a:gsLst>
                <a:lin ang="18900000" scaled="0"/>
              </a:gradFill>
              <a:ln w="127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6" name="Google Shape;386;p18"/>
          <p:cNvGrpSpPr/>
          <p:nvPr/>
        </p:nvGrpSpPr>
        <p:grpSpPr>
          <a:xfrm>
            <a:off x="8124120" y="4826160"/>
            <a:ext cx="3746160" cy="1337040"/>
            <a:chOff x="8124120" y="4826160"/>
            <a:chExt cx="3746160" cy="1337040"/>
          </a:xfrm>
        </p:grpSpPr>
        <p:grpSp>
          <p:nvGrpSpPr>
            <p:cNvPr id="387" name="Google Shape;387;p18"/>
            <p:cNvGrpSpPr/>
            <p:nvPr/>
          </p:nvGrpSpPr>
          <p:grpSpPr>
            <a:xfrm>
              <a:off x="9088920" y="4826160"/>
              <a:ext cx="1627200" cy="575280"/>
              <a:chOff x="9088920" y="4826160"/>
              <a:chExt cx="1627200" cy="575280"/>
            </a:xfrm>
          </p:grpSpPr>
          <p:sp>
            <p:nvSpPr>
              <p:cNvPr id="388" name="Google Shape;388;p18"/>
              <p:cNvSpPr/>
              <p:nvPr/>
            </p:nvSpPr>
            <p:spPr>
              <a:xfrm>
                <a:off x="9088920" y="4826160"/>
                <a:ext cx="916200" cy="42876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289" extrusionOk="0">
                    <a:moveTo>
                      <a:pt x="432" y="0"/>
                    </a:moveTo>
                    <a:lnTo>
                      <a:pt x="48" y="48"/>
                    </a:lnTo>
                    <a:lnTo>
                      <a:pt x="0" y="288"/>
                    </a:lnTo>
                    <a:lnTo>
                      <a:pt x="432" y="0"/>
                    </a:lnTo>
                  </a:path>
                </a:pathLst>
              </a:custGeom>
              <a:gradFill>
                <a:gsLst>
                  <a:gs pos="0">
                    <a:srgbClr val="4472C4"/>
                  </a:gs>
                  <a:gs pos="100000">
                    <a:srgbClr val="2F4F88"/>
                  </a:gs>
                </a:gsLst>
                <a:lin ang="18900000" scaled="0"/>
              </a:gradFill>
              <a:ln w="127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18"/>
              <p:cNvSpPr/>
              <p:nvPr/>
            </p:nvSpPr>
            <p:spPr>
              <a:xfrm>
                <a:off x="9088920" y="4826160"/>
                <a:ext cx="1119240" cy="428760"/>
              </a:xfrm>
              <a:custGeom>
                <a:avLst/>
                <a:gdLst/>
                <a:ahLst/>
                <a:cxnLst/>
                <a:rect l="l" t="t" r="r" b="b"/>
                <a:pathLst>
                  <a:path w="529" h="289" extrusionOk="0">
                    <a:moveTo>
                      <a:pt x="0" y="288"/>
                    </a:moveTo>
                    <a:lnTo>
                      <a:pt x="528" y="144"/>
                    </a:lnTo>
                    <a:lnTo>
                      <a:pt x="432" y="0"/>
                    </a:lnTo>
                    <a:lnTo>
                      <a:pt x="0" y="288"/>
                    </a:lnTo>
                  </a:path>
                </a:pathLst>
              </a:custGeom>
              <a:gradFill>
                <a:gsLst>
                  <a:gs pos="0">
                    <a:srgbClr val="4472C4"/>
                  </a:gs>
                  <a:gs pos="100000">
                    <a:srgbClr val="2F4F88"/>
                  </a:gs>
                </a:gsLst>
                <a:lin ang="18900000" scaled="0"/>
              </a:gradFill>
              <a:ln w="127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390;p18"/>
              <p:cNvSpPr/>
              <p:nvPr/>
            </p:nvSpPr>
            <p:spPr>
              <a:xfrm>
                <a:off x="9088920" y="5039640"/>
                <a:ext cx="1627200" cy="210600"/>
              </a:xfrm>
              <a:custGeom>
                <a:avLst/>
                <a:gdLst/>
                <a:ahLst/>
                <a:cxnLst/>
                <a:rect l="l" t="t" r="r" b="b"/>
                <a:pathLst>
                  <a:path w="769" h="145" extrusionOk="0">
                    <a:moveTo>
                      <a:pt x="0" y="144"/>
                    </a:moveTo>
                    <a:lnTo>
                      <a:pt x="528" y="0"/>
                    </a:lnTo>
                    <a:lnTo>
                      <a:pt x="768" y="48"/>
                    </a:lnTo>
                    <a:lnTo>
                      <a:pt x="0" y="144"/>
                    </a:lnTo>
                  </a:path>
                </a:pathLst>
              </a:custGeom>
              <a:gradFill>
                <a:gsLst>
                  <a:gs pos="0">
                    <a:srgbClr val="4472C4"/>
                  </a:gs>
                  <a:gs pos="100000">
                    <a:srgbClr val="2F4F88"/>
                  </a:gs>
                </a:gsLst>
                <a:lin ang="18900000" scaled="0"/>
              </a:gradFill>
              <a:ln w="127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391;p18"/>
              <p:cNvSpPr/>
              <p:nvPr/>
            </p:nvSpPr>
            <p:spPr>
              <a:xfrm>
                <a:off x="9088920" y="5112360"/>
                <a:ext cx="1627200" cy="289080"/>
              </a:xfrm>
              <a:custGeom>
                <a:avLst/>
                <a:gdLst/>
                <a:ahLst/>
                <a:cxnLst/>
                <a:rect l="l" t="t" r="r" b="b"/>
                <a:pathLst>
                  <a:path w="769" h="193" extrusionOk="0">
                    <a:moveTo>
                      <a:pt x="0" y="96"/>
                    </a:moveTo>
                    <a:lnTo>
                      <a:pt x="768" y="0"/>
                    </a:lnTo>
                    <a:lnTo>
                      <a:pt x="576" y="192"/>
                    </a:lnTo>
                    <a:lnTo>
                      <a:pt x="0" y="96"/>
                    </a:lnTo>
                  </a:path>
                </a:pathLst>
              </a:custGeom>
              <a:gradFill>
                <a:gsLst>
                  <a:gs pos="0">
                    <a:srgbClr val="4472C4"/>
                  </a:gs>
                  <a:gs pos="100000">
                    <a:srgbClr val="2F4F88"/>
                  </a:gs>
                </a:gsLst>
                <a:lin ang="18900000" scaled="0"/>
              </a:gradFill>
              <a:ln w="12700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2" name="Google Shape;392;p18"/>
            <p:cNvSpPr/>
            <p:nvPr/>
          </p:nvSpPr>
          <p:spPr>
            <a:xfrm>
              <a:off x="8124120" y="5553000"/>
              <a:ext cx="3746160" cy="61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3350" tIns="76675" rIns="153350" bIns="76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GL_TRIANGLE_FAN</a:t>
              </a:r>
              <a:endPara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3" name="Google Shape;393;p18"/>
          <p:cNvGrpSpPr/>
          <p:nvPr/>
        </p:nvGrpSpPr>
        <p:grpSpPr>
          <a:xfrm>
            <a:off x="2724480" y="2790720"/>
            <a:ext cx="2141280" cy="1181880"/>
            <a:chOff x="2724480" y="2790720"/>
            <a:chExt cx="2141280" cy="1181880"/>
          </a:xfrm>
        </p:grpSpPr>
        <p:grpSp>
          <p:nvGrpSpPr>
            <p:cNvPr id="394" name="Google Shape;394;p18"/>
            <p:cNvGrpSpPr/>
            <p:nvPr/>
          </p:nvGrpSpPr>
          <p:grpSpPr>
            <a:xfrm>
              <a:off x="3170520" y="2790720"/>
              <a:ext cx="1189800" cy="487440"/>
              <a:chOff x="3170520" y="2790720"/>
              <a:chExt cx="1189800" cy="487440"/>
            </a:xfrm>
          </p:grpSpPr>
          <p:cxnSp>
            <p:nvCxnSpPr>
              <p:cNvPr id="395" name="Google Shape;395;p18"/>
              <p:cNvCxnSpPr/>
              <p:nvPr/>
            </p:nvCxnSpPr>
            <p:spPr>
              <a:xfrm rot="10800000" flipH="1">
                <a:off x="3170520" y="2790720"/>
                <a:ext cx="694440" cy="48744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6" name="Google Shape;396;p18"/>
              <p:cNvCxnSpPr/>
              <p:nvPr/>
            </p:nvCxnSpPr>
            <p:spPr>
              <a:xfrm>
                <a:off x="3936960" y="2790720"/>
                <a:ext cx="423360" cy="32868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397" name="Google Shape;397;p18"/>
            <p:cNvSpPr/>
            <p:nvPr/>
          </p:nvSpPr>
          <p:spPr>
            <a:xfrm>
              <a:off x="2724480" y="3362400"/>
              <a:ext cx="2141280" cy="61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3350" tIns="76675" rIns="153350" bIns="76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GL_LINES</a:t>
              </a:r>
              <a:endPara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8" name="Google Shape;398;p18"/>
          <p:cNvGrpSpPr/>
          <p:nvPr/>
        </p:nvGrpSpPr>
        <p:grpSpPr>
          <a:xfrm>
            <a:off x="9007560" y="2286000"/>
            <a:ext cx="3058560" cy="1762560"/>
            <a:chOff x="9007560" y="2286000"/>
            <a:chExt cx="3058560" cy="1762560"/>
          </a:xfrm>
        </p:grpSpPr>
        <p:sp>
          <p:nvSpPr>
            <p:cNvPr id="399" name="Google Shape;399;p18"/>
            <p:cNvSpPr/>
            <p:nvPr/>
          </p:nvSpPr>
          <p:spPr>
            <a:xfrm>
              <a:off x="9751320" y="2286000"/>
              <a:ext cx="1407240" cy="1060200"/>
            </a:xfrm>
            <a:custGeom>
              <a:avLst/>
              <a:gdLst/>
              <a:ahLst/>
              <a:cxnLst/>
              <a:rect l="l" t="t" r="r" b="b"/>
              <a:pathLst>
                <a:path w="665" h="715" extrusionOk="0">
                  <a:moveTo>
                    <a:pt x="336" y="307"/>
                  </a:moveTo>
                  <a:lnTo>
                    <a:pt x="243" y="50"/>
                  </a:lnTo>
                  <a:lnTo>
                    <a:pt x="586" y="0"/>
                  </a:lnTo>
                  <a:lnTo>
                    <a:pt x="0" y="264"/>
                  </a:lnTo>
                  <a:lnTo>
                    <a:pt x="429" y="714"/>
                  </a:lnTo>
                  <a:lnTo>
                    <a:pt x="664" y="278"/>
                  </a:lnTo>
                  <a:lnTo>
                    <a:pt x="336" y="307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8"/>
            <p:cNvSpPr/>
            <p:nvPr/>
          </p:nvSpPr>
          <p:spPr>
            <a:xfrm>
              <a:off x="9007560" y="3438360"/>
              <a:ext cx="3058560" cy="61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3350" tIns="76675" rIns="153350" bIns="76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GL_LINE_LOOP</a:t>
              </a:r>
              <a:endPara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1" name="Google Shape;401;p18"/>
          <p:cNvGrpSpPr/>
          <p:nvPr/>
        </p:nvGrpSpPr>
        <p:grpSpPr>
          <a:xfrm>
            <a:off x="5347440" y="2286000"/>
            <a:ext cx="3287160" cy="1753200"/>
            <a:chOff x="5347440" y="2286000"/>
            <a:chExt cx="3287160" cy="1753200"/>
          </a:xfrm>
        </p:grpSpPr>
        <p:sp>
          <p:nvSpPr>
            <p:cNvPr id="402" name="Google Shape;402;p18"/>
            <p:cNvSpPr/>
            <p:nvPr/>
          </p:nvSpPr>
          <p:spPr>
            <a:xfrm>
              <a:off x="5945760" y="2286000"/>
              <a:ext cx="1921680" cy="987120"/>
            </a:xfrm>
            <a:custGeom>
              <a:avLst/>
              <a:gdLst/>
              <a:ahLst/>
              <a:cxnLst/>
              <a:rect l="l" t="t" r="r" b="b"/>
              <a:pathLst>
                <a:path w="908" h="665" extrusionOk="0">
                  <a:moveTo>
                    <a:pt x="393" y="471"/>
                  </a:moveTo>
                  <a:lnTo>
                    <a:pt x="115" y="79"/>
                  </a:lnTo>
                  <a:lnTo>
                    <a:pt x="0" y="379"/>
                  </a:lnTo>
                  <a:lnTo>
                    <a:pt x="907" y="229"/>
                  </a:lnTo>
                  <a:lnTo>
                    <a:pt x="407" y="0"/>
                  </a:lnTo>
                  <a:lnTo>
                    <a:pt x="715" y="557"/>
                  </a:lnTo>
                  <a:lnTo>
                    <a:pt x="315" y="664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18"/>
            <p:cNvSpPr/>
            <p:nvPr/>
          </p:nvSpPr>
          <p:spPr>
            <a:xfrm>
              <a:off x="5347440" y="3429000"/>
              <a:ext cx="3287160" cy="61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3350" tIns="76675" rIns="153350" bIns="76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GL_LINE_STRIP</a:t>
              </a:r>
              <a:endPara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4" name="Google Shape;404;p18"/>
          <p:cNvGrpSpPr/>
          <p:nvPr/>
        </p:nvGrpSpPr>
        <p:grpSpPr>
          <a:xfrm>
            <a:off x="276120" y="4699080"/>
            <a:ext cx="3058560" cy="1381680"/>
            <a:chOff x="276120" y="4699080"/>
            <a:chExt cx="3058560" cy="1381680"/>
          </a:xfrm>
        </p:grpSpPr>
        <p:sp>
          <p:nvSpPr>
            <p:cNvPr id="405" name="Google Shape;405;p18"/>
            <p:cNvSpPr/>
            <p:nvPr/>
          </p:nvSpPr>
          <p:spPr>
            <a:xfrm>
              <a:off x="952560" y="4699080"/>
              <a:ext cx="516240" cy="277560"/>
            </a:xfrm>
            <a:custGeom>
              <a:avLst/>
              <a:gdLst/>
              <a:ahLst/>
              <a:cxnLst/>
              <a:rect l="l" t="t" r="r" b="b"/>
              <a:pathLst>
                <a:path w="244" h="187" extrusionOk="0">
                  <a:moveTo>
                    <a:pt x="158" y="0"/>
                  </a:moveTo>
                  <a:lnTo>
                    <a:pt x="0" y="171"/>
                  </a:lnTo>
                  <a:lnTo>
                    <a:pt x="243" y="186"/>
                  </a:lnTo>
                  <a:lnTo>
                    <a:pt x="158" y="0"/>
                  </a:lnTo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18"/>
            <p:cNvSpPr/>
            <p:nvPr/>
          </p:nvSpPr>
          <p:spPr>
            <a:xfrm>
              <a:off x="1542960" y="4921200"/>
              <a:ext cx="954360" cy="426600"/>
            </a:xfrm>
            <a:custGeom>
              <a:avLst/>
              <a:gdLst/>
              <a:ahLst/>
              <a:cxnLst/>
              <a:rect l="l" t="t" r="r" b="b"/>
              <a:pathLst>
                <a:path w="451" h="287" extrusionOk="0">
                  <a:moveTo>
                    <a:pt x="129" y="0"/>
                  </a:moveTo>
                  <a:lnTo>
                    <a:pt x="0" y="179"/>
                  </a:lnTo>
                  <a:lnTo>
                    <a:pt x="450" y="286"/>
                  </a:lnTo>
                  <a:lnTo>
                    <a:pt x="129" y="0"/>
                  </a:lnTo>
                </a:path>
              </a:pathLst>
            </a:custGeom>
            <a:solidFill>
              <a:srgbClr val="66FF66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18"/>
            <p:cNvSpPr/>
            <p:nvPr/>
          </p:nvSpPr>
          <p:spPr>
            <a:xfrm>
              <a:off x="276120" y="5470560"/>
              <a:ext cx="3058560" cy="61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3350" tIns="76675" rIns="153350" bIns="76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i="0" u="none" strike="noStrike" cap="non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GL_TRIANGLES</a:t>
              </a:r>
              <a:endPara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8" name="Google Shape;408;p18"/>
          <p:cNvSpPr/>
          <p:nvPr/>
        </p:nvSpPr>
        <p:spPr>
          <a:xfrm>
            <a:off x="303120" y="3429000"/>
            <a:ext cx="236988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3350" tIns="76675" rIns="153350" bIns="766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GL_POINTS</a:t>
            </a:r>
            <a:endParaRPr sz="3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" name="Google Shape;409;p18"/>
          <p:cNvCxnSpPr/>
          <p:nvPr/>
        </p:nvCxnSpPr>
        <p:spPr>
          <a:xfrm rot="10800000" flipH="1">
            <a:off x="3301920" y="2666880"/>
            <a:ext cx="507960" cy="38088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0" name="Google Shape;410;p18"/>
          <p:cNvSpPr/>
          <p:nvPr/>
        </p:nvSpPr>
        <p:spPr>
          <a:xfrm>
            <a:off x="1015920" y="2540160"/>
            <a:ext cx="126720" cy="12672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/>
          <p:nvPr/>
        </p:nvSpPr>
        <p:spPr>
          <a:xfrm>
            <a:off x="1270080" y="2793960"/>
            <a:ext cx="126720" cy="12672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8"/>
          <p:cNvSpPr/>
          <p:nvPr/>
        </p:nvSpPr>
        <p:spPr>
          <a:xfrm>
            <a:off x="1778040" y="2921040"/>
            <a:ext cx="126720" cy="12672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8"/>
          <p:cNvSpPr/>
          <p:nvPr/>
        </p:nvSpPr>
        <p:spPr>
          <a:xfrm>
            <a:off x="2031840" y="2540160"/>
            <a:ext cx="126720" cy="12672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9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OpenGL’s geometric primitives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9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form 3D geometric objects, you need to decompose them into geometric primitives that OpenGL can draw.  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OpenGL only knows how to draw three things: points, lines, and triangles, 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lvl="2" indent="-26670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/>
              <a:t>B</a:t>
            </a:r>
            <a:r>
              <a:rPr lang="en-US" sz="2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 can use collections of the same type of primitive to optimize rendering.</a:t>
            </a:r>
            <a:endParaRPr sz="2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9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/>
          </a:p>
        </p:txBody>
      </p:sp>
      <p:sp>
        <p:nvSpPr>
          <p:cNvPr id="421" name="Google Shape;421;p19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21/10/2024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0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832304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Shaders and GLSL (</a:t>
            </a:r>
            <a:r>
              <a:rPr lang="en-US" dirty="0"/>
              <a:t>OpenGL Shading Language)</a:t>
            </a:r>
            <a:endParaRPr sz="4400" b="0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0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Types</a:t>
            </a:r>
            <a:endParaRPr/>
          </a:p>
        </p:txBody>
      </p:sp>
      <p:sp>
        <p:nvSpPr>
          <p:cNvPr id="428" name="Google Shape;428;p20"/>
          <p:cNvSpPr/>
          <p:nvPr/>
        </p:nvSpPr>
        <p:spPr>
          <a:xfrm>
            <a:off x="838080" y="2439360"/>
            <a:ext cx="10515240" cy="300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Scalar types: </a:t>
            </a:r>
            <a:r>
              <a:rPr lang="en-US" sz="2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float, int, bool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Vector types: </a:t>
            </a:r>
            <a:r>
              <a:rPr lang="en-US" sz="2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vec2, vec3, vec4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                     ivec2, ivec3, ivec4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                     bvec2, bvec3, bvec4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Matrix types: </a:t>
            </a:r>
            <a:r>
              <a:rPr lang="en-US" sz="2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mat2, mat3, mat4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Texture sampling: </a:t>
            </a:r>
            <a:r>
              <a:rPr lang="en-US" sz="2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sampler1D, sampler2D, sampler3D, samplerCube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0"/>
          <p:cNvSpPr/>
          <p:nvPr/>
        </p:nvSpPr>
        <p:spPr>
          <a:xfrm>
            <a:off x="838080" y="5579280"/>
            <a:ext cx="10515240" cy="3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C++ Style Constructors </a:t>
            </a:r>
            <a:r>
              <a:rPr lang="en-US" sz="2000" b="0" i="0" u="none" strike="noStrike" cap="non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vec3 a = vec3(1.0, 2.0, 3.0);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0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/>
          </a:p>
        </p:txBody>
      </p:sp>
      <p:sp>
        <p:nvSpPr>
          <p:cNvPr id="431" name="Google Shape;431;p20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21/10/2024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1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1"/>
          <p:cNvSpPr/>
          <p:nvPr/>
        </p:nvSpPr>
        <p:spPr>
          <a:xfrm>
            <a:off x="838080" y="1690560"/>
            <a:ext cx="10515240" cy="312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Noto Sans Symbols"/>
              <a:buChar char="✔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C/C++ arithmetic and logic operators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Noto Sans Symbols"/>
              <a:buChar char="✔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Operators overloaded for matrix and vector operations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1"/>
          <p:cNvSpPr/>
          <p:nvPr/>
        </p:nvSpPr>
        <p:spPr>
          <a:xfrm>
            <a:off x="838080" y="3016080"/>
            <a:ext cx="10515240" cy="222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mat4 m;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vec4 a, b, c;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b = a*m;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c = m*a;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1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/>
          </a:p>
        </p:txBody>
      </p:sp>
      <p:sp>
        <p:nvSpPr>
          <p:cNvPr id="440" name="Google Shape;440;p21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21/10/2024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2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Components and Swizzling</a:t>
            </a:r>
            <a:endParaRPr sz="4400" b="0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2"/>
          <p:cNvSpPr/>
          <p:nvPr/>
        </p:nvSpPr>
        <p:spPr>
          <a:xfrm>
            <a:off x="838080" y="1690560"/>
            <a:ext cx="10515240" cy="466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vectors can use </a:t>
            </a:r>
            <a:r>
              <a:rPr lang="en-US" sz="28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[ ], </a:t>
            </a:r>
            <a:r>
              <a:rPr lang="en-US" sz="2800" b="0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xyzw</a:t>
            </a:r>
            <a:r>
              <a:rPr lang="en-US" sz="28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800" b="0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rgba</a:t>
            </a:r>
            <a:r>
              <a:rPr lang="en-US" sz="28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US" sz="2800" b="0" i="0" u="none" strike="noStrike" cap="none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stpq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vec3 v;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v[1], </a:t>
            </a:r>
            <a:r>
              <a:rPr lang="en-US" sz="2800" b="0" i="0" u="none" strike="noStrike" cap="none" dirty="0" err="1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v.y</a:t>
            </a:r>
            <a:r>
              <a:rPr lang="en-US" sz="2800" b="0" i="0" u="none" strike="noStrike" cap="none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800" b="0" i="0" u="none" strike="noStrike" cap="none" dirty="0" err="1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v.g</a:t>
            </a:r>
            <a:r>
              <a:rPr lang="en-US" sz="2800" b="0" i="0" u="none" strike="noStrike" cap="none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, v.t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refer to the same element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lang="en-US"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Swizzling:</a:t>
            </a:r>
            <a:endParaRPr lang="en-US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vec3 a, b;</a:t>
            </a:r>
            <a:endParaRPr lang="en-US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 err="1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a.xy</a:t>
            </a:r>
            <a:r>
              <a:rPr lang="en-US" sz="2800" b="0" i="0" u="none" strike="noStrike" cap="none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800" b="0" i="0" u="none" strike="noStrike" cap="none" dirty="0" err="1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b.yx</a:t>
            </a:r>
            <a:r>
              <a:rPr lang="en-US" sz="2800" b="0" i="0" u="none" strike="noStrike" cap="none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lang="en-US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2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/>
          </a:p>
        </p:txBody>
      </p:sp>
      <p:sp>
        <p:nvSpPr>
          <p:cNvPr id="448" name="Google Shape;448;p22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21/10/2024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3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Qualifiers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3"/>
          <p:cNvSpPr/>
          <p:nvPr/>
        </p:nvSpPr>
        <p:spPr>
          <a:xfrm>
            <a:off x="926640" y="1690560"/>
            <a:ext cx="10426680" cy="458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marR="0" lvl="0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739"/>
              <a:buFont typeface="Arial"/>
              <a:buChar char="•"/>
            </a:pPr>
            <a:r>
              <a:rPr lang="en-US" sz="2739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in, out</a:t>
            </a:r>
            <a:endParaRPr sz="2739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140000"/>
              </a:lnSpc>
              <a:spcBef>
                <a:spcPts val="499"/>
              </a:spcBef>
              <a:spcAft>
                <a:spcPts val="0"/>
              </a:spcAft>
              <a:buClr>
                <a:srgbClr val="4472C4"/>
              </a:buClr>
              <a:buSzPts val="2739"/>
              <a:buFont typeface="Arial"/>
              <a:buChar char="•"/>
            </a:pPr>
            <a:r>
              <a:rPr lang="en-US" sz="273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 vertex attributes and other variable to/ from shaders</a:t>
            </a:r>
            <a:endParaRPr sz="2739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140000"/>
              </a:lnSpc>
              <a:spcBef>
                <a:spcPts val="499"/>
              </a:spcBef>
              <a:spcAft>
                <a:spcPts val="0"/>
              </a:spcAft>
              <a:buClr>
                <a:srgbClr val="4472C4"/>
              </a:buClr>
              <a:buSzPts val="2739"/>
              <a:buFont typeface="Arial"/>
              <a:buChar char="•"/>
            </a:pPr>
            <a:r>
              <a:rPr lang="en-US" sz="2739" b="0" i="0" u="none" strike="noStrike" cap="none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in vec2 </a:t>
            </a:r>
            <a:r>
              <a:rPr lang="en-US" sz="2739" b="0" i="0" u="none" strike="noStrike" cap="none" dirty="0" err="1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tex_coord</a:t>
            </a:r>
            <a:r>
              <a:rPr lang="en-US" sz="2739" b="0" i="0" u="none" strike="noStrike" cap="none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739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140000"/>
              </a:lnSpc>
              <a:spcBef>
                <a:spcPts val="499"/>
              </a:spcBef>
              <a:spcAft>
                <a:spcPts val="0"/>
              </a:spcAft>
              <a:buClr>
                <a:srgbClr val="4472C4"/>
              </a:buClr>
              <a:buSzPts val="2739"/>
              <a:buFont typeface="Arial"/>
              <a:buChar char="•"/>
            </a:pPr>
            <a:r>
              <a:rPr lang="en-US" sz="2739" b="0" i="0" u="none" strike="noStrike" cap="none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out vec4 color;</a:t>
            </a:r>
            <a:endParaRPr sz="2739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40000"/>
              </a:lnSpc>
              <a:spcBef>
                <a:spcPts val="1001"/>
              </a:spcBef>
              <a:spcAft>
                <a:spcPts val="0"/>
              </a:spcAft>
              <a:buClr>
                <a:srgbClr val="4472C4"/>
              </a:buClr>
              <a:buSzPts val="2739"/>
              <a:buFont typeface="Arial"/>
              <a:buChar char="•"/>
            </a:pPr>
            <a:r>
              <a:rPr lang="en-US" sz="2739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Uniform: variable from application </a:t>
            </a:r>
            <a:endParaRPr sz="2739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140000"/>
              </a:lnSpc>
              <a:spcBef>
                <a:spcPts val="499"/>
              </a:spcBef>
              <a:spcAft>
                <a:spcPts val="0"/>
              </a:spcAft>
              <a:buClr>
                <a:srgbClr val="4472C4"/>
              </a:buClr>
              <a:buSzPts val="2739"/>
              <a:buFont typeface="Arial"/>
              <a:buChar char="•"/>
            </a:pPr>
            <a:r>
              <a:rPr lang="en-US" sz="2739" b="0" i="0" u="none" strike="noStrike" cap="none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uniform float time;</a:t>
            </a:r>
            <a:endParaRPr sz="2739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1" indent="-228600" algn="l" rtl="0">
              <a:lnSpc>
                <a:spcPct val="140000"/>
              </a:lnSpc>
              <a:spcBef>
                <a:spcPts val="499"/>
              </a:spcBef>
              <a:spcAft>
                <a:spcPts val="0"/>
              </a:spcAft>
              <a:buClr>
                <a:srgbClr val="4472C4"/>
              </a:buClr>
              <a:buSzPts val="2739"/>
              <a:buFont typeface="Arial"/>
              <a:buChar char="•"/>
            </a:pPr>
            <a:r>
              <a:rPr lang="en-US" sz="2739" b="0" i="0" u="none" strike="noStrike" cap="none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uniform vec4 rotation;</a:t>
            </a:r>
            <a:endParaRPr sz="2739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3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/>
          </a:p>
        </p:txBody>
      </p:sp>
      <p:sp>
        <p:nvSpPr>
          <p:cNvPr id="456" name="Google Shape;456;p23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21/10/2024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4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Flow control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4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else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expression ? true-expression : false-expression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while, do while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4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/>
          </a:p>
        </p:txBody>
      </p:sp>
      <p:sp>
        <p:nvSpPr>
          <p:cNvPr id="464" name="Google Shape;464;p24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21/10/2024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5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5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Built-in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Arial"/>
              <a:buChar char="•"/>
            </a:pPr>
            <a:r>
              <a:rPr lang="en-US" sz="28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Arithmetic: </a:t>
            </a:r>
            <a:r>
              <a:rPr lang="en-US" sz="2800" b="0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sqrt, power, abs</a:t>
            </a:r>
            <a:endParaRPr sz="2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Arial"/>
              <a:buChar char="•"/>
            </a:pPr>
            <a:r>
              <a:rPr lang="en-US" sz="28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Trigonometric: </a:t>
            </a:r>
            <a:r>
              <a:rPr lang="en-US" sz="2800" b="0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sin, asin</a:t>
            </a:r>
            <a:endParaRPr sz="2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Arial"/>
              <a:buChar char="•"/>
            </a:pPr>
            <a:r>
              <a:rPr lang="en-US" sz="28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Graphical: </a:t>
            </a:r>
            <a:r>
              <a:rPr lang="en-US" sz="2800" b="0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length, reflect</a:t>
            </a:r>
            <a:endParaRPr sz="2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User-defined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5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/>
          </a:p>
        </p:txBody>
      </p:sp>
      <p:sp>
        <p:nvSpPr>
          <p:cNvPr id="472" name="Google Shape;472;p25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21/10/2024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6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Built-in variables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6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gl_Position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output position from vertex shader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gl_FragColor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output color from the fragment shader 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Arial"/>
              <a:buChar char="•"/>
            </a:pPr>
            <a:r>
              <a:rPr lang="en-US" sz="28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for ES, WebGL and older versions of GLSL</a:t>
            </a:r>
            <a:endParaRPr sz="2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150000"/>
              </a:lnSpc>
              <a:spcBef>
                <a:spcPts val="499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Arial"/>
              <a:buChar char="•"/>
            </a:pPr>
            <a:r>
              <a:rPr lang="en-US" sz="28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 version uses an </a:t>
            </a:r>
            <a:r>
              <a:rPr lang="en-US" sz="2800" b="0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</a:t>
            </a:r>
            <a:r>
              <a:rPr lang="en-US" sz="28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variable.</a:t>
            </a:r>
            <a:endParaRPr sz="28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6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/>
          </a:p>
        </p:txBody>
      </p:sp>
      <p:sp>
        <p:nvSpPr>
          <p:cNvPr id="480" name="Google Shape;480;p26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21/10/2024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7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vertex shader example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7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605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onsolas"/>
              <a:buNone/>
            </a:pPr>
            <a:r>
              <a:rPr lang="en-US" sz="2800" b="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in vec4 </a:t>
            </a:r>
            <a:r>
              <a:rPr lang="en-US" sz="2800" b="0" i="0" u="none" strike="noStrike" cap="none" dirty="0" err="1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vPosition</a:t>
            </a:r>
            <a:r>
              <a:rPr lang="en-US" sz="2800" b="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;   // from VBO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onsolas"/>
              <a:buNone/>
            </a:pPr>
            <a:r>
              <a:rPr lang="en-US" sz="2800" b="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in vec4 </a:t>
            </a:r>
            <a:r>
              <a:rPr lang="en-US" sz="2800" b="0" i="0" u="none" strike="noStrike" cap="none" dirty="0" err="1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vColor</a:t>
            </a:r>
            <a:r>
              <a:rPr lang="en-US" sz="2800" b="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;      // from VBO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onsolas"/>
              <a:buNone/>
            </a:pPr>
            <a:r>
              <a:rPr lang="en-US" sz="2800" b="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out vec4 color;      //  to fragment shader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onsolas"/>
              <a:buNone/>
            </a:pPr>
            <a:r>
              <a:rPr lang="en-US" sz="2800" b="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void main()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onsolas"/>
              <a:buNone/>
            </a:pPr>
            <a:r>
              <a:rPr lang="en-US" sz="2800" b="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onsolas"/>
              <a:buNone/>
            </a:pPr>
            <a:r>
              <a:rPr lang="en-US" sz="23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300" b="0" i="0" u="none" strike="noStrike" cap="none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// Pass the vertex color to the fragment shader</a:t>
            </a:r>
            <a:endParaRPr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onsolas"/>
              <a:buNone/>
            </a:pPr>
            <a:r>
              <a:rPr lang="en-US" sz="2800" b="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color = </a:t>
            </a:r>
            <a:r>
              <a:rPr lang="en-US" sz="2800" b="0" i="0" u="none" strike="noStrike" cap="none" dirty="0" err="1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vColor</a:t>
            </a:r>
            <a:r>
              <a:rPr lang="en-US" sz="2800" b="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endParaRPr lang="en-US" sz="2100" b="0" i="0" u="none" strike="noStrike" cap="none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onsolas"/>
              <a:buNone/>
            </a:pPr>
            <a:r>
              <a:rPr lang="en-US" sz="2100" dirty="0">
                <a:solidFill>
                  <a:srgbClr val="C00000"/>
                </a:solidFill>
              </a:rPr>
              <a:t>           </a:t>
            </a:r>
            <a:r>
              <a:rPr lang="en-US" sz="2400" b="0" i="0" u="none" strike="noStrike" cap="none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// Set the final position of the vertex on the screen</a:t>
            </a:r>
            <a:endParaRPr sz="2100" b="0" i="0" u="none" strike="noStrike" cap="none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onsolas"/>
              <a:buNone/>
            </a:pPr>
            <a:r>
              <a:rPr lang="en-US" sz="2800" b="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800" b="0" i="0" u="none" strike="noStrike" cap="none" dirty="0" err="1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gl_Position</a:t>
            </a:r>
            <a:r>
              <a:rPr lang="en-US" sz="2800" b="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800" b="0" i="0" u="none" strike="noStrike" cap="none" dirty="0" err="1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vPosition</a:t>
            </a:r>
            <a:r>
              <a:rPr lang="en-US" sz="2800" b="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endParaRPr sz="1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onsolas"/>
              <a:buNone/>
            </a:pPr>
            <a:r>
              <a:rPr lang="en-US" sz="2800" b="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7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/>
          </a:p>
        </p:txBody>
      </p:sp>
      <p:sp>
        <p:nvSpPr>
          <p:cNvPr id="488" name="Google Shape;488;p27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21/10/2024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8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fragment shader example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8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nsolas"/>
              <a:buNone/>
            </a:pPr>
            <a:r>
              <a:rPr lang="en-US" sz="2800" b="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in vec4 color;		</a:t>
            </a:r>
            <a:r>
              <a:rPr lang="en-US" sz="2800" b="0" i="0" u="none" strike="noStrike" cap="none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// from vertex shader</a:t>
            </a:r>
            <a:endParaRPr sz="2800" b="0" i="0" u="none" strike="noStrike" cap="none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nsolas"/>
              <a:buNone/>
            </a:pPr>
            <a:r>
              <a:rPr lang="en-US" sz="2800" b="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out vec4 </a:t>
            </a:r>
            <a:r>
              <a:rPr lang="en-US" sz="2800" b="0" i="0" u="none" strike="noStrike" cap="none" dirty="0" err="1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FragColor</a:t>
            </a:r>
            <a:r>
              <a:rPr lang="en-US" sz="2800" b="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800" b="0" i="0" u="none" strike="noStrike" cap="none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// to frame buffer</a:t>
            </a:r>
            <a:endParaRPr sz="2800" b="0" i="0" u="none" strike="noStrike" cap="none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nsolas"/>
              <a:buNone/>
            </a:pPr>
            <a:r>
              <a:rPr lang="en-US" sz="2800" b="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void main()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nsolas"/>
              <a:buNone/>
            </a:pPr>
            <a:r>
              <a:rPr lang="en-US" sz="2800" b="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nsolas"/>
              <a:buNone/>
            </a:pPr>
            <a:r>
              <a:rPr lang="en-US" sz="2800" b="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800" b="0" i="0" u="none" strike="noStrike" cap="none" dirty="0" err="1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FragColor</a:t>
            </a:r>
            <a:r>
              <a:rPr lang="en-US" sz="2800" b="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= color; </a:t>
            </a:r>
            <a:r>
              <a:rPr lang="en-US" sz="2800" b="0" i="0" u="none" strike="noStrike" cap="none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//set pixel color</a:t>
            </a:r>
            <a:endParaRPr sz="2800" b="0" i="0" u="none" strike="noStrike" cap="none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nsolas"/>
              <a:buNone/>
            </a:pPr>
            <a:r>
              <a:rPr lang="en-US" sz="2800" b="0" i="0" u="none" strike="noStrike" cap="none" dirty="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8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/>
          </a:p>
        </p:txBody>
      </p:sp>
      <p:sp>
        <p:nvSpPr>
          <p:cNvPr id="496" name="Google Shape;496;p28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21/10/2024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9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OpenGL programming in a nutshell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9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Modern OpenGL programs essentially do the following steps: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Calibri"/>
              <a:buAutoNum type="arabi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shader programs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Calibri"/>
              <a:buAutoNum type="arabi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buffer objects and load data into them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Calibri"/>
              <a:buAutoNum type="arabi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“Connect” data locations with shader variables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Clr>
                <a:srgbClr val="4472C4"/>
              </a:buClr>
              <a:buSzPts val="2800"/>
              <a:buFont typeface="Calibri"/>
              <a:buAutoNum type="arabicPeriod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Render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9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/>
          </a:p>
        </p:txBody>
      </p:sp>
      <p:sp>
        <p:nvSpPr>
          <p:cNvPr id="504" name="Google Shape;504;p29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21/10/2024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0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0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https://learnopengl.com/Getting-started/OpenGL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 Angel, (2013), Introduction to Modern OpenGL Programming [PowerPoint slides], University of New Mexico. https://www.google.com/url?sa=i&amp;rct=j&amp;q=&amp;esrc=s&amp;source=web&amp;cd=&amp;cad=rja&amp;uact=8&amp;ved=0CAIQw7AJahcKEwiQmpaO9feAAxUAAAAAHQAAAAAQAg&amp;url=https%3A%2F%2Fwww.cs.unm.edu%2F~angel%2FSIGGRAPH13%2FAn%2520Introduction%2520to%2520OpenGL%2520Programming.pptx&amp;psig=AOvVaw2kK85Jyj7mtAWvopHq2SLZ&amp;ust=1693056429705470&amp;opi=89978449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0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/>
          </a:p>
        </p:txBody>
      </p:sp>
      <p:sp>
        <p:nvSpPr>
          <p:cNvPr id="512" name="Google Shape;512;p30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21/10/2024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1827</Words>
  <Application>Microsoft Office PowerPoint</Application>
  <PresentationFormat>Widescreen</PresentationFormat>
  <Paragraphs>339</Paragraphs>
  <Slides>31</Slides>
  <Notes>30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31</vt:i4>
      </vt:variant>
    </vt:vector>
  </HeadingPairs>
  <TitlesOfParts>
    <vt:vector size="48" baseType="lpstr">
      <vt:lpstr>Arial</vt:lpstr>
      <vt:lpstr>Calibri</vt:lpstr>
      <vt:lpstr>Consolas</vt:lpstr>
      <vt:lpstr>Noto Sans Symbols</vt:lpstr>
      <vt:lpstr>Times New Roman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CSE 4208 Introduction to OpenGL Libraries </vt:lpstr>
      <vt:lpstr>Outline</vt:lpstr>
      <vt:lpstr>Objectives of graphics programming</vt:lpstr>
      <vt:lpstr>What is OpenGL?</vt:lpstr>
      <vt:lpstr>The evolution of the OpenGL pipeline</vt:lpstr>
      <vt:lpstr>The evolution of the OpenGL pipeline</vt:lpstr>
      <vt:lpstr>An evolutionary change</vt:lpstr>
      <vt:lpstr>The exclusively programmable pipeline</vt:lpstr>
      <vt:lpstr>More Programmability</vt:lpstr>
      <vt:lpstr>A simplified pipeline model</vt:lpstr>
      <vt:lpstr>Course Ground Rule</vt:lpstr>
      <vt:lpstr>Shortly</vt:lpstr>
      <vt:lpstr>OpenGL related libraries</vt:lpstr>
      <vt:lpstr>﻿Core-profile vs Immediate mode</vt:lpstr>
      <vt:lpstr>State machine</vt:lpstr>
      <vt:lpstr>State machine</vt:lpstr>
      <vt:lpstr>Object</vt:lpstr>
      <vt:lpstr>Object</vt:lpstr>
      <vt:lpstr>OpenGL’s geometric primitives</vt:lpstr>
      <vt:lpstr>OpenGL’s geometric primitives</vt:lpstr>
      <vt:lpstr>Shaders and GLSL (OpenGL Shading Language)</vt:lpstr>
      <vt:lpstr>Operators</vt:lpstr>
      <vt:lpstr>Components and Swizzling</vt:lpstr>
      <vt:lpstr>Qualifiers</vt:lpstr>
      <vt:lpstr>Flow control</vt:lpstr>
      <vt:lpstr>Functions</vt:lpstr>
      <vt:lpstr>Built-in variables</vt:lpstr>
      <vt:lpstr>Simple vertex shader example</vt:lpstr>
      <vt:lpstr>Simple fragment shader example</vt:lpstr>
      <vt:lpstr>OpenGL programming in a nutshell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4208 Introduction to OpenGL Libraries </dc:title>
  <dc:creator>Microsoft Office User</dc:creator>
  <cp:lastModifiedBy>Tajmilur</cp:lastModifiedBy>
  <cp:revision>8</cp:revision>
  <dcterms:created xsi:type="dcterms:W3CDTF">2023-08-25T09:39:46Z</dcterms:created>
  <dcterms:modified xsi:type="dcterms:W3CDTF">2025-12-23T04:32:37Z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Widescreen</vt:lpwstr>
  </property>
  <property fmtid="{D5CDD505-2E9C-101B-9397-08002B2CF9AE}" pid="4" name="Slides">
    <vt:i4>30</vt:i4>
  </property>
</Properties>
</file>