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notesMasterIdLst>
    <p:notesMasterId r:id="rId37"/>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9" r:id="rId34"/>
    <p:sldId id="280" r:id="rId35"/>
    <p:sldId id="278" r:id="rId36"/>
  </p:sldIdLst>
  <p:sldSz cx="12192000" cy="6858000"/>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gjh9+vQoHoicOFjnwId9jknYb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presProps" Target="presProps.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3: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5: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5: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6: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8: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9: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0: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1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13: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14: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5: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15: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6: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16: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7: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17: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8: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18: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19: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0: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0: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p2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2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2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0862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2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4687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23: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25"/>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5"/>
          <p:cNvSpPr txBox="1">
            <a:spLocks noGrp="1"/>
          </p:cNvSpPr>
          <p:nvPr>
            <p:ph type="subTitle" idx="1"/>
          </p:nvPr>
        </p:nvSpPr>
        <p:spPr>
          <a:xfrm>
            <a:off x="838080" y="1825560"/>
            <a:ext cx="10515240" cy="435096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15" name="Google Shape;15;p25"/>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5"/>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7" name="Google Shape;17;p25"/>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9B4E81C-A6D7-4922-BD45-0CF294764814}" type="datetime1">
              <a:rPr lang="en-US" smtClean="0"/>
              <a:t>12/23/2025</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7"/>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7"/>
          <p:cNvSpPr txBox="1">
            <a:spLocks noGrp="1"/>
          </p:cNvSpPr>
          <p:nvPr>
            <p:ph type="body" idx="1"/>
          </p:nvPr>
        </p:nvSpPr>
        <p:spPr>
          <a:xfrm>
            <a:off x="838080" y="1825560"/>
            <a:ext cx="10515240" cy="43509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27"/>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7"/>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0" name="Google Shape;30;p27"/>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478BCB5-3954-4E2D-AB97-8DE6F55FB922}" type="datetime1">
              <a:rPr lang="en-US" smtClean="0"/>
              <a:t>12/23/2025</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
        <p:cNvGrpSpPr/>
        <p:nvPr/>
      </p:nvGrpSpPr>
      <p:grpSpPr>
        <a:xfrm>
          <a:off x="0" y="0"/>
          <a:ext cx="0" cy="0"/>
          <a:chOff x="0" y="0"/>
          <a:chExt cx="0" cy="0"/>
        </a:xfrm>
      </p:grpSpPr>
      <p:sp>
        <p:nvSpPr>
          <p:cNvPr id="39" name="Google Shape;39;p29"/>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9"/>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1" name="Google Shape;41;p29"/>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0C9E071-1A64-40E4-9A54-0F7C44AEA316}" type="datetime1">
              <a:rPr lang="en-US" smtClean="0"/>
              <a:t>12/23/2025</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
        <p:cNvGrpSpPr/>
        <p:nvPr/>
      </p:nvGrpSpPr>
      <p:grpSpPr>
        <a:xfrm>
          <a:off x="0" y="0"/>
          <a:ext cx="0" cy="0"/>
          <a:chOff x="0" y="0"/>
          <a:chExt cx="0" cy="0"/>
        </a:xfrm>
      </p:grpSpPr>
      <p:sp>
        <p:nvSpPr>
          <p:cNvPr id="50" name="Google Shape;50;p31"/>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31"/>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FEDE6BC8-636A-4E8C-9A89-AD40CB282DD8}" type="datetime1">
              <a:rPr lang="en-US" smtClean="0"/>
              <a:t>12/23/2025</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blank">
  <p:cSld name="BLANK">
    <p:spTree>
      <p:nvGrpSpPr>
        <p:cNvPr id="1" name="Shape 60"/>
        <p:cNvGrpSpPr/>
        <p:nvPr/>
      </p:nvGrpSpPr>
      <p:grpSpPr>
        <a:xfrm>
          <a:off x="0" y="0"/>
          <a:ext cx="0" cy="0"/>
          <a:chOff x="0" y="0"/>
          <a:chExt cx="0" cy="0"/>
        </a:xfrm>
      </p:grpSpPr>
      <p:sp>
        <p:nvSpPr>
          <p:cNvPr id="61" name="Google Shape;61;p33"/>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3"/>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3" name="Google Shape;63;p33"/>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5897F56-CC10-4932-B09C-BED741C32B20}" type="datetime1">
              <a:rPr lang="en-US" smtClean="0"/>
              <a:t>12/23/2025</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a:off x="838080" y="1825560"/>
            <a:ext cx="5131080" cy="43509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5"/>
          <p:cNvSpPr txBox="1">
            <a:spLocks noGrp="1"/>
          </p:cNvSpPr>
          <p:nvPr>
            <p:ph type="body" idx="2"/>
          </p:nvPr>
        </p:nvSpPr>
        <p:spPr>
          <a:xfrm>
            <a:off x="6226200" y="1825560"/>
            <a:ext cx="5131080" cy="435096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35"/>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78" name="Google Shape;78;p35"/>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A1179C65-6166-464F-9524-58A2C072F3A0}" type="datetime1">
              <a:rPr lang="en-US" smtClean="0"/>
              <a:t>12/23/2025</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blank">
  <p:cSld name="BLANK">
    <p:spTree>
      <p:nvGrpSpPr>
        <p:cNvPr id="1" name="Shape 89"/>
        <p:cNvGrpSpPr/>
        <p:nvPr/>
      </p:nvGrpSpPr>
      <p:grpSpPr>
        <a:xfrm>
          <a:off x="0" y="0"/>
          <a:ext cx="0" cy="0"/>
          <a:chOff x="0" y="0"/>
          <a:chExt cx="0" cy="0"/>
        </a:xfrm>
      </p:grpSpPr>
      <p:sp>
        <p:nvSpPr>
          <p:cNvPr id="90" name="Google Shape;90;p37"/>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37"/>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92" name="Google Shape;92;p37"/>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EC90A0B-CA2E-4AE5-B72B-EF51FF10DD0A}" type="datetime1">
              <a:rPr lang="en-US" smtClean="0"/>
              <a:t>12/23/2025</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sp>
        <p:nvSpPr>
          <p:cNvPr id="100" name="Google Shape;100;p39"/>
          <p:cNvSpPr txBox="1">
            <a:spLocks noGrp="1"/>
          </p:cNvSpPr>
          <p:nvPr>
            <p:ph type="title"/>
          </p:nvPr>
        </p:nvSpPr>
        <p:spPr>
          <a:xfrm>
            <a:off x="838080" y="365040"/>
            <a:ext cx="10515240" cy="132516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39"/>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39"/>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39"/>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9B5EAEE-59DB-4504-BFAC-5BE35786E705}" type="datetime1">
              <a:rPr lang="en-US" smtClean="0"/>
              <a:t>12/23/2025</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9"/>
        <p:cNvGrpSpPr/>
        <p:nvPr/>
      </p:nvGrpSpPr>
      <p:grpSpPr>
        <a:xfrm>
          <a:off x="0" y="0"/>
          <a:ext cx="0" cy="0"/>
          <a:chOff x="0" y="0"/>
          <a:chExt cx="0" cy="0"/>
        </a:xfrm>
      </p:grpSpPr>
      <p:sp>
        <p:nvSpPr>
          <p:cNvPr id="110" name="Google Shape;110;p41"/>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41"/>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12" name="Google Shape;112;p41"/>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DB0A210-83CF-488F-9016-E841A4810F01}" type="datetime1">
              <a:rPr lang="en-US" smtClean="0"/>
              <a:t>12/23/2025</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blank">
  <p:cSld name="BLANK">
    <p:spTree>
      <p:nvGrpSpPr>
        <p:cNvPr id="1" name="Shape 121"/>
        <p:cNvGrpSpPr/>
        <p:nvPr/>
      </p:nvGrpSpPr>
      <p:grpSpPr>
        <a:xfrm>
          <a:off x="0" y="0"/>
          <a:ext cx="0" cy="0"/>
          <a:chOff x="0" y="0"/>
          <a:chExt cx="0" cy="0"/>
        </a:xfrm>
      </p:grpSpPr>
      <p:sp>
        <p:nvSpPr>
          <p:cNvPr id="122" name="Google Shape;122;p43"/>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43"/>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24" name="Google Shape;124;p43"/>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AAFF61F5-5C42-417A-9F81-9C25732CDD8E}" type="datetime1">
              <a:rPr lang="en-US" smtClean="0"/>
              <a:t>12/23/2025</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blank">
  <p:cSld name="BLANK">
    <p:spTree>
      <p:nvGrpSpPr>
        <p:cNvPr id="1" name="Shape 133"/>
        <p:cNvGrpSpPr/>
        <p:nvPr/>
      </p:nvGrpSpPr>
      <p:grpSpPr>
        <a:xfrm>
          <a:off x="0" y="0"/>
          <a:ext cx="0" cy="0"/>
          <a:chOff x="0" y="0"/>
          <a:chExt cx="0" cy="0"/>
        </a:xfrm>
      </p:grpSpPr>
      <p:sp>
        <p:nvSpPr>
          <p:cNvPr id="134" name="Google Shape;134;p45"/>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45"/>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600"/>
              <a:buFont typeface="Calibri"/>
              <a:buNone/>
              <a:defRPr sz="16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36" name="Google Shape;136;p45"/>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888888"/>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37AFDEF-700E-47C7-A9BD-D8A1DD6BD833}" type="datetime1">
              <a:rPr lang="en-US" smtClean="0"/>
              <a:t>12/23/2025</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pic>
        <p:nvPicPr>
          <p:cNvPr id="6" name="Google Shape;6;p24"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7" name="Google Shape;7;p24"/>
          <p:cNvSpPr txBox="1">
            <a:spLocks noGrp="1"/>
          </p:cNvSpPr>
          <p:nvPr>
            <p:ph type="title"/>
          </p:nvPr>
        </p:nvSpPr>
        <p:spPr>
          <a:xfrm>
            <a:off x="1523880" y="1122480"/>
            <a:ext cx="9143640" cy="238716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24"/>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E24F241B-05A5-4C30-B078-98B4C18350C0}" type="datetime1">
              <a:rPr lang="en-US" smtClean="0"/>
              <a:t>12/23/2025</a:t>
            </a:fld>
            <a:endParaRPr/>
          </a:p>
        </p:txBody>
      </p:sp>
      <p:sp>
        <p:nvSpPr>
          <p:cNvPr id="9" name="Google Shape;9;p24"/>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4"/>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1" name="Google Shape;11;p24"/>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
        <p:cNvGrpSpPr/>
        <p:nvPr/>
      </p:nvGrpSpPr>
      <p:grpSpPr>
        <a:xfrm>
          <a:off x="0" y="0"/>
          <a:ext cx="0" cy="0"/>
          <a:chOff x="0" y="0"/>
          <a:chExt cx="0" cy="0"/>
        </a:xfrm>
      </p:grpSpPr>
      <p:pic>
        <p:nvPicPr>
          <p:cNvPr id="19" name="Google Shape;19;p26"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20" name="Google Shape;20;p26"/>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 name="Google Shape;21;p26"/>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26"/>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5509291E-2F20-4605-9344-03B3EE85E802}" type="datetime1">
              <a:rPr lang="en-US" smtClean="0"/>
              <a:t>12/23/2025</a:t>
            </a:fld>
            <a:endParaRPr/>
          </a:p>
        </p:txBody>
      </p:sp>
      <p:sp>
        <p:nvSpPr>
          <p:cNvPr id="23" name="Google Shape;23;p26"/>
          <p:cNvSpPr txBox="1">
            <a:spLocks noGrp="1"/>
          </p:cNvSpPr>
          <p:nvPr>
            <p:ph type="ftr" idx="11"/>
          </p:nvPr>
        </p:nvSpPr>
        <p:spPr>
          <a:xfrm>
            <a:off x="403848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26"/>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pic>
        <p:nvPicPr>
          <p:cNvPr id="32" name="Google Shape;32;p28"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33" name="Google Shape;33;p28"/>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28"/>
          <p:cNvSpPr txBox="1">
            <a:spLocks noGrp="1"/>
          </p:cNvSpPr>
          <p:nvPr>
            <p:ph type="body" idx="1"/>
          </p:nvPr>
        </p:nvSpPr>
        <p:spPr>
          <a:xfrm rot="5400000">
            <a:off x="3920220" y="-1256580"/>
            <a:ext cx="4350960" cy="1051524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28"/>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D8C61CB7-6C17-43D9-B465-56C15DD51266}" type="datetime1">
              <a:rPr lang="en-US" smtClean="0"/>
              <a:t>12/23/2025</a:t>
            </a:fld>
            <a:endParaRPr/>
          </a:p>
        </p:txBody>
      </p:sp>
      <p:sp>
        <p:nvSpPr>
          <p:cNvPr id="36" name="Google Shape;36;p28"/>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28"/>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
        <p:cNvGrpSpPr/>
        <p:nvPr/>
      </p:nvGrpSpPr>
      <p:grpSpPr>
        <a:xfrm>
          <a:off x="0" y="0"/>
          <a:ext cx="0" cy="0"/>
          <a:chOff x="0" y="0"/>
          <a:chExt cx="0" cy="0"/>
        </a:xfrm>
      </p:grpSpPr>
      <p:pic>
        <p:nvPicPr>
          <p:cNvPr id="43" name="Google Shape;43;p30"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44" name="Google Shape;44;p30"/>
          <p:cNvSpPr txBox="1">
            <a:spLocks noGrp="1"/>
          </p:cNvSpPr>
          <p:nvPr>
            <p:ph type="title"/>
          </p:nvPr>
        </p:nvSpPr>
        <p:spPr>
          <a:xfrm rot="5400000">
            <a:off x="7133580" y="1956420"/>
            <a:ext cx="5811480" cy="2628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5" name="Google Shape;45;p30"/>
          <p:cNvSpPr txBox="1">
            <a:spLocks noGrp="1"/>
          </p:cNvSpPr>
          <p:nvPr>
            <p:ph type="body" idx="1"/>
          </p:nvPr>
        </p:nvSpPr>
        <p:spPr>
          <a:xfrm rot="5400000">
            <a:off x="1799280" y="-596160"/>
            <a:ext cx="5811480" cy="773388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30"/>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ED37428C-25E0-420C-9EED-C8696FC23C5C}" type="datetime1">
              <a:rPr lang="en-US" smtClean="0"/>
              <a:t>12/23/2025</a:t>
            </a:fld>
            <a:endParaRPr/>
          </a:p>
        </p:txBody>
      </p:sp>
      <p:sp>
        <p:nvSpPr>
          <p:cNvPr id="47" name="Google Shape;47;p30"/>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30"/>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
        <p:cNvGrpSpPr/>
        <p:nvPr/>
      </p:nvGrpSpPr>
      <p:grpSpPr>
        <a:xfrm>
          <a:off x="0" y="0"/>
          <a:ext cx="0" cy="0"/>
          <a:chOff x="0" y="0"/>
          <a:chExt cx="0" cy="0"/>
        </a:xfrm>
      </p:grpSpPr>
      <p:pic>
        <p:nvPicPr>
          <p:cNvPr id="54" name="Google Shape;54;p32"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55" name="Google Shape;55;p32"/>
          <p:cNvSpPr txBox="1">
            <a:spLocks noGrp="1"/>
          </p:cNvSpPr>
          <p:nvPr>
            <p:ph type="title"/>
          </p:nvPr>
        </p:nvSpPr>
        <p:spPr>
          <a:xfrm>
            <a:off x="831960" y="1709640"/>
            <a:ext cx="10515240" cy="285228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32"/>
          <p:cNvSpPr txBox="1">
            <a:spLocks noGrp="1"/>
          </p:cNvSpPr>
          <p:nvPr>
            <p:ph type="body" idx="1"/>
          </p:nvPr>
        </p:nvSpPr>
        <p:spPr>
          <a:xfrm>
            <a:off x="831960" y="4589640"/>
            <a:ext cx="10515240" cy="14997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7" name="Google Shape;57;p32"/>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0DEE185E-D3EB-49A0-BB47-BA88351A97AE}" type="datetime1">
              <a:rPr lang="en-US" smtClean="0"/>
              <a:t>12/23/2025</a:t>
            </a:fld>
            <a:endParaRPr/>
          </a:p>
        </p:txBody>
      </p:sp>
      <p:sp>
        <p:nvSpPr>
          <p:cNvPr id="58" name="Google Shape;58;p32"/>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32"/>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
        <p:cNvGrpSpPr/>
        <p:nvPr/>
      </p:nvGrpSpPr>
      <p:grpSpPr>
        <a:xfrm>
          <a:off x="0" y="0"/>
          <a:ext cx="0" cy="0"/>
          <a:chOff x="0" y="0"/>
          <a:chExt cx="0" cy="0"/>
        </a:xfrm>
      </p:grpSpPr>
      <p:pic>
        <p:nvPicPr>
          <p:cNvPr id="65" name="Google Shape;65;p34"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66" name="Google Shape;66;p34"/>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34"/>
          <p:cNvSpPr txBox="1">
            <a:spLocks noGrp="1"/>
          </p:cNvSpPr>
          <p:nvPr>
            <p:ph type="body" idx="1"/>
          </p:nvPr>
        </p:nvSpPr>
        <p:spPr>
          <a:xfrm>
            <a:off x="838080" y="1825560"/>
            <a:ext cx="5181120" cy="43509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8" name="Google Shape;68;p34"/>
          <p:cNvSpPr txBox="1">
            <a:spLocks noGrp="1"/>
          </p:cNvSpPr>
          <p:nvPr>
            <p:ph type="body" idx="2"/>
          </p:nvPr>
        </p:nvSpPr>
        <p:spPr>
          <a:xfrm>
            <a:off x="6172200" y="1825560"/>
            <a:ext cx="5181120" cy="43509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 name="Google Shape;69;p34"/>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37E5D3A7-EB42-4139-832E-356F54B9DA2B}" type="datetime1">
              <a:rPr lang="en-US" smtClean="0"/>
              <a:t>12/23/2025</a:t>
            </a:fld>
            <a:endParaRPr/>
          </a:p>
        </p:txBody>
      </p:sp>
      <p:sp>
        <p:nvSpPr>
          <p:cNvPr id="70" name="Google Shape;70;p34"/>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34"/>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
        <p:cNvGrpSpPr/>
        <p:nvPr/>
      </p:nvGrpSpPr>
      <p:grpSpPr>
        <a:xfrm>
          <a:off x="0" y="0"/>
          <a:ext cx="0" cy="0"/>
          <a:chOff x="0" y="0"/>
          <a:chExt cx="0" cy="0"/>
        </a:xfrm>
      </p:grpSpPr>
      <p:pic>
        <p:nvPicPr>
          <p:cNvPr id="80" name="Google Shape;80;p36"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81" name="Google Shape;81;p36"/>
          <p:cNvSpPr txBox="1">
            <a:spLocks noGrp="1"/>
          </p:cNvSpPr>
          <p:nvPr>
            <p:ph type="title"/>
          </p:nvPr>
        </p:nvSpPr>
        <p:spPr>
          <a:xfrm>
            <a:off x="839880" y="365040"/>
            <a:ext cx="10515240" cy="132516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p36"/>
          <p:cNvSpPr txBox="1">
            <a:spLocks noGrp="1"/>
          </p:cNvSpPr>
          <p:nvPr>
            <p:ph type="body" idx="1"/>
          </p:nvPr>
        </p:nvSpPr>
        <p:spPr>
          <a:xfrm>
            <a:off x="839880" y="1681200"/>
            <a:ext cx="5157360" cy="823680"/>
          </a:xfrm>
          <a:prstGeom prst="rect">
            <a:avLst/>
          </a:prstGeom>
          <a:noFill/>
          <a:ln>
            <a:noFill/>
          </a:ln>
        </p:spPr>
        <p:txBody>
          <a:bodyPr spcFirstLastPara="1" wrap="square" lIns="91425" tIns="45700" rIns="91425" bIns="45700" anchor="b"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36"/>
          <p:cNvSpPr txBox="1">
            <a:spLocks noGrp="1"/>
          </p:cNvSpPr>
          <p:nvPr>
            <p:ph type="body" idx="2"/>
          </p:nvPr>
        </p:nvSpPr>
        <p:spPr>
          <a:xfrm>
            <a:off x="839880" y="2505240"/>
            <a:ext cx="5157360" cy="368424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36"/>
          <p:cNvSpPr txBox="1">
            <a:spLocks noGrp="1"/>
          </p:cNvSpPr>
          <p:nvPr>
            <p:ph type="body" idx="3"/>
          </p:nvPr>
        </p:nvSpPr>
        <p:spPr>
          <a:xfrm>
            <a:off x="6172200" y="1681200"/>
            <a:ext cx="5182920" cy="823680"/>
          </a:xfrm>
          <a:prstGeom prst="rect">
            <a:avLst/>
          </a:prstGeom>
          <a:noFill/>
          <a:ln>
            <a:noFill/>
          </a:ln>
        </p:spPr>
        <p:txBody>
          <a:bodyPr spcFirstLastPara="1" wrap="square" lIns="91425" tIns="45700" rIns="91425" bIns="45700" anchor="b"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36"/>
          <p:cNvSpPr txBox="1">
            <a:spLocks noGrp="1"/>
          </p:cNvSpPr>
          <p:nvPr>
            <p:ph type="body" idx="4"/>
          </p:nvPr>
        </p:nvSpPr>
        <p:spPr>
          <a:xfrm>
            <a:off x="6172200" y="2505240"/>
            <a:ext cx="5182920" cy="368424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6" name="Google Shape;86;p36"/>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51334F7A-67AA-41D1-9FF7-40A52A64F12F}" type="datetime1">
              <a:rPr lang="en-US" smtClean="0"/>
              <a:t>12/23/2025</a:t>
            </a:fld>
            <a:endParaRPr/>
          </a:p>
        </p:txBody>
      </p:sp>
      <p:sp>
        <p:nvSpPr>
          <p:cNvPr id="87" name="Google Shape;87;p36"/>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36"/>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pic>
        <p:nvPicPr>
          <p:cNvPr id="94" name="Google Shape;94;p38"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95" name="Google Shape;95;p38"/>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6" name="Google Shape;96;p38"/>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2AD1E2EC-1FCA-4AA5-8CF7-96D38A8E7435}" type="datetime1">
              <a:rPr lang="en-US" smtClean="0"/>
              <a:t>12/23/2025</a:t>
            </a:fld>
            <a:endParaRPr/>
          </a:p>
        </p:txBody>
      </p:sp>
      <p:sp>
        <p:nvSpPr>
          <p:cNvPr id="97" name="Google Shape;97;p38"/>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38"/>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3"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
        <p:cNvGrpSpPr/>
        <p:nvPr/>
      </p:nvGrpSpPr>
      <p:grpSpPr>
        <a:xfrm>
          <a:off x="0" y="0"/>
          <a:ext cx="0" cy="0"/>
          <a:chOff x="0" y="0"/>
          <a:chExt cx="0" cy="0"/>
        </a:xfrm>
      </p:grpSpPr>
      <p:pic>
        <p:nvPicPr>
          <p:cNvPr id="105" name="Google Shape;105;p40"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106" name="Google Shape;106;p40"/>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9691DCA0-89AE-4BE9-8FEB-D537FC13F927}" type="datetime1">
              <a:rPr lang="en-US" smtClean="0"/>
              <a:t>12/23/2025</a:t>
            </a:fld>
            <a:endParaRPr/>
          </a:p>
        </p:txBody>
      </p:sp>
      <p:sp>
        <p:nvSpPr>
          <p:cNvPr id="107" name="Google Shape;107;p40"/>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8" name="Google Shape;108;p40"/>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5"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pic>
        <p:nvPicPr>
          <p:cNvPr id="114" name="Google Shape;114;p42"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115" name="Google Shape;115;p42"/>
          <p:cNvSpPr txBox="1">
            <a:spLocks noGrp="1"/>
          </p:cNvSpPr>
          <p:nvPr>
            <p:ph type="title"/>
          </p:nvPr>
        </p:nvSpPr>
        <p:spPr>
          <a:xfrm>
            <a:off x="839880" y="457200"/>
            <a:ext cx="3931920" cy="159984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6" name="Google Shape;116;p42"/>
          <p:cNvSpPr txBox="1">
            <a:spLocks noGrp="1"/>
          </p:cNvSpPr>
          <p:nvPr>
            <p:ph type="body" idx="1"/>
          </p:nvPr>
        </p:nvSpPr>
        <p:spPr>
          <a:xfrm>
            <a:off x="5183280" y="987480"/>
            <a:ext cx="6171840" cy="487332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7" name="Google Shape;117;p42"/>
          <p:cNvSpPr txBox="1">
            <a:spLocks noGrp="1"/>
          </p:cNvSpPr>
          <p:nvPr>
            <p:ph type="body" idx="2"/>
          </p:nvPr>
        </p:nvSpPr>
        <p:spPr>
          <a:xfrm>
            <a:off x="839880" y="2057400"/>
            <a:ext cx="3931920" cy="381132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8" name="Google Shape;118;p42"/>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DFEE4020-36B4-4EAA-A890-8B37AD80A761}" type="datetime1">
              <a:rPr lang="en-US" smtClean="0"/>
              <a:t>12/23/2025</a:t>
            </a:fld>
            <a:endParaRPr/>
          </a:p>
        </p:txBody>
      </p:sp>
      <p:sp>
        <p:nvSpPr>
          <p:cNvPr id="119" name="Google Shape;119;p42"/>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0" name="Google Shape;120;p42"/>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7"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
        <p:cNvGrpSpPr/>
        <p:nvPr/>
      </p:nvGrpSpPr>
      <p:grpSpPr>
        <a:xfrm>
          <a:off x="0" y="0"/>
          <a:ext cx="0" cy="0"/>
          <a:chOff x="0" y="0"/>
          <a:chExt cx="0" cy="0"/>
        </a:xfrm>
      </p:grpSpPr>
      <p:pic>
        <p:nvPicPr>
          <p:cNvPr id="126" name="Google Shape;126;p44" descr="\\banshee\root\tmp\imaging001.png"/>
          <p:cNvPicPr preferRelativeResize="0"/>
          <p:nvPr/>
        </p:nvPicPr>
        <p:blipFill rotWithShape="1">
          <a:blip r:embed="rId3">
            <a:alphaModFix/>
          </a:blip>
          <a:srcRect/>
          <a:stretch/>
        </p:blipFill>
        <p:spPr>
          <a:xfrm>
            <a:off x="1141560" y="5696640"/>
            <a:ext cx="1434600" cy="738000"/>
          </a:xfrm>
          <a:prstGeom prst="rect">
            <a:avLst/>
          </a:prstGeom>
          <a:noFill/>
          <a:ln>
            <a:noFill/>
          </a:ln>
        </p:spPr>
      </p:pic>
      <p:sp>
        <p:nvSpPr>
          <p:cNvPr id="127" name="Google Shape;127;p44"/>
          <p:cNvSpPr txBox="1">
            <a:spLocks noGrp="1"/>
          </p:cNvSpPr>
          <p:nvPr>
            <p:ph type="title"/>
          </p:nvPr>
        </p:nvSpPr>
        <p:spPr>
          <a:xfrm>
            <a:off x="839880" y="457200"/>
            <a:ext cx="3931920" cy="159984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8" name="Google Shape;128;p44"/>
          <p:cNvSpPr txBox="1">
            <a:spLocks noGrp="1"/>
          </p:cNvSpPr>
          <p:nvPr>
            <p:ph type="body" idx="1"/>
          </p:nvPr>
        </p:nvSpPr>
        <p:spPr>
          <a:xfrm>
            <a:off x="5183280" y="987480"/>
            <a:ext cx="6171840" cy="4873320"/>
          </a:xfrm>
          <a:prstGeom prst="rect">
            <a:avLst/>
          </a:prstGeom>
          <a:noFill/>
          <a:ln>
            <a:noFill/>
          </a:ln>
        </p:spPr>
        <p:txBody>
          <a:bodyPr spcFirstLastPara="1" wrap="square" lIns="90000" tIns="45000" rIns="90000" bIns="450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9" name="Google Shape;129;p44"/>
          <p:cNvSpPr txBox="1">
            <a:spLocks noGrp="1"/>
          </p:cNvSpPr>
          <p:nvPr>
            <p:ph type="body" idx="2"/>
          </p:nvPr>
        </p:nvSpPr>
        <p:spPr>
          <a:xfrm>
            <a:off x="839880" y="2057400"/>
            <a:ext cx="3931920" cy="381132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0" name="Google Shape;130;p44"/>
          <p:cNvSpPr txBox="1">
            <a:spLocks noGrp="1"/>
          </p:cNvSpPr>
          <p:nvPr>
            <p:ph type="dt" idx="10"/>
          </p:nvPr>
        </p:nvSpPr>
        <p:spPr>
          <a:xfrm>
            <a:off x="5593680" y="6356520"/>
            <a:ext cx="2742840" cy="36468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33C3B223-642C-43AD-9AAB-DBE44ABC4575}" type="datetime1">
              <a:rPr lang="en-US" smtClean="0"/>
              <a:t>12/23/2025</a:t>
            </a:fld>
            <a:endParaRPr/>
          </a:p>
        </p:txBody>
      </p:sp>
      <p:sp>
        <p:nvSpPr>
          <p:cNvPr id="131" name="Google Shape;131;p44"/>
          <p:cNvSpPr txBox="1">
            <a:spLocks noGrp="1"/>
          </p:cNvSpPr>
          <p:nvPr>
            <p:ph type="ftr" idx="11"/>
          </p:nvPr>
        </p:nvSpPr>
        <p:spPr>
          <a:xfrm>
            <a:off x="1204920" y="6356520"/>
            <a:ext cx="4114440" cy="3646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44"/>
          <p:cNvSpPr txBox="1">
            <a:spLocks noGrp="1"/>
          </p:cNvSpPr>
          <p:nvPr>
            <p:ph type="sldNum" idx="12"/>
          </p:nvPr>
        </p:nvSpPr>
        <p:spPr>
          <a:xfrm>
            <a:off x="861048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600"/>
              <a:buFont typeface="Calibri"/>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9" r:id="rId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hyperlink" Target="https://www.khronos.org/opengl/wiki/Face_Culling"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khronos.org/opengl/wiki/Primitive"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www.euclideanspace.com/maths/geometry/affine/matrix4x4/index.htm" TargetMode="External"/><Relationship Id="rId5" Type="http://schemas.openxmlformats.org/officeDocument/2006/relationships/hyperlink" Target="https://byjusexamprep.com/transformation-in-computer-graphics-i" TargetMode="External"/><Relationship Id="rId4" Type="http://schemas.openxmlformats.org/officeDocument/2006/relationships/hyperlink" Target="https://www.brainvoyager.com/bv/doc/UsersGuide/CoordsAndTransforms/SpatialTransformationMatrice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
          <p:cNvSpPr txBox="1">
            <a:spLocks noGrp="1"/>
          </p:cNvSpPr>
          <p:nvPr>
            <p:ph type="title"/>
          </p:nvPr>
        </p:nvSpPr>
        <p:spPr>
          <a:xfrm>
            <a:off x="1757880" y="0"/>
            <a:ext cx="8676000" cy="320004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6000"/>
              <a:buFont typeface="Calibri"/>
              <a:buNone/>
            </a:pPr>
            <a:r>
              <a:rPr lang="en-US" sz="6000" b="0" strike="noStrike">
                <a:solidFill>
                  <a:schemeClr val="dk1"/>
                </a:solidFill>
                <a:latin typeface="Calibri"/>
                <a:ea typeface="Calibri"/>
                <a:cs typeface="Calibri"/>
                <a:sym typeface="Calibri"/>
              </a:rPr>
              <a:t>2D object creation and applying transformations</a:t>
            </a:r>
            <a:endParaRPr sz="6000" b="0" strike="noStrike">
              <a:solidFill>
                <a:schemeClr val="dk1"/>
              </a:solidFill>
              <a:latin typeface="Calibri"/>
              <a:ea typeface="Calibri"/>
              <a:cs typeface="Calibri"/>
              <a:sym typeface="Calibri"/>
            </a:endParaRPr>
          </a:p>
        </p:txBody>
      </p:sp>
      <p:sp>
        <p:nvSpPr>
          <p:cNvPr id="142" name="Google Shape;142;p1"/>
          <p:cNvSpPr txBox="1">
            <a:spLocks noGrp="1"/>
          </p:cNvSpPr>
          <p:nvPr>
            <p:ph type="subTitle" idx="1"/>
          </p:nvPr>
        </p:nvSpPr>
        <p:spPr>
          <a:xfrm>
            <a:off x="1751040" y="3886200"/>
            <a:ext cx="3894120" cy="190476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Calibri"/>
              <a:buNone/>
            </a:pPr>
            <a:r>
              <a:rPr lang="en-US" sz="2400" b="0" i="0" u="none" strike="noStrike" cap="none" dirty="0">
                <a:solidFill>
                  <a:schemeClr val="dk1"/>
                </a:solidFill>
                <a:latin typeface="Calibri"/>
                <a:ea typeface="Calibri"/>
                <a:cs typeface="Calibri"/>
                <a:sym typeface="Calibri"/>
              </a:rPr>
              <a:t>Dr. Sk. Md. </a:t>
            </a:r>
            <a:r>
              <a:rPr lang="en-US" sz="2400" b="0" i="0" u="none" strike="noStrike" cap="none" dirty="0" err="1">
                <a:solidFill>
                  <a:schemeClr val="dk1"/>
                </a:solidFill>
                <a:latin typeface="Calibri"/>
                <a:ea typeface="Calibri"/>
                <a:cs typeface="Calibri"/>
                <a:sym typeface="Calibri"/>
              </a:rPr>
              <a:t>Masudul</a:t>
            </a:r>
            <a:r>
              <a:rPr lang="en-US" sz="2400" b="0" i="0" u="none" strike="noStrike" cap="none" dirty="0">
                <a:solidFill>
                  <a:schemeClr val="dk1"/>
                </a:solidFill>
                <a:latin typeface="Calibri"/>
                <a:ea typeface="Calibri"/>
                <a:cs typeface="Calibri"/>
                <a:sym typeface="Calibri"/>
              </a:rPr>
              <a:t> Ahsan</a:t>
            </a:r>
            <a:endParaRPr sz="2400" b="0" i="0" u="none" strike="noStrike" cap="none" dirty="0">
              <a:solidFill>
                <a:srgbClr val="000000"/>
              </a:solidFill>
              <a:latin typeface="Arial"/>
              <a:ea typeface="Arial"/>
              <a:cs typeface="Arial"/>
              <a:sym typeface="Arial"/>
            </a:endParaRPr>
          </a:p>
          <a:p>
            <a:pPr marL="0" marR="0" lvl="0" indent="0" algn="l" rtl="0">
              <a:lnSpc>
                <a:spcPct val="90000"/>
              </a:lnSpc>
              <a:spcBef>
                <a:spcPts val="1001"/>
              </a:spcBef>
              <a:spcAft>
                <a:spcPts val="0"/>
              </a:spcAft>
              <a:buClr>
                <a:schemeClr val="dk1"/>
              </a:buClr>
              <a:buSzPts val="2400"/>
              <a:buFont typeface="Calibri"/>
              <a:buNone/>
            </a:pPr>
            <a:r>
              <a:rPr lang="en-US" sz="2400" b="0" i="0" u="none" strike="noStrike" cap="none" dirty="0">
                <a:solidFill>
                  <a:schemeClr val="dk1"/>
                </a:solidFill>
                <a:latin typeface="Calibri"/>
                <a:ea typeface="Calibri"/>
                <a:cs typeface="Calibri"/>
                <a:sym typeface="Calibri"/>
              </a:rPr>
              <a:t>Professor</a:t>
            </a:r>
            <a:endParaRPr sz="2400" b="0" i="0" u="none" strike="noStrike" cap="none" dirty="0">
              <a:solidFill>
                <a:srgbClr val="000000"/>
              </a:solidFill>
              <a:latin typeface="Arial"/>
              <a:ea typeface="Arial"/>
              <a:cs typeface="Arial"/>
              <a:sym typeface="Arial"/>
            </a:endParaRPr>
          </a:p>
          <a:p>
            <a:pPr marL="0" marR="0" lvl="0" indent="0" algn="l" rtl="0">
              <a:lnSpc>
                <a:spcPct val="90000"/>
              </a:lnSpc>
              <a:spcBef>
                <a:spcPts val="1001"/>
              </a:spcBef>
              <a:spcAft>
                <a:spcPts val="0"/>
              </a:spcAft>
              <a:buClr>
                <a:schemeClr val="dk1"/>
              </a:buClr>
              <a:buSzPts val="2400"/>
              <a:buFont typeface="Calibri"/>
              <a:buNone/>
            </a:pPr>
            <a:r>
              <a:rPr lang="en-US" sz="2400" b="0" i="0" u="none" strike="noStrike" cap="none" dirty="0">
                <a:solidFill>
                  <a:schemeClr val="dk1"/>
                </a:solidFill>
                <a:latin typeface="Calibri"/>
                <a:ea typeface="Calibri"/>
                <a:cs typeface="Calibri"/>
                <a:sym typeface="Calibri"/>
              </a:rPr>
              <a:t>Dept. of CSE, KUET</a:t>
            </a:r>
            <a:endParaRPr sz="2400" b="0" i="0" u="none" strike="noStrike" cap="none" dirty="0">
              <a:solidFill>
                <a:srgbClr val="000000"/>
              </a:solidFill>
              <a:latin typeface="Arial"/>
              <a:ea typeface="Arial"/>
              <a:cs typeface="Arial"/>
              <a:sym typeface="Arial"/>
            </a:endParaRPr>
          </a:p>
        </p:txBody>
      </p:sp>
      <p:sp>
        <p:nvSpPr>
          <p:cNvPr id="143" name="Google Shape;143;p1"/>
          <p:cNvSpPr/>
          <p:nvPr/>
        </p:nvSpPr>
        <p:spPr>
          <a:xfrm>
            <a:off x="7904060" y="3886200"/>
            <a:ext cx="3894120" cy="190476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2400" b="0" i="0" u="none" strike="noStrike" cap="none" dirty="0">
                <a:solidFill>
                  <a:schemeClr val="dk1"/>
                </a:solidFill>
                <a:latin typeface="Calibri"/>
                <a:ea typeface="Calibri"/>
                <a:cs typeface="Calibri"/>
                <a:sym typeface="Calibri"/>
              </a:rPr>
              <a:t>Md. Tajmilur Rahman</a:t>
            </a:r>
            <a:endParaRPr sz="2400" b="0" i="0" u="none" strike="noStrike" cap="none" dirty="0">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r>
              <a:rPr lang="en-US" sz="2400" b="0" i="0" u="none" strike="noStrike" cap="none" dirty="0">
                <a:solidFill>
                  <a:schemeClr val="dk1"/>
                </a:solidFill>
                <a:latin typeface="Calibri"/>
                <a:ea typeface="Calibri"/>
                <a:cs typeface="Calibri"/>
                <a:sym typeface="Calibri"/>
              </a:rPr>
              <a:t>Lecturer</a:t>
            </a:r>
            <a:endParaRPr sz="2400" b="0" i="0" u="none" strike="noStrike" cap="none" dirty="0">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r>
              <a:rPr lang="en-US" sz="2400" b="0" i="0" u="none" strike="noStrike" cap="none" dirty="0">
                <a:solidFill>
                  <a:schemeClr val="dk1"/>
                </a:solidFill>
                <a:latin typeface="Calibri"/>
                <a:ea typeface="Calibri"/>
                <a:cs typeface="Calibri"/>
                <a:sym typeface="Calibri"/>
              </a:rPr>
              <a:t>Dept. of CSE, KUET</a:t>
            </a:r>
            <a:endParaRPr sz="2400" b="0" i="0" u="none" strike="noStrike" cap="none" dirty="0">
              <a:solidFill>
                <a:srgbClr val="000000"/>
              </a:solidFill>
              <a:latin typeface="Arial"/>
              <a:ea typeface="Arial"/>
              <a:cs typeface="Arial"/>
              <a:sym typeface="Arial"/>
            </a:endParaRPr>
          </a:p>
        </p:txBody>
      </p:sp>
      <p:sp>
        <p:nvSpPr>
          <p:cNvPr id="2" name="Date Placeholder 1">
            <a:extLst>
              <a:ext uri="{FF2B5EF4-FFF2-40B4-BE49-F238E27FC236}">
                <a16:creationId xmlns:a16="http://schemas.microsoft.com/office/drawing/2014/main" id="{CDB176D7-1F2C-445E-B238-8BC1A3665ABB}"/>
              </a:ext>
            </a:extLst>
          </p:cNvPr>
          <p:cNvSpPr>
            <a:spLocks noGrp="1"/>
          </p:cNvSpPr>
          <p:nvPr>
            <p:ph type="dt" idx="10"/>
          </p:nvPr>
        </p:nvSpPr>
        <p:spPr/>
        <p:txBody>
          <a:bodyPr/>
          <a:lstStyle/>
          <a:p>
            <a:fld id="{B530407F-97E2-4222-9838-94905A500210}" type="datetime1">
              <a:rPr lang="en-US" smtClean="0"/>
              <a:t>12/23/2025</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
          <p:cNvSpPr txBox="1">
            <a:spLocks noGrp="1"/>
          </p:cNvSpPr>
          <p:nvPr>
            <p:ph type="title"/>
          </p:nvPr>
        </p:nvSpPr>
        <p:spPr>
          <a:xfrm>
            <a:off x="1141560" y="114480"/>
            <a:ext cx="9905760" cy="19047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What you will see today</a:t>
            </a:r>
            <a:endParaRPr sz="4400" b="0" strike="noStrike">
              <a:solidFill>
                <a:schemeClr val="dk1"/>
              </a:solidFill>
              <a:latin typeface="Calibri"/>
              <a:ea typeface="Calibri"/>
              <a:cs typeface="Calibri"/>
              <a:sym typeface="Calibri"/>
            </a:endParaRPr>
          </a:p>
        </p:txBody>
      </p:sp>
      <p:sp>
        <p:nvSpPr>
          <p:cNvPr id="149" name="Google Shape;149;p2"/>
          <p:cNvSpPr txBox="1">
            <a:spLocks noGrp="1"/>
          </p:cNvSpPr>
          <p:nvPr>
            <p:ph type="body" idx="1"/>
          </p:nvPr>
        </p:nvSpPr>
        <p:spPr>
          <a:xfrm>
            <a:off x="1141560" y="2019240"/>
            <a:ext cx="9905760" cy="312372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OpenGL Primitives</a:t>
            </a:r>
            <a:endParaRPr/>
          </a:p>
          <a:p>
            <a:pPr marL="228600" marR="0" lvl="0" indent="-228600" algn="l" rtl="0">
              <a:lnSpc>
                <a:spcPct val="90000"/>
              </a:lnSpc>
              <a:spcBef>
                <a:spcPts val="1001"/>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Point primitives</a:t>
            </a:r>
            <a:endParaRPr/>
          </a:p>
          <a:p>
            <a:pPr marL="228600" marR="0" lvl="0" indent="-228600" algn="l" rtl="0">
              <a:lnSpc>
                <a:spcPct val="90000"/>
              </a:lnSpc>
              <a:spcBef>
                <a:spcPts val="1001"/>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Line primitives</a:t>
            </a:r>
            <a:endParaRPr/>
          </a:p>
          <a:p>
            <a:pPr marL="228600" marR="0" lvl="0" indent="-228600" algn="l" rtl="0">
              <a:lnSpc>
                <a:spcPct val="90000"/>
              </a:lnSpc>
              <a:spcBef>
                <a:spcPts val="1001"/>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Triangle primitives</a:t>
            </a:r>
            <a:endParaRPr/>
          </a:p>
          <a:p>
            <a:pPr marL="228600" marR="0" lvl="0" indent="-228600" algn="l" rtl="0">
              <a:lnSpc>
                <a:spcPct val="90000"/>
              </a:lnSpc>
              <a:spcBef>
                <a:spcPts val="1001"/>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2D Object Transformation</a:t>
            </a:r>
            <a:endParaRPr/>
          </a:p>
        </p:txBody>
      </p:sp>
      <p:sp>
        <p:nvSpPr>
          <p:cNvPr id="151" name="Google Shape;151;p2"/>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74D4D436-05A3-471C-A3F2-BCE31FB6696E}" type="datetime1">
              <a:rPr lang="en-US" smtClean="0"/>
              <a:t>12/23/2025</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155"/>
        <p:cNvGrpSpPr/>
        <p:nvPr/>
      </p:nvGrpSpPr>
      <p:grpSpPr>
        <a:xfrm>
          <a:off x="0" y="0"/>
          <a:ext cx="0" cy="0"/>
          <a:chOff x="0" y="0"/>
          <a:chExt cx="0" cy="0"/>
        </a:xfrm>
      </p:grpSpPr>
      <p:sp>
        <p:nvSpPr>
          <p:cNvPr id="156" name="Google Shape;156;p3"/>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a:t>
            </a:r>
            <a:endParaRPr sz="4400" b="0" strike="noStrike">
              <a:solidFill>
                <a:schemeClr val="dk1"/>
              </a:solidFill>
              <a:latin typeface="Calibri"/>
              <a:ea typeface="Calibri"/>
              <a:cs typeface="Calibri"/>
              <a:sym typeface="Calibri"/>
            </a:endParaRPr>
          </a:p>
        </p:txBody>
      </p:sp>
      <p:sp>
        <p:nvSpPr>
          <p:cNvPr id="157" name="Google Shape;157;p3"/>
          <p:cNvSpPr txBox="1">
            <a:spLocks noGrp="1"/>
          </p:cNvSpPr>
          <p:nvPr>
            <p:ph type="body" idx="1"/>
          </p:nvPr>
        </p:nvSpPr>
        <p:spPr>
          <a:xfrm>
            <a:off x="838080" y="1789200"/>
            <a:ext cx="10427400" cy="38826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The term </a:t>
            </a:r>
            <a:r>
              <a:rPr lang="en-US" sz="2800" b="1" i="0" u="none" strike="noStrike" cap="none">
                <a:solidFill>
                  <a:schemeClr val="dk1"/>
                </a:solidFill>
                <a:latin typeface="Calibri"/>
                <a:ea typeface="Calibri"/>
                <a:cs typeface="Calibri"/>
                <a:sym typeface="Calibri"/>
              </a:rPr>
              <a:t>Primitive</a:t>
            </a:r>
            <a:r>
              <a:rPr lang="en-US" sz="2800" b="0" i="0" u="none" strike="noStrike" cap="none">
                <a:solidFill>
                  <a:schemeClr val="dk1"/>
                </a:solidFill>
                <a:latin typeface="Calibri"/>
                <a:ea typeface="Calibri"/>
                <a:cs typeface="Calibri"/>
                <a:sym typeface="Calibri"/>
              </a:rPr>
              <a:t> in OpenGL refers to the interpretation scheme used by OpenGL to determine what a stream of vertices represents when being rendered e.g. "GL_POINTS".</a:t>
            </a:r>
            <a:endParaRPr/>
          </a:p>
          <a:p>
            <a:pPr marL="228600" marR="0" lvl="0" indent="-228600" algn="l" rtl="0">
              <a:lnSpc>
                <a:spcPct val="90000"/>
              </a:lnSpc>
              <a:spcBef>
                <a:spcPts val="1001"/>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In OpenGL, an object is made up of geometric primitives such as triangle, quad, line segment and point. A primitive is made up of one or more vertices.</a:t>
            </a:r>
            <a:endParaRPr/>
          </a:p>
        </p:txBody>
      </p:sp>
      <p:sp>
        <p:nvSpPr>
          <p:cNvPr id="159" name="Google Shape;159;p3"/>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FB2FC778-F330-4C0B-8154-87C600A346DC}" type="datetime1">
              <a:rPr lang="en-US" smtClean="0"/>
              <a:t>12/23/2025</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a:t>
            </a:r>
            <a:endParaRPr sz="4400" b="0" strike="noStrike">
              <a:solidFill>
                <a:schemeClr val="dk1"/>
              </a:solidFill>
              <a:latin typeface="Calibri"/>
              <a:ea typeface="Calibri"/>
              <a:cs typeface="Calibri"/>
              <a:sym typeface="Calibri"/>
            </a:endParaRPr>
          </a:p>
        </p:txBody>
      </p:sp>
      <p:pic>
        <p:nvPicPr>
          <p:cNvPr id="165" name="Google Shape;165;p4"/>
          <p:cNvPicPr preferRelativeResize="0"/>
          <p:nvPr/>
        </p:nvPicPr>
        <p:blipFill rotWithShape="1">
          <a:blip r:embed="rId3">
            <a:alphaModFix/>
          </a:blip>
          <a:srcRect/>
          <a:stretch/>
        </p:blipFill>
        <p:spPr>
          <a:xfrm>
            <a:off x="1551240" y="1573560"/>
            <a:ext cx="9086040" cy="3978000"/>
          </a:xfrm>
          <a:prstGeom prst="rect">
            <a:avLst/>
          </a:prstGeom>
          <a:noFill/>
          <a:ln>
            <a:noFill/>
          </a:ln>
        </p:spPr>
      </p:pic>
      <p:sp>
        <p:nvSpPr>
          <p:cNvPr id="167" name="Google Shape;167;p4"/>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590A9F21-48E6-41BD-9FD2-E4702E878F58}" type="datetime1">
              <a:rPr lang="en-US" smtClean="0"/>
              <a:t>12/23/2025</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71"/>
        <p:cNvGrpSpPr/>
        <p:nvPr/>
      </p:nvGrpSpPr>
      <p:grpSpPr>
        <a:xfrm>
          <a:off x="0" y="0"/>
          <a:ext cx="0" cy="0"/>
          <a:chOff x="0" y="0"/>
          <a:chExt cx="0" cy="0"/>
        </a:xfrm>
      </p:grpSpPr>
      <p:sp>
        <p:nvSpPr>
          <p:cNvPr id="172" name="Google Shape;172;p5"/>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Point primitives</a:t>
            </a:r>
            <a:endParaRPr sz="4400" b="0" strike="noStrike">
              <a:solidFill>
                <a:schemeClr val="dk1"/>
              </a:solidFill>
              <a:latin typeface="Calibri"/>
              <a:ea typeface="Calibri"/>
              <a:cs typeface="Calibri"/>
              <a:sym typeface="Calibri"/>
            </a:endParaRPr>
          </a:p>
        </p:txBody>
      </p:sp>
      <p:sp>
        <p:nvSpPr>
          <p:cNvPr id="173" name="Google Shape;173;p5"/>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There is only one kind of point primitive: GL_POINTS. This will cause OpenGL to interpret each individual vertex in the stream as a point.</a:t>
            </a:r>
            <a:endParaRPr/>
          </a:p>
        </p:txBody>
      </p:sp>
      <p:sp>
        <p:nvSpPr>
          <p:cNvPr id="175" name="Google Shape;175;p5"/>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A713EEBD-87F8-4587-A1F7-5307E178F838}" type="datetime1">
              <a:rPr lang="en-US" smtClean="0"/>
              <a:t>12/23/2025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6"/>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Line primitives</a:t>
            </a:r>
            <a:endParaRPr sz="4400" b="0" strike="noStrike">
              <a:solidFill>
                <a:schemeClr val="dk1"/>
              </a:solidFill>
              <a:latin typeface="Calibri"/>
              <a:ea typeface="Calibri"/>
              <a:cs typeface="Calibri"/>
              <a:sym typeface="Calibri"/>
            </a:endParaRPr>
          </a:p>
        </p:txBody>
      </p:sp>
      <p:sp>
        <p:nvSpPr>
          <p:cNvPr id="181" name="Google Shape;181;p6"/>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800"/>
              <a:buFont typeface="Calibri"/>
              <a:buNone/>
            </a:pPr>
            <a:r>
              <a:rPr lang="en-US" sz="2800" b="0" i="0" u="none" strike="noStrike" cap="none" dirty="0">
                <a:solidFill>
                  <a:schemeClr val="dk1"/>
                </a:solidFill>
                <a:latin typeface="Calibri"/>
                <a:ea typeface="Calibri"/>
                <a:cs typeface="Calibri"/>
                <a:sym typeface="Calibri"/>
              </a:rPr>
              <a:t>There are 3 kinds of line primitives, based on different interpretations of a vertex stream.</a:t>
            </a:r>
            <a:endParaRPr dirty="0"/>
          </a:p>
          <a:p>
            <a:pPr marL="0" marR="0" lvl="0" indent="0" algn="l" rtl="0">
              <a:lnSpc>
                <a:spcPct val="90000"/>
              </a:lnSpc>
              <a:spcBef>
                <a:spcPts val="1001"/>
              </a:spcBef>
              <a:spcAft>
                <a:spcPts val="0"/>
              </a:spcAft>
              <a:buClr>
                <a:srgbClr val="000000"/>
              </a:buClr>
              <a:buSzPts val="2800"/>
              <a:buNone/>
            </a:pPr>
            <a:r>
              <a:rPr lang="en-US" sz="2800" b="1" i="0" u="none" strike="noStrike" cap="none" dirty="0">
                <a:solidFill>
                  <a:schemeClr val="dk1"/>
                </a:solidFill>
                <a:latin typeface="Calibri"/>
                <a:ea typeface="Calibri"/>
                <a:cs typeface="Calibri"/>
                <a:sym typeface="Calibri"/>
              </a:rPr>
              <a:t>GL_LINES: </a:t>
            </a:r>
          </a:p>
          <a:p>
            <a:pPr marR="0" lvl="0" indent="-457200" algn="l" rtl="0">
              <a:lnSpc>
                <a:spcPct val="90000"/>
              </a:lnSpc>
              <a:spcBef>
                <a:spcPts val="1001"/>
              </a:spcBef>
              <a:spcAft>
                <a:spcPts val="0"/>
              </a:spcAft>
              <a:buClr>
                <a:srgbClr val="000000"/>
              </a:buClr>
              <a:buSzPts val="2800"/>
              <a:buFont typeface="Wingdings" panose="05000000000000000000" pitchFamily="2" charset="2"/>
              <a:buChar char="Ø"/>
            </a:pPr>
            <a:r>
              <a:rPr lang="en-US" sz="2800" b="0" i="0" u="none" strike="noStrike" cap="none" dirty="0">
                <a:solidFill>
                  <a:schemeClr val="dk1"/>
                </a:solidFill>
                <a:latin typeface="Calibri"/>
                <a:ea typeface="Calibri"/>
                <a:cs typeface="Calibri"/>
                <a:sym typeface="Calibri"/>
              </a:rPr>
              <a:t>Vertices 0 and 1 are considered a line. </a:t>
            </a:r>
          </a:p>
          <a:p>
            <a:pPr indent="-457200">
              <a:spcBef>
                <a:spcPts val="1001"/>
              </a:spcBef>
              <a:buClr>
                <a:srgbClr val="000000"/>
              </a:buClr>
              <a:buSzPts val="2800"/>
              <a:buFont typeface="Wingdings" panose="05000000000000000000" pitchFamily="2" charset="2"/>
              <a:buChar char="Ø"/>
            </a:pPr>
            <a:r>
              <a:rPr lang="en-US" sz="2800" b="0" i="0" u="none" strike="noStrike" cap="none" dirty="0">
                <a:solidFill>
                  <a:schemeClr val="dk1"/>
                </a:solidFill>
                <a:latin typeface="Calibri"/>
                <a:ea typeface="Calibri"/>
                <a:cs typeface="Calibri"/>
                <a:sym typeface="Calibri"/>
              </a:rPr>
              <a:t>Vertices 2 and 3 are considered a line</a:t>
            </a:r>
            <a:r>
              <a:rPr lang="en-US" dirty="0"/>
              <a:t>, a</a:t>
            </a:r>
            <a:r>
              <a:rPr lang="en-US" sz="2800" b="0" i="0" u="none" strike="noStrike" cap="none" dirty="0">
                <a:solidFill>
                  <a:schemeClr val="dk1"/>
                </a:solidFill>
                <a:latin typeface="Calibri"/>
                <a:ea typeface="Calibri"/>
                <a:cs typeface="Calibri"/>
                <a:sym typeface="Calibri"/>
              </a:rPr>
              <a:t>nd so on. </a:t>
            </a:r>
          </a:p>
          <a:p>
            <a:pPr marL="0" marR="0" lvl="0" indent="0" algn="l" rtl="0">
              <a:lnSpc>
                <a:spcPct val="90000"/>
              </a:lnSpc>
              <a:spcBef>
                <a:spcPts val="1001"/>
              </a:spcBef>
              <a:spcAft>
                <a:spcPts val="0"/>
              </a:spcAft>
              <a:buClr>
                <a:srgbClr val="000000"/>
              </a:buClr>
              <a:buSzPts val="2800"/>
              <a:buNone/>
            </a:pPr>
            <a:endParaRPr lang="en-US" sz="2800" b="0" i="0" u="none" strike="noStrike" cap="none" dirty="0">
              <a:solidFill>
                <a:schemeClr val="dk1"/>
              </a:solidFill>
              <a:latin typeface="Calibri"/>
              <a:ea typeface="Calibri"/>
              <a:cs typeface="Calibri"/>
              <a:sym typeface="Calibri"/>
            </a:endParaRPr>
          </a:p>
          <a:p>
            <a:pPr marL="0" marR="0" lvl="0" indent="0" algn="l" rtl="0">
              <a:lnSpc>
                <a:spcPct val="90000"/>
              </a:lnSpc>
              <a:spcBef>
                <a:spcPts val="1001"/>
              </a:spcBef>
              <a:spcAft>
                <a:spcPts val="0"/>
              </a:spcAft>
              <a:buClr>
                <a:srgbClr val="000000"/>
              </a:buClr>
              <a:buSzPts val="2800"/>
              <a:buNone/>
            </a:pPr>
            <a:r>
              <a:rPr lang="en-US" sz="2800" b="0" i="0" u="none" strike="noStrike" cap="none" dirty="0">
                <a:solidFill>
                  <a:schemeClr val="dk1"/>
                </a:solidFill>
                <a:latin typeface="Calibri"/>
                <a:ea typeface="Calibri"/>
                <a:cs typeface="Calibri"/>
                <a:sym typeface="Calibri"/>
              </a:rPr>
              <a:t>If the user specifies a non-even number of vertices, then the extra vertex is ignored.</a:t>
            </a:r>
            <a:endParaRPr dirty="0"/>
          </a:p>
          <a:p>
            <a:pPr marL="0" marR="0" lvl="0" indent="0" algn="l" rtl="0">
              <a:lnSpc>
                <a:spcPct val="90000"/>
              </a:lnSpc>
              <a:spcBef>
                <a:spcPts val="1001"/>
              </a:spcBef>
              <a:spcAft>
                <a:spcPts val="0"/>
              </a:spcAft>
              <a:buClr>
                <a:schemeClr val="dk1"/>
              </a:buClr>
              <a:buSzPts val="2800"/>
              <a:buFont typeface="Calibri"/>
              <a:buNone/>
            </a:pPr>
            <a:endParaRPr sz="2800" b="0" i="0" u="none" strike="noStrike" cap="none" dirty="0">
              <a:solidFill>
                <a:schemeClr val="dk1"/>
              </a:solidFill>
              <a:latin typeface="Calibri"/>
              <a:ea typeface="Calibri"/>
              <a:cs typeface="Calibri"/>
              <a:sym typeface="Calibri"/>
            </a:endParaRPr>
          </a:p>
        </p:txBody>
      </p:sp>
      <p:sp>
        <p:nvSpPr>
          <p:cNvPr id="183" name="Google Shape;183;p6"/>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5A42B842-55F7-4CF6-A0D5-797C88C0EF68}" type="datetime1">
              <a:rPr lang="en-US" smtClean="0"/>
              <a:t>12/23/2025</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7"/>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Line primitives</a:t>
            </a:r>
            <a:endParaRPr sz="4400" b="0" strike="noStrike">
              <a:solidFill>
                <a:schemeClr val="dk1"/>
              </a:solidFill>
              <a:latin typeface="Calibri"/>
              <a:ea typeface="Calibri"/>
              <a:cs typeface="Calibri"/>
              <a:sym typeface="Calibri"/>
            </a:endParaRPr>
          </a:p>
        </p:txBody>
      </p:sp>
      <p:pic>
        <p:nvPicPr>
          <p:cNvPr id="189" name="Google Shape;189;p7"/>
          <p:cNvPicPr preferRelativeResize="0"/>
          <p:nvPr/>
        </p:nvPicPr>
        <p:blipFill rotWithShape="1">
          <a:blip r:embed="rId3">
            <a:alphaModFix/>
          </a:blip>
          <a:srcRect/>
          <a:stretch/>
        </p:blipFill>
        <p:spPr>
          <a:xfrm>
            <a:off x="1141560" y="1539720"/>
            <a:ext cx="5292720" cy="4198320"/>
          </a:xfrm>
          <a:prstGeom prst="rect">
            <a:avLst/>
          </a:prstGeom>
          <a:noFill/>
          <a:ln>
            <a:noFill/>
          </a:ln>
        </p:spPr>
      </p:pic>
      <p:sp>
        <p:nvSpPr>
          <p:cNvPr id="190" name="Google Shape;190;p7"/>
          <p:cNvSpPr/>
          <p:nvPr/>
        </p:nvSpPr>
        <p:spPr>
          <a:xfrm>
            <a:off x="154332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v1</a:t>
            </a:r>
            <a:endParaRPr sz="1800" b="0" i="0" u="none" strike="noStrike" cap="none">
              <a:solidFill>
                <a:srgbClr val="000000"/>
              </a:solidFill>
              <a:latin typeface="Arial"/>
              <a:ea typeface="Arial"/>
              <a:cs typeface="Arial"/>
              <a:sym typeface="Arial"/>
            </a:endParaRPr>
          </a:p>
        </p:txBody>
      </p:sp>
      <p:sp>
        <p:nvSpPr>
          <p:cNvPr id="191" name="Google Shape;191;p7"/>
          <p:cNvSpPr/>
          <p:nvPr/>
        </p:nvSpPr>
        <p:spPr>
          <a:xfrm>
            <a:off x="22788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v2</a:t>
            </a:r>
            <a:endParaRPr sz="1800" b="0" i="0" u="none" strike="noStrike" cap="none">
              <a:solidFill>
                <a:srgbClr val="000000"/>
              </a:solidFill>
              <a:latin typeface="Arial"/>
              <a:ea typeface="Arial"/>
              <a:cs typeface="Arial"/>
              <a:sym typeface="Arial"/>
            </a:endParaRPr>
          </a:p>
        </p:txBody>
      </p:sp>
      <p:sp>
        <p:nvSpPr>
          <p:cNvPr id="192" name="Google Shape;192;p7"/>
          <p:cNvSpPr/>
          <p:nvPr/>
        </p:nvSpPr>
        <p:spPr>
          <a:xfrm>
            <a:off x="285516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v3</a:t>
            </a:r>
            <a:endParaRPr sz="1800" b="0" i="0" u="none" strike="noStrike" cap="none">
              <a:solidFill>
                <a:srgbClr val="000000"/>
              </a:solidFill>
              <a:latin typeface="Arial"/>
              <a:ea typeface="Arial"/>
              <a:cs typeface="Arial"/>
              <a:sym typeface="Arial"/>
            </a:endParaRPr>
          </a:p>
        </p:txBody>
      </p:sp>
      <p:sp>
        <p:nvSpPr>
          <p:cNvPr id="193" name="Google Shape;193;p7"/>
          <p:cNvSpPr/>
          <p:nvPr/>
        </p:nvSpPr>
        <p:spPr>
          <a:xfrm>
            <a:off x="36306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v4</a:t>
            </a:r>
            <a:endParaRPr sz="1800" b="0" i="0" u="none" strike="noStrike" cap="none">
              <a:solidFill>
                <a:srgbClr val="000000"/>
              </a:solidFill>
              <a:latin typeface="Arial"/>
              <a:ea typeface="Arial"/>
              <a:cs typeface="Arial"/>
              <a:sym typeface="Arial"/>
            </a:endParaRPr>
          </a:p>
        </p:txBody>
      </p:sp>
      <p:sp>
        <p:nvSpPr>
          <p:cNvPr id="194" name="Google Shape;194;p7"/>
          <p:cNvSpPr/>
          <p:nvPr/>
        </p:nvSpPr>
        <p:spPr>
          <a:xfrm>
            <a:off x="421056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v5</a:t>
            </a:r>
            <a:endParaRPr sz="1800" b="0" i="0" u="none" strike="noStrike" cap="none">
              <a:solidFill>
                <a:srgbClr val="000000"/>
              </a:solidFill>
              <a:latin typeface="Arial"/>
              <a:ea typeface="Arial"/>
              <a:cs typeface="Arial"/>
              <a:sym typeface="Arial"/>
            </a:endParaRPr>
          </a:p>
        </p:txBody>
      </p:sp>
      <p:sp>
        <p:nvSpPr>
          <p:cNvPr id="195" name="Google Shape;195;p7"/>
          <p:cNvSpPr/>
          <p:nvPr/>
        </p:nvSpPr>
        <p:spPr>
          <a:xfrm>
            <a:off x="49464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v6</a:t>
            </a:r>
            <a:endParaRPr sz="1800" b="0" i="0" u="none" strike="noStrike" cap="none">
              <a:solidFill>
                <a:srgbClr val="000000"/>
              </a:solidFill>
              <a:latin typeface="Arial"/>
              <a:ea typeface="Arial"/>
              <a:cs typeface="Arial"/>
              <a:sym typeface="Arial"/>
            </a:endParaRPr>
          </a:p>
        </p:txBody>
      </p:sp>
      <p:pic>
        <p:nvPicPr>
          <p:cNvPr id="196" name="Google Shape;196;p7"/>
          <p:cNvPicPr preferRelativeResize="0"/>
          <p:nvPr/>
        </p:nvPicPr>
        <p:blipFill rotWithShape="1">
          <a:blip r:embed="rId4">
            <a:alphaModFix/>
          </a:blip>
          <a:srcRect/>
          <a:stretch/>
        </p:blipFill>
        <p:spPr>
          <a:xfrm>
            <a:off x="6434640" y="2309400"/>
            <a:ext cx="4612680" cy="2687400"/>
          </a:xfrm>
          <a:prstGeom prst="rect">
            <a:avLst/>
          </a:prstGeom>
          <a:noFill/>
          <a:ln>
            <a:noFill/>
          </a:ln>
        </p:spPr>
      </p:pic>
      <p:sp>
        <p:nvSpPr>
          <p:cNvPr id="198" name="Google Shape;198;p7"/>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A3FA6BD6-A7CE-4263-B358-6A71CEF50CB6}" type="datetime1">
              <a:rPr lang="en-US" smtClean="0"/>
              <a:t>12/23/2025</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8"/>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Line primitives</a:t>
            </a:r>
            <a:endParaRPr sz="4400" b="0" strike="noStrike">
              <a:solidFill>
                <a:schemeClr val="dk1"/>
              </a:solidFill>
              <a:latin typeface="Calibri"/>
              <a:ea typeface="Calibri"/>
              <a:cs typeface="Calibri"/>
              <a:sym typeface="Calibri"/>
            </a:endParaRPr>
          </a:p>
        </p:txBody>
      </p:sp>
      <p:sp>
        <p:nvSpPr>
          <p:cNvPr id="204" name="Google Shape;204;p8"/>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2800"/>
              <a:buNone/>
            </a:pPr>
            <a:r>
              <a:rPr lang="en-US" sz="2800" b="1" i="0" u="none" strike="noStrike" cap="none" dirty="0">
                <a:solidFill>
                  <a:schemeClr val="dk1"/>
                </a:solidFill>
                <a:latin typeface="Calibri"/>
                <a:ea typeface="Calibri"/>
                <a:cs typeface="Calibri"/>
                <a:sym typeface="Calibri"/>
              </a:rPr>
              <a:t>GL_LINE_STRIP: </a:t>
            </a:r>
          </a:p>
          <a:p>
            <a:pPr marR="0" lvl="0" indent="-457200" algn="l" rtl="0">
              <a:lnSpc>
                <a:spcPct val="150000"/>
              </a:lnSpc>
              <a:spcBef>
                <a:spcPts val="0"/>
              </a:spcBef>
              <a:spcAft>
                <a:spcPts val="0"/>
              </a:spcAft>
              <a:buClr>
                <a:srgbClr val="000000"/>
              </a:buClr>
              <a:buSzPts val="2800"/>
              <a:buFont typeface="Wingdings" panose="05000000000000000000" pitchFamily="2" charset="2"/>
              <a:buChar char="Ø"/>
            </a:pPr>
            <a:r>
              <a:rPr lang="en-US" sz="2800" b="0" i="0" u="none" strike="noStrike" cap="none" dirty="0">
                <a:solidFill>
                  <a:schemeClr val="dk1"/>
                </a:solidFill>
                <a:latin typeface="Calibri"/>
                <a:ea typeface="Calibri"/>
                <a:cs typeface="Calibri"/>
                <a:sym typeface="Calibri"/>
              </a:rPr>
              <a:t>The adjacent vertices are considered lines. </a:t>
            </a:r>
          </a:p>
          <a:p>
            <a:pPr marR="0" lvl="0" indent="-457200" algn="l" rtl="0">
              <a:lnSpc>
                <a:spcPct val="150000"/>
              </a:lnSpc>
              <a:spcBef>
                <a:spcPts val="0"/>
              </a:spcBef>
              <a:spcAft>
                <a:spcPts val="0"/>
              </a:spcAft>
              <a:buClr>
                <a:srgbClr val="000000"/>
              </a:buClr>
              <a:buSzPts val="2800"/>
              <a:buFont typeface="Wingdings" panose="05000000000000000000" pitchFamily="2" charset="2"/>
              <a:buChar char="Ø"/>
            </a:pPr>
            <a:r>
              <a:rPr lang="en-US" sz="2800" b="0" i="0" u="none" strike="noStrike" cap="none" dirty="0">
                <a:solidFill>
                  <a:schemeClr val="dk1"/>
                </a:solidFill>
                <a:latin typeface="Calibri"/>
                <a:ea typeface="Calibri"/>
                <a:cs typeface="Calibri"/>
                <a:sym typeface="Calibri"/>
              </a:rPr>
              <a:t>Thus, if you pass </a:t>
            </a:r>
            <a:r>
              <a:rPr lang="en-US" sz="2800" b="0" i="1" u="none" strike="noStrike" cap="none" dirty="0">
                <a:solidFill>
                  <a:schemeClr val="dk1"/>
                </a:solidFill>
                <a:latin typeface="Calibri"/>
                <a:ea typeface="Calibri"/>
                <a:cs typeface="Calibri"/>
                <a:sym typeface="Calibri"/>
              </a:rPr>
              <a:t>n</a:t>
            </a:r>
            <a:r>
              <a:rPr lang="en-US" sz="2800" b="0" i="0" u="none" strike="noStrike" cap="none" dirty="0">
                <a:solidFill>
                  <a:schemeClr val="dk1"/>
                </a:solidFill>
                <a:latin typeface="Calibri"/>
                <a:ea typeface="Calibri"/>
                <a:cs typeface="Calibri"/>
                <a:sym typeface="Calibri"/>
              </a:rPr>
              <a:t> vertices, you will get </a:t>
            </a:r>
            <a:r>
              <a:rPr lang="en-US" sz="2800" b="0" i="1" u="none" strike="noStrike" cap="none" dirty="0">
                <a:solidFill>
                  <a:schemeClr val="dk1"/>
                </a:solidFill>
                <a:latin typeface="Calibri"/>
                <a:ea typeface="Calibri"/>
                <a:cs typeface="Calibri"/>
                <a:sym typeface="Calibri"/>
              </a:rPr>
              <a:t>n</a:t>
            </a:r>
            <a:r>
              <a:rPr lang="en-US" sz="2800" b="0" i="0" u="none" strike="noStrike" cap="none" dirty="0">
                <a:solidFill>
                  <a:schemeClr val="dk1"/>
                </a:solidFill>
                <a:latin typeface="Calibri"/>
                <a:ea typeface="Calibri"/>
                <a:cs typeface="Calibri"/>
                <a:sym typeface="Calibri"/>
              </a:rPr>
              <a:t>-1 lines. </a:t>
            </a:r>
          </a:p>
          <a:p>
            <a:pPr marR="0" lvl="0" indent="-457200" algn="l" rtl="0">
              <a:lnSpc>
                <a:spcPct val="150000"/>
              </a:lnSpc>
              <a:spcBef>
                <a:spcPts val="0"/>
              </a:spcBef>
              <a:spcAft>
                <a:spcPts val="0"/>
              </a:spcAft>
              <a:buClr>
                <a:srgbClr val="000000"/>
              </a:buClr>
              <a:buSzPts val="2800"/>
              <a:buFont typeface="Wingdings" panose="05000000000000000000" pitchFamily="2" charset="2"/>
              <a:buChar char="Ø"/>
            </a:pPr>
            <a:r>
              <a:rPr lang="en-US" sz="2800" b="0" i="0" u="none" strike="noStrike" cap="none" dirty="0">
                <a:solidFill>
                  <a:schemeClr val="dk1"/>
                </a:solidFill>
                <a:latin typeface="Calibri"/>
                <a:ea typeface="Calibri"/>
                <a:cs typeface="Calibri"/>
                <a:sym typeface="Calibri"/>
              </a:rPr>
              <a:t>If the user only specifies 1 vertex, the drawing command is ignored.</a:t>
            </a:r>
            <a:endParaRPr dirty="0"/>
          </a:p>
          <a:p>
            <a:pPr marL="0" marR="0" lvl="0" indent="0" algn="l" rtl="0">
              <a:lnSpc>
                <a:spcPct val="90000"/>
              </a:lnSpc>
              <a:spcBef>
                <a:spcPts val="1001"/>
              </a:spcBef>
              <a:spcAft>
                <a:spcPts val="0"/>
              </a:spcAft>
              <a:buClr>
                <a:schemeClr val="dk1"/>
              </a:buClr>
              <a:buSzPts val="2800"/>
              <a:buFont typeface="Calibri"/>
              <a:buNone/>
            </a:pPr>
            <a:endParaRPr sz="2800" b="0" i="0" u="none" strike="noStrike" cap="none" dirty="0">
              <a:solidFill>
                <a:schemeClr val="dk1"/>
              </a:solidFill>
              <a:latin typeface="Calibri"/>
              <a:ea typeface="Calibri"/>
              <a:cs typeface="Calibri"/>
              <a:sym typeface="Calibri"/>
            </a:endParaRPr>
          </a:p>
        </p:txBody>
      </p:sp>
      <p:sp>
        <p:nvSpPr>
          <p:cNvPr id="206" name="Google Shape;206;p8"/>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FD0BAE1D-2679-42FD-9B0B-E06FCA55CA26}" type="datetime1">
              <a:rPr lang="en-US" smtClean="0"/>
              <a:t>12/23/2025</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9"/>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Line primitives</a:t>
            </a:r>
            <a:endParaRPr sz="4400" b="0" strike="noStrike">
              <a:solidFill>
                <a:schemeClr val="dk1"/>
              </a:solidFill>
              <a:latin typeface="Calibri"/>
              <a:ea typeface="Calibri"/>
              <a:cs typeface="Calibri"/>
              <a:sym typeface="Calibri"/>
            </a:endParaRPr>
          </a:p>
        </p:txBody>
      </p:sp>
      <p:pic>
        <p:nvPicPr>
          <p:cNvPr id="212" name="Google Shape;212;p9"/>
          <p:cNvPicPr preferRelativeResize="0"/>
          <p:nvPr/>
        </p:nvPicPr>
        <p:blipFill rotWithShape="1">
          <a:blip r:embed="rId3">
            <a:alphaModFix/>
          </a:blip>
          <a:srcRect/>
          <a:stretch/>
        </p:blipFill>
        <p:spPr>
          <a:xfrm>
            <a:off x="1141560" y="1352160"/>
            <a:ext cx="5627160" cy="4394520"/>
          </a:xfrm>
          <a:prstGeom prst="rect">
            <a:avLst/>
          </a:prstGeom>
          <a:noFill/>
          <a:ln>
            <a:noFill/>
          </a:ln>
        </p:spPr>
      </p:pic>
      <p:pic>
        <p:nvPicPr>
          <p:cNvPr id="213" name="Google Shape;213;p9"/>
          <p:cNvPicPr preferRelativeResize="0"/>
          <p:nvPr/>
        </p:nvPicPr>
        <p:blipFill rotWithShape="1">
          <a:blip r:embed="rId4">
            <a:alphaModFix/>
          </a:blip>
          <a:srcRect/>
          <a:stretch/>
        </p:blipFill>
        <p:spPr>
          <a:xfrm>
            <a:off x="6777360" y="2457720"/>
            <a:ext cx="4269600" cy="2487600"/>
          </a:xfrm>
          <a:prstGeom prst="rect">
            <a:avLst/>
          </a:prstGeom>
          <a:noFill/>
          <a:ln>
            <a:noFill/>
          </a:ln>
        </p:spPr>
      </p:pic>
      <p:sp>
        <p:nvSpPr>
          <p:cNvPr id="214" name="Google Shape;214;p9"/>
          <p:cNvSpPr/>
          <p:nvPr/>
        </p:nvSpPr>
        <p:spPr>
          <a:xfrm>
            <a:off x="154332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v1</a:t>
            </a:r>
            <a:endParaRPr sz="1800" b="0" i="0" u="none" strike="noStrike" cap="none">
              <a:solidFill>
                <a:srgbClr val="000000"/>
              </a:solidFill>
              <a:latin typeface="Arial"/>
              <a:ea typeface="Arial"/>
              <a:cs typeface="Arial"/>
              <a:sym typeface="Arial"/>
            </a:endParaRPr>
          </a:p>
        </p:txBody>
      </p:sp>
      <p:sp>
        <p:nvSpPr>
          <p:cNvPr id="215" name="Google Shape;215;p9"/>
          <p:cNvSpPr/>
          <p:nvPr/>
        </p:nvSpPr>
        <p:spPr>
          <a:xfrm>
            <a:off x="22788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v2</a:t>
            </a:r>
            <a:endParaRPr sz="1800" b="0" i="0" u="none" strike="noStrike" cap="none">
              <a:solidFill>
                <a:srgbClr val="000000"/>
              </a:solidFill>
              <a:latin typeface="Arial"/>
              <a:ea typeface="Arial"/>
              <a:cs typeface="Arial"/>
              <a:sym typeface="Arial"/>
            </a:endParaRPr>
          </a:p>
        </p:txBody>
      </p:sp>
      <p:sp>
        <p:nvSpPr>
          <p:cNvPr id="216" name="Google Shape;216;p9"/>
          <p:cNvSpPr/>
          <p:nvPr/>
        </p:nvSpPr>
        <p:spPr>
          <a:xfrm>
            <a:off x="287676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v3</a:t>
            </a:r>
            <a:endParaRPr sz="1800" b="0" i="0" u="none" strike="noStrike" cap="none">
              <a:solidFill>
                <a:srgbClr val="000000"/>
              </a:solidFill>
              <a:latin typeface="Arial"/>
              <a:ea typeface="Arial"/>
              <a:cs typeface="Arial"/>
              <a:sym typeface="Arial"/>
            </a:endParaRPr>
          </a:p>
        </p:txBody>
      </p:sp>
      <p:sp>
        <p:nvSpPr>
          <p:cNvPr id="217" name="Google Shape;217;p9"/>
          <p:cNvSpPr/>
          <p:nvPr/>
        </p:nvSpPr>
        <p:spPr>
          <a:xfrm>
            <a:off x="3749400" y="47329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v4</a:t>
            </a:r>
            <a:endParaRPr sz="1800" b="0" i="0" u="none" strike="noStrike" cap="none">
              <a:solidFill>
                <a:srgbClr val="000000"/>
              </a:solidFill>
              <a:latin typeface="Arial"/>
              <a:ea typeface="Arial"/>
              <a:cs typeface="Arial"/>
              <a:sym typeface="Arial"/>
            </a:endParaRPr>
          </a:p>
        </p:txBody>
      </p:sp>
      <p:sp>
        <p:nvSpPr>
          <p:cNvPr id="218" name="Google Shape;218;p9"/>
          <p:cNvSpPr/>
          <p:nvPr/>
        </p:nvSpPr>
        <p:spPr>
          <a:xfrm>
            <a:off x="421056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v5</a:t>
            </a:r>
            <a:endParaRPr sz="1800" b="0" i="0" u="none" strike="noStrike" cap="none">
              <a:solidFill>
                <a:srgbClr val="000000"/>
              </a:solidFill>
              <a:latin typeface="Arial"/>
              <a:ea typeface="Arial"/>
              <a:cs typeface="Arial"/>
              <a:sym typeface="Arial"/>
            </a:endParaRPr>
          </a:p>
        </p:txBody>
      </p:sp>
      <p:sp>
        <p:nvSpPr>
          <p:cNvPr id="219" name="Google Shape;219;p9"/>
          <p:cNvSpPr/>
          <p:nvPr/>
        </p:nvSpPr>
        <p:spPr>
          <a:xfrm>
            <a:off x="5151960" y="47329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v6</a:t>
            </a:r>
            <a:endParaRPr sz="1800" b="0" i="0" u="none" strike="noStrike" cap="none">
              <a:solidFill>
                <a:srgbClr val="000000"/>
              </a:solidFill>
              <a:latin typeface="Arial"/>
              <a:ea typeface="Arial"/>
              <a:cs typeface="Arial"/>
              <a:sym typeface="Arial"/>
            </a:endParaRPr>
          </a:p>
        </p:txBody>
      </p:sp>
      <p:sp>
        <p:nvSpPr>
          <p:cNvPr id="221" name="Google Shape;221;p9"/>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01A24839-583D-4F66-9D01-E7699E820C1C}" type="datetime1">
              <a:rPr lang="en-US" smtClean="0"/>
              <a:t>12/23/2025</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0"/>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Line primitives</a:t>
            </a:r>
            <a:endParaRPr sz="4400" b="0" strike="noStrike">
              <a:solidFill>
                <a:schemeClr val="dk1"/>
              </a:solidFill>
              <a:latin typeface="Calibri"/>
              <a:ea typeface="Calibri"/>
              <a:cs typeface="Calibri"/>
              <a:sym typeface="Calibri"/>
            </a:endParaRPr>
          </a:p>
        </p:txBody>
      </p:sp>
      <p:sp>
        <p:nvSpPr>
          <p:cNvPr id="227" name="Google Shape;227;p10"/>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000000"/>
              </a:buClr>
              <a:buSzPts val="2800"/>
              <a:buFont typeface="Arial"/>
              <a:buChar char="•"/>
            </a:pPr>
            <a:r>
              <a:rPr lang="en-US" sz="2800" b="0" i="0" u="none" strike="noStrike" cap="none">
                <a:solidFill>
                  <a:schemeClr val="dk1"/>
                </a:solidFill>
                <a:latin typeface="Calibri"/>
                <a:ea typeface="Calibri"/>
                <a:cs typeface="Calibri"/>
                <a:sym typeface="Calibri"/>
              </a:rPr>
              <a:t>GL_LINE_LOOP: As line strips, except that the first and last vertices are also used as a line. Thus, you get </a:t>
            </a:r>
            <a:r>
              <a:rPr lang="en-US" sz="2800" b="0" i="1" u="none" strike="noStrike" cap="none">
                <a:solidFill>
                  <a:schemeClr val="dk1"/>
                </a:solidFill>
                <a:latin typeface="Calibri"/>
                <a:ea typeface="Calibri"/>
                <a:cs typeface="Calibri"/>
                <a:sym typeface="Calibri"/>
              </a:rPr>
              <a:t>n</a:t>
            </a:r>
            <a:r>
              <a:rPr lang="en-US" sz="2800" b="0" i="0" u="none" strike="noStrike" cap="none">
                <a:solidFill>
                  <a:schemeClr val="dk1"/>
                </a:solidFill>
                <a:latin typeface="Calibri"/>
                <a:ea typeface="Calibri"/>
                <a:cs typeface="Calibri"/>
                <a:sym typeface="Calibri"/>
              </a:rPr>
              <a:t> lines for </a:t>
            </a:r>
            <a:r>
              <a:rPr lang="en-US" sz="2800" b="0" i="1" u="none" strike="noStrike" cap="none">
                <a:solidFill>
                  <a:schemeClr val="dk1"/>
                </a:solidFill>
                <a:latin typeface="Calibri"/>
                <a:ea typeface="Calibri"/>
                <a:cs typeface="Calibri"/>
                <a:sym typeface="Calibri"/>
              </a:rPr>
              <a:t>n</a:t>
            </a:r>
            <a:r>
              <a:rPr lang="en-US" sz="2800" b="0" i="0" u="none" strike="noStrike" cap="none">
                <a:solidFill>
                  <a:schemeClr val="dk1"/>
                </a:solidFill>
                <a:latin typeface="Calibri"/>
                <a:ea typeface="Calibri"/>
                <a:cs typeface="Calibri"/>
                <a:sym typeface="Calibri"/>
              </a:rPr>
              <a:t> input vertices. If the user only specifies 1 vertex, the drawing command is ignored. The line between the first and last vertices happens after all of the previous lines in the sequence.</a:t>
            </a:r>
            <a:endParaRPr/>
          </a:p>
          <a:p>
            <a:pPr marL="0" marR="0" lvl="0" indent="0" algn="l" rtl="0">
              <a:lnSpc>
                <a:spcPct val="90000"/>
              </a:lnSpc>
              <a:spcBef>
                <a:spcPts val="1001"/>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p:txBody>
      </p:sp>
      <p:sp>
        <p:nvSpPr>
          <p:cNvPr id="229" name="Google Shape;229;p10"/>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7ADE6376-4911-4875-9902-774FE439BE55}" type="datetime1">
              <a:rPr lang="en-US" smtClean="0"/>
              <a:t>12/23/2025</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11"/>
          <p:cNvPicPr preferRelativeResize="0"/>
          <p:nvPr/>
        </p:nvPicPr>
        <p:blipFill rotWithShape="1">
          <a:blip r:embed="rId3">
            <a:alphaModFix/>
          </a:blip>
          <a:srcRect/>
          <a:stretch/>
        </p:blipFill>
        <p:spPr>
          <a:xfrm>
            <a:off x="1141560" y="1442160"/>
            <a:ext cx="5470920" cy="4291920"/>
          </a:xfrm>
          <a:prstGeom prst="rect">
            <a:avLst/>
          </a:prstGeom>
          <a:noFill/>
          <a:ln>
            <a:noFill/>
          </a:ln>
        </p:spPr>
      </p:pic>
      <p:sp>
        <p:nvSpPr>
          <p:cNvPr id="235" name="Google Shape;235;p11"/>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Line primitives</a:t>
            </a:r>
            <a:endParaRPr sz="4400" b="0" strike="noStrike">
              <a:solidFill>
                <a:schemeClr val="dk1"/>
              </a:solidFill>
              <a:latin typeface="Calibri"/>
              <a:ea typeface="Calibri"/>
              <a:cs typeface="Calibri"/>
              <a:sym typeface="Calibri"/>
            </a:endParaRPr>
          </a:p>
        </p:txBody>
      </p:sp>
      <p:pic>
        <p:nvPicPr>
          <p:cNvPr id="236" name="Google Shape;236;p11"/>
          <p:cNvPicPr preferRelativeResize="0"/>
          <p:nvPr/>
        </p:nvPicPr>
        <p:blipFill rotWithShape="1">
          <a:blip r:embed="rId4">
            <a:alphaModFix/>
          </a:blip>
          <a:srcRect/>
          <a:stretch/>
        </p:blipFill>
        <p:spPr>
          <a:xfrm>
            <a:off x="6795360" y="2343960"/>
            <a:ext cx="4269600" cy="2487600"/>
          </a:xfrm>
          <a:prstGeom prst="rect">
            <a:avLst/>
          </a:prstGeom>
          <a:noFill/>
          <a:ln>
            <a:noFill/>
          </a:ln>
        </p:spPr>
      </p:pic>
      <p:sp>
        <p:nvSpPr>
          <p:cNvPr id="237" name="Google Shape;237;p11"/>
          <p:cNvSpPr/>
          <p:nvPr/>
        </p:nvSpPr>
        <p:spPr>
          <a:xfrm>
            <a:off x="154332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v1</a:t>
            </a:r>
            <a:endParaRPr sz="1800" b="0" i="0" u="none" strike="noStrike" cap="none">
              <a:solidFill>
                <a:srgbClr val="000000"/>
              </a:solidFill>
              <a:latin typeface="Arial"/>
              <a:ea typeface="Arial"/>
              <a:cs typeface="Arial"/>
              <a:sym typeface="Arial"/>
            </a:endParaRPr>
          </a:p>
        </p:txBody>
      </p:sp>
      <p:sp>
        <p:nvSpPr>
          <p:cNvPr id="238" name="Google Shape;238;p11"/>
          <p:cNvSpPr/>
          <p:nvPr/>
        </p:nvSpPr>
        <p:spPr>
          <a:xfrm>
            <a:off x="22788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v2</a:t>
            </a:r>
            <a:endParaRPr sz="1800" b="0" i="0" u="none" strike="noStrike" cap="none">
              <a:solidFill>
                <a:srgbClr val="000000"/>
              </a:solidFill>
              <a:latin typeface="Arial"/>
              <a:ea typeface="Arial"/>
              <a:cs typeface="Arial"/>
              <a:sym typeface="Arial"/>
            </a:endParaRPr>
          </a:p>
        </p:txBody>
      </p:sp>
      <p:sp>
        <p:nvSpPr>
          <p:cNvPr id="239" name="Google Shape;239;p11"/>
          <p:cNvSpPr/>
          <p:nvPr/>
        </p:nvSpPr>
        <p:spPr>
          <a:xfrm>
            <a:off x="285516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v3</a:t>
            </a:r>
            <a:endParaRPr sz="1800" b="0" i="0" u="none" strike="noStrike" cap="none">
              <a:solidFill>
                <a:srgbClr val="000000"/>
              </a:solidFill>
              <a:latin typeface="Arial"/>
              <a:ea typeface="Arial"/>
              <a:cs typeface="Arial"/>
              <a:sym typeface="Arial"/>
            </a:endParaRPr>
          </a:p>
        </p:txBody>
      </p:sp>
      <p:sp>
        <p:nvSpPr>
          <p:cNvPr id="240" name="Google Shape;240;p11"/>
          <p:cNvSpPr/>
          <p:nvPr/>
        </p:nvSpPr>
        <p:spPr>
          <a:xfrm>
            <a:off x="36306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v4</a:t>
            </a:r>
            <a:endParaRPr sz="1800" b="0" i="0" u="none" strike="noStrike" cap="none">
              <a:solidFill>
                <a:srgbClr val="000000"/>
              </a:solidFill>
              <a:latin typeface="Arial"/>
              <a:ea typeface="Arial"/>
              <a:cs typeface="Arial"/>
              <a:sym typeface="Arial"/>
            </a:endParaRPr>
          </a:p>
        </p:txBody>
      </p:sp>
      <p:sp>
        <p:nvSpPr>
          <p:cNvPr id="241" name="Google Shape;241;p11"/>
          <p:cNvSpPr/>
          <p:nvPr/>
        </p:nvSpPr>
        <p:spPr>
          <a:xfrm>
            <a:off x="4210560" y="236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v5</a:t>
            </a:r>
            <a:endParaRPr sz="1800" b="0" i="0" u="none" strike="noStrike" cap="none">
              <a:solidFill>
                <a:srgbClr val="000000"/>
              </a:solidFill>
              <a:latin typeface="Arial"/>
              <a:ea typeface="Arial"/>
              <a:cs typeface="Arial"/>
              <a:sym typeface="Arial"/>
            </a:endParaRPr>
          </a:p>
        </p:txBody>
      </p:sp>
      <p:sp>
        <p:nvSpPr>
          <p:cNvPr id="242" name="Google Shape;242;p11"/>
          <p:cNvSpPr/>
          <p:nvPr/>
        </p:nvSpPr>
        <p:spPr>
          <a:xfrm>
            <a:off x="49464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v6</a:t>
            </a:r>
            <a:endParaRPr sz="1800" b="0" i="0" u="none" strike="noStrike" cap="none">
              <a:solidFill>
                <a:srgbClr val="000000"/>
              </a:solidFill>
              <a:latin typeface="Arial"/>
              <a:ea typeface="Arial"/>
              <a:cs typeface="Arial"/>
              <a:sym typeface="Arial"/>
            </a:endParaRPr>
          </a:p>
        </p:txBody>
      </p:sp>
      <p:sp>
        <p:nvSpPr>
          <p:cNvPr id="244" name="Google Shape;244;p11"/>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D596DFCE-7C53-48E4-8442-A51C44F90190}" type="datetime1">
              <a:rPr lang="en-US" smtClean="0"/>
              <a:t>12/23/2025</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2"/>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Triangle primitives</a:t>
            </a:r>
            <a:endParaRPr sz="4400" b="0" strike="noStrike">
              <a:solidFill>
                <a:schemeClr val="dk1"/>
              </a:solidFill>
              <a:latin typeface="Calibri"/>
              <a:ea typeface="Calibri"/>
              <a:cs typeface="Calibri"/>
              <a:sym typeface="Calibri"/>
            </a:endParaRPr>
          </a:p>
        </p:txBody>
      </p:sp>
      <p:sp>
        <p:nvSpPr>
          <p:cNvPr id="250" name="Google Shape;250;p12"/>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0"/>
              </a:spcBef>
              <a:spcAft>
                <a:spcPts val="0"/>
              </a:spcAft>
              <a:buClr>
                <a:srgbClr val="000000"/>
              </a:buClr>
              <a:buSzPts val="2800"/>
              <a:buFont typeface="Arial"/>
              <a:buChar char="•"/>
            </a:pPr>
            <a:r>
              <a:rPr lang="en-US" sz="2800" b="0" i="0" u="none" strike="noStrike" cap="none" dirty="0">
                <a:solidFill>
                  <a:schemeClr val="dk1"/>
                </a:solidFill>
                <a:latin typeface="Calibri"/>
                <a:ea typeface="Calibri"/>
                <a:cs typeface="Calibri"/>
                <a:sym typeface="Calibri"/>
              </a:rPr>
              <a:t>A triangle is a primitive formed by 3 vertices. It is the 2D shape with the smallest number of vertices, so renderers are typically designed to render them. Since it is created from only 3 vertices, it is also guaranteed to be planar.</a:t>
            </a:r>
            <a:endParaRPr dirty="0"/>
          </a:p>
          <a:p>
            <a:pPr marL="228600" marR="0" lvl="0" indent="-228600" algn="just" rtl="0">
              <a:lnSpc>
                <a:spcPct val="90000"/>
              </a:lnSpc>
              <a:spcBef>
                <a:spcPts val="1001"/>
              </a:spcBef>
              <a:spcAft>
                <a:spcPts val="0"/>
              </a:spcAft>
              <a:buClr>
                <a:srgbClr val="000000"/>
              </a:buClr>
              <a:buSzPts val="2800"/>
              <a:buFont typeface="Arial"/>
              <a:buChar char="•"/>
            </a:pPr>
            <a:r>
              <a:rPr lang="en-US" sz="2800" b="0" i="0" u="none" strike="noStrike" cap="none" dirty="0">
                <a:solidFill>
                  <a:schemeClr val="dk1"/>
                </a:solidFill>
                <a:latin typeface="Calibri"/>
                <a:ea typeface="Calibri"/>
                <a:cs typeface="Calibri"/>
                <a:sym typeface="Calibri"/>
              </a:rPr>
              <a:t>There are 3 kinds of triangle primitives, based again on different interpretations of the vertex stream:</a:t>
            </a:r>
            <a:endParaRPr dirty="0"/>
          </a:p>
          <a:p>
            <a:pPr marL="228600" marR="0" lvl="0" indent="-228600" algn="just" rtl="0">
              <a:lnSpc>
                <a:spcPct val="90000"/>
              </a:lnSpc>
              <a:spcBef>
                <a:spcPts val="1001"/>
              </a:spcBef>
              <a:spcAft>
                <a:spcPts val="0"/>
              </a:spcAft>
              <a:buClr>
                <a:srgbClr val="000000"/>
              </a:buClr>
              <a:buSzPts val="2800"/>
              <a:buFont typeface="Arial"/>
              <a:buChar char="•"/>
            </a:pPr>
            <a:r>
              <a:rPr lang="en-US" sz="2800" b="0" i="0" u="none" strike="noStrike" cap="none" dirty="0">
                <a:solidFill>
                  <a:schemeClr val="dk1"/>
                </a:solidFill>
                <a:latin typeface="Calibri"/>
                <a:ea typeface="Calibri"/>
                <a:cs typeface="Calibri"/>
                <a:sym typeface="Calibri"/>
              </a:rPr>
              <a:t>GL_TRIANGLES: Vertices 0, 1, and 2 form a triangle. Vertices 3, 4, and 5 form a triangle. And so on.</a:t>
            </a:r>
            <a:endParaRPr dirty="0"/>
          </a:p>
          <a:p>
            <a:pPr marL="0" marR="0" lvl="0" indent="0" algn="just" rtl="0">
              <a:lnSpc>
                <a:spcPct val="90000"/>
              </a:lnSpc>
              <a:spcBef>
                <a:spcPts val="1001"/>
              </a:spcBef>
              <a:spcAft>
                <a:spcPts val="0"/>
              </a:spcAft>
              <a:buClr>
                <a:schemeClr val="dk1"/>
              </a:buClr>
              <a:buSzPts val="2800"/>
              <a:buFont typeface="Calibri"/>
              <a:buNone/>
            </a:pPr>
            <a:endParaRPr sz="2800" b="0" i="0" u="none" strike="noStrike" cap="none" dirty="0">
              <a:solidFill>
                <a:schemeClr val="dk1"/>
              </a:solidFill>
              <a:latin typeface="Calibri"/>
              <a:ea typeface="Calibri"/>
              <a:cs typeface="Calibri"/>
              <a:sym typeface="Calibri"/>
            </a:endParaRPr>
          </a:p>
        </p:txBody>
      </p:sp>
      <p:sp>
        <p:nvSpPr>
          <p:cNvPr id="252" name="Google Shape;252;p12"/>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483F6746-8994-4FEB-A909-AE4AA8AB8FBD}" type="datetime1">
              <a:rPr lang="en-US" smtClean="0"/>
              <a:t>12/23/2025</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3"/>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Triangle primitives</a:t>
            </a:r>
            <a:endParaRPr sz="4400" b="0" strike="noStrike">
              <a:solidFill>
                <a:schemeClr val="dk1"/>
              </a:solidFill>
              <a:latin typeface="Calibri"/>
              <a:ea typeface="Calibri"/>
              <a:cs typeface="Calibri"/>
              <a:sym typeface="Calibri"/>
            </a:endParaRPr>
          </a:p>
        </p:txBody>
      </p:sp>
      <p:pic>
        <p:nvPicPr>
          <p:cNvPr id="258" name="Google Shape;258;p13"/>
          <p:cNvPicPr preferRelativeResize="0"/>
          <p:nvPr/>
        </p:nvPicPr>
        <p:blipFill rotWithShape="1">
          <a:blip r:embed="rId3">
            <a:alphaModFix/>
          </a:blip>
          <a:srcRect/>
          <a:stretch/>
        </p:blipFill>
        <p:spPr>
          <a:xfrm>
            <a:off x="1141560" y="1317960"/>
            <a:ext cx="5621040" cy="4433040"/>
          </a:xfrm>
          <a:prstGeom prst="rect">
            <a:avLst/>
          </a:prstGeom>
          <a:noFill/>
          <a:ln>
            <a:noFill/>
          </a:ln>
        </p:spPr>
      </p:pic>
      <p:pic>
        <p:nvPicPr>
          <p:cNvPr id="259" name="Google Shape;259;p13"/>
          <p:cNvPicPr preferRelativeResize="0"/>
          <p:nvPr/>
        </p:nvPicPr>
        <p:blipFill rotWithShape="1">
          <a:blip r:embed="rId4">
            <a:alphaModFix/>
          </a:blip>
          <a:srcRect/>
          <a:stretch/>
        </p:blipFill>
        <p:spPr>
          <a:xfrm>
            <a:off x="6795360" y="2343960"/>
            <a:ext cx="4269600" cy="2487600"/>
          </a:xfrm>
          <a:prstGeom prst="rect">
            <a:avLst/>
          </a:prstGeom>
          <a:noFill/>
          <a:ln>
            <a:noFill/>
          </a:ln>
        </p:spPr>
      </p:pic>
      <p:sp>
        <p:nvSpPr>
          <p:cNvPr id="260" name="Google Shape;260;p13"/>
          <p:cNvSpPr/>
          <p:nvPr/>
        </p:nvSpPr>
        <p:spPr>
          <a:xfrm>
            <a:off x="1543320" y="21823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v1</a:t>
            </a:r>
            <a:endParaRPr sz="1800" b="0" i="0" u="none" strike="noStrike" cap="none">
              <a:solidFill>
                <a:srgbClr val="000000"/>
              </a:solidFill>
              <a:latin typeface="Arial"/>
              <a:ea typeface="Arial"/>
              <a:cs typeface="Arial"/>
              <a:sym typeface="Arial"/>
            </a:endParaRPr>
          </a:p>
        </p:txBody>
      </p:sp>
      <p:sp>
        <p:nvSpPr>
          <p:cNvPr id="261" name="Google Shape;261;p13"/>
          <p:cNvSpPr/>
          <p:nvPr/>
        </p:nvSpPr>
        <p:spPr>
          <a:xfrm>
            <a:off x="22788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v2</a:t>
            </a:r>
            <a:endParaRPr sz="1800" b="0" i="0" u="none" strike="noStrike" cap="none">
              <a:solidFill>
                <a:srgbClr val="000000"/>
              </a:solidFill>
              <a:latin typeface="Arial"/>
              <a:ea typeface="Arial"/>
              <a:cs typeface="Arial"/>
              <a:sym typeface="Arial"/>
            </a:endParaRPr>
          </a:p>
        </p:txBody>
      </p:sp>
      <p:sp>
        <p:nvSpPr>
          <p:cNvPr id="262" name="Google Shape;262;p13"/>
          <p:cNvSpPr/>
          <p:nvPr/>
        </p:nvSpPr>
        <p:spPr>
          <a:xfrm>
            <a:off x="3054240" y="21823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v3</a:t>
            </a:r>
            <a:endParaRPr sz="1800" b="0" i="0" u="none" strike="noStrike" cap="none">
              <a:solidFill>
                <a:srgbClr val="000000"/>
              </a:solidFill>
              <a:latin typeface="Arial"/>
              <a:ea typeface="Arial"/>
              <a:cs typeface="Arial"/>
              <a:sym typeface="Arial"/>
            </a:endParaRPr>
          </a:p>
        </p:txBody>
      </p:sp>
      <p:sp>
        <p:nvSpPr>
          <p:cNvPr id="263" name="Google Shape;263;p13"/>
          <p:cNvSpPr/>
          <p:nvPr/>
        </p:nvSpPr>
        <p:spPr>
          <a:xfrm>
            <a:off x="363060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v4</a:t>
            </a:r>
            <a:endParaRPr sz="1800" b="0" i="0" u="none" strike="noStrike" cap="none">
              <a:solidFill>
                <a:srgbClr val="000000"/>
              </a:solidFill>
              <a:latin typeface="Arial"/>
              <a:ea typeface="Arial"/>
              <a:cs typeface="Arial"/>
              <a:sym typeface="Arial"/>
            </a:endParaRPr>
          </a:p>
        </p:txBody>
      </p:sp>
      <p:sp>
        <p:nvSpPr>
          <p:cNvPr id="264" name="Google Shape;264;p13"/>
          <p:cNvSpPr/>
          <p:nvPr/>
        </p:nvSpPr>
        <p:spPr>
          <a:xfrm>
            <a:off x="4344120" y="21938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v5</a:t>
            </a:r>
            <a:endParaRPr sz="1800" b="0" i="0" u="none" strike="noStrike" cap="none">
              <a:solidFill>
                <a:srgbClr val="000000"/>
              </a:solidFill>
              <a:latin typeface="Arial"/>
              <a:ea typeface="Arial"/>
              <a:cs typeface="Arial"/>
              <a:sym typeface="Arial"/>
            </a:endParaRPr>
          </a:p>
        </p:txBody>
      </p:sp>
      <p:sp>
        <p:nvSpPr>
          <p:cNvPr id="265" name="Google Shape;265;p13"/>
          <p:cNvSpPr/>
          <p:nvPr/>
        </p:nvSpPr>
        <p:spPr>
          <a:xfrm>
            <a:off x="5199840" y="4718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v6</a:t>
            </a:r>
            <a:endParaRPr sz="1800" b="0" i="0" u="none" strike="noStrike" cap="none">
              <a:solidFill>
                <a:srgbClr val="000000"/>
              </a:solidFill>
              <a:latin typeface="Arial"/>
              <a:ea typeface="Arial"/>
              <a:cs typeface="Arial"/>
              <a:sym typeface="Arial"/>
            </a:endParaRPr>
          </a:p>
        </p:txBody>
      </p:sp>
      <p:sp>
        <p:nvSpPr>
          <p:cNvPr id="267" name="Google Shape;267;p13"/>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18AE606C-F1C3-4A13-AAD2-38ED1427E788}" type="datetime1">
              <a:rPr lang="en-US" smtClean="0"/>
              <a:t>12/23/2025</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4"/>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Triangle primitives</a:t>
            </a:r>
            <a:endParaRPr sz="4400" b="0" strike="noStrike">
              <a:solidFill>
                <a:schemeClr val="dk1"/>
              </a:solidFill>
              <a:latin typeface="Calibri"/>
              <a:ea typeface="Calibri"/>
              <a:cs typeface="Calibri"/>
              <a:sym typeface="Calibri"/>
            </a:endParaRPr>
          </a:p>
        </p:txBody>
      </p:sp>
      <p:sp>
        <p:nvSpPr>
          <p:cNvPr id="273" name="Google Shape;273;p14"/>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2800"/>
              <a:buNone/>
            </a:pPr>
            <a:r>
              <a:rPr lang="en-US" sz="2800" b="1" i="0" u="none" strike="noStrike" cap="none" dirty="0">
                <a:solidFill>
                  <a:schemeClr val="dk1"/>
                </a:solidFill>
                <a:latin typeface="Calibri"/>
                <a:ea typeface="Calibri"/>
                <a:cs typeface="Calibri"/>
                <a:sym typeface="Calibri"/>
              </a:rPr>
              <a:t>GL_TRIANGLE_STRIP: </a:t>
            </a:r>
          </a:p>
          <a:p>
            <a:pPr marL="0" marR="0" lvl="0" indent="0" algn="just" rtl="0">
              <a:lnSpc>
                <a:spcPct val="150000"/>
              </a:lnSpc>
              <a:spcBef>
                <a:spcPts val="0"/>
              </a:spcBef>
              <a:spcAft>
                <a:spcPts val="0"/>
              </a:spcAft>
              <a:buClr>
                <a:srgbClr val="000000"/>
              </a:buClr>
              <a:buSzPts val="2800"/>
              <a:buNone/>
            </a:pPr>
            <a:r>
              <a:rPr lang="en-US" sz="2800" b="0" i="0" u="none" strike="noStrike" cap="none" dirty="0">
                <a:solidFill>
                  <a:schemeClr val="dk1"/>
                </a:solidFill>
                <a:latin typeface="Calibri"/>
                <a:ea typeface="Calibri"/>
                <a:cs typeface="Calibri"/>
                <a:sym typeface="Calibri"/>
              </a:rPr>
              <a:t>Every group of 3 adjacent vertices forms a triangle. The </a:t>
            </a:r>
            <a:r>
              <a:rPr lang="en-US" sz="2800" b="0" i="0" u="sng" strike="noStrike" cap="none"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face direction</a:t>
            </a:r>
            <a:r>
              <a:rPr lang="en-US" sz="2800" b="0" i="0" u="none" strike="noStrike" cap="none" dirty="0">
                <a:solidFill>
                  <a:schemeClr val="dk1"/>
                </a:solidFill>
                <a:latin typeface="Calibri"/>
                <a:ea typeface="Calibri"/>
                <a:cs typeface="Calibri"/>
                <a:sym typeface="Calibri"/>
              </a:rPr>
              <a:t> of the strip is determined by the winding of the first triangle. Each successive triangle will have its effective face order reversed, so the system compensates for that by testing it in the opposite way. A vertex stream of </a:t>
            </a:r>
            <a:r>
              <a:rPr lang="en-US" sz="2800" b="0" i="1" u="none" strike="noStrike" cap="none" dirty="0">
                <a:solidFill>
                  <a:schemeClr val="dk1"/>
                </a:solidFill>
                <a:latin typeface="Calibri"/>
                <a:ea typeface="Calibri"/>
                <a:cs typeface="Calibri"/>
                <a:sym typeface="Calibri"/>
              </a:rPr>
              <a:t>n</a:t>
            </a:r>
            <a:r>
              <a:rPr lang="en-US" sz="2800" b="0" i="0" u="none" strike="noStrike" cap="none" dirty="0">
                <a:solidFill>
                  <a:schemeClr val="dk1"/>
                </a:solidFill>
                <a:latin typeface="Calibri"/>
                <a:ea typeface="Calibri"/>
                <a:cs typeface="Calibri"/>
                <a:sym typeface="Calibri"/>
              </a:rPr>
              <a:t> length will generate </a:t>
            </a:r>
            <a:r>
              <a:rPr lang="en-US" sz="2800" b="0" i="1" u="none" strike="noStrike" cap="none" dirty="0">
                <a:solidFill>
                  <a:schemeClr val="dk1"/>
                </a:solidFill>
                <a:latin typeface="Calibri"/>
                <a:ea typeface="Calibri"/>
                <a:cs typeface="Calibri"/>
                <a:sym typeface="Calibri"/>
              </a:rPr>
              <a:t>n</a:t>
            </a:r>
            <a:r>
              <a:rPr lang="en-US" sz="2800" b="0" i="0" u="none" strike="noStrike" cap="none" dirty="0">
                <a:solidFill>
                  <a:schemeClr val="dk1"/>
                </a:solidFill>
                <a:latin typeface="Calibri"/>
                <a:ea typeface="Calibri"/>
                <a:cs typeface="Calibri"/>
                <a:sym typeface="Calibri"/>
              </a:rPr>
              <a:t>-2 triangles.</a:t>
            </a:r>
            <a:endParaRPr dirty="0"/>
          </a:p>
          <a:p>
            <a:pPr marL="0" marR="0" lvl="0" indent="0" algn="l" rtl="0">
              <a:lnSpc>
                <a:spcPct val="90000"/>
              </a:lnSpc>
              <a:spcBef>
                <a:spcPts val="1001"/>
              </a:spcBef>
              <a:spcAft>
                <a:spcPts val="0"/>
              </a:spcAft>
              <a:buClr>
                <a:schemeClr val="dk1"/>
              </a:buClr>
              <a:buSzPts val="2800"/>
              <a:buFont typeface="Calibri"/>
              <a:buNone/>
            </a:pPr>
            <a:endParaRPr sz="2800" b="0" i="0" u="none" strike="noStrike" cap="none" dirty="0">
              <a:solidFill>
                <a:schemeClr val="dk1"/>
              </a:solidFill>
              <a:latin typeface="Calibri"/>
              <a:ea typeface="Calibri"/>
              <a:cs typeface="Calibri"/>
              <a:sym typeface="Calibri"/>
            </a:endParaRPr>
          </a:p>
        </p:txBody>
      </p:sp>
      <p:sp>
        <p:nvSpPr>
          <p:cNvPr id="275" name="Google Shape;275;p14"/>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7E9BD074-4C0C-4A85-A8FD-FBBF4F34D04A}" type="datetime1">
              <a:rPr lang="en-US" smtClean="0"/>
              <a:t>12/23/2025</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5"/>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Triangle primitives</a:t>
            </a:r>
            <a:endParaRPr sz="4400" b="0" strike="noStrike">
              <a:solidFill>
                <a:schemeClr val="dk1"/>
              </a:solidFill>
              <a:latin typeface="Calibri"/>
              <a:ea typeface="Calibri"/>
              <a:cs typeface="Calibri"/>
              <a:sym typeface="Calibri"/>
            </a:endParaRPr>
          </a:p>
        </p:txBody>
      </p:sp>
      <p:pic>
        <p:nvPicPr>
          <p:cNvPr id="281" name="Google Shape;281;p15"/>
          <p:cNvPicPr preferRelativeResize="0"/>
          <p:nvPr/>
        </p:nvPicPr>
        <p:blipFill rotWithShape="1">
          <a:blip r:embed="rId3">
            <a:alphaModFix/>
          </a:blip>
          <a:srcRect/>
          <a:stretch/>
        </p:blipFill>
        <p:spPr>
          <a:xfrm>
            <a:off x="1141560" y="2713680"/>
            <a:ext cx="2926800" cy="2192040"/>
          </a:xfrm>
          <a:prstGeom prst="rect">
            <a:avLst/>
          </a:prstGeom>
          <a:noFill/>
          <a:ln>
            <a:noFill/>
          </a:ln>
        </p:spPr>
      </p:pic>
      <p:pic>
        <p:nvPicPr>
          <p:cNvPr id="282" name="Google Shape;282;p15"/>
          <p:cNvPicPr preferRelativeResize="0"/>
          <p:nvPr/>
        </p:nvPicPr>
        <p:blipFill rotWithShape="1">
          <a:blip r:embed="rId4">
            <a:alphaModFix/>
          </a:blip>
          <a:srcRect/>
          <a:stretch/>
        </p:blipFill>
        <p:spPr>
          <a:xfrm>
            <a:off x="4068360" y="2713680"/>
            <a:ext cx="3155760" cy="2192040"/>
          </a:xfrm>
          <a:prstGeom prst="rect">
            <a:avLst/>
          </a:prstGeom>
          <a:noFill/>
          <a:ln>
            <a:noFill/>
          </a:ln>
        </p:spPr>
      </p:pic>
      <p:pic>
        <p:nvPicPr>
          <p:cNvPr id="283" name="Google Shape;283;p15"/>
          <p:cNvPicPr preferRelativeResize="0"/>
          <p:nvPr/>
        </p:nvPicPr>
        <p:blipFill rotWithShape="1">
          <a:blip r:embed="rId5">
            <a:alphaModFix/>
          </a:blip>
          <a:srcRect/>
          <a:stretch/>
        </p:blipFill>
        <p:spPr>
          <a:xfrm>
            <a:off x="7224480" y="2713680"/>
            <a:ext cx="3762720" cy="2192040"/>
          </a:xfrm>
          <a:prstGeom prst="rect">
            <a:avLst/>
          </a:prstGeom>
          <a:noFill/>
          <a:ln>
            <a:noFill/>
          </a:ln>
        </p:spPr>
      </p:pic>
      <p:sp>
        <p:nvSpPr>
          <p:cNvPr id="284" name="Google Shape;284;p15"/>
          <p:cNvSpPr/>
          <p:nvPr/>
        </p:nvSpPr>
        <p:spPr>
          <a:xfrm>
            <a:off x="1305000" y="30596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v1</a:t>
            </a:r>
            <a:endParaRPr sz="1800" b="0" i="0" u="none" strike="noStrike" cap="none">
              <a:solidFill>
                <a:srgbClr val="000000"/>
              </a:solidFill>
              <a:latin typeface="Arial"/>
              <a:ea typeface="Arial"/>
              <a:cs typeface="Arial"/>
              <a:sym typeface="Arial"/>
            </a:endParaRPr>
          </a:p>
        </p:txBody>
      </p:sp>
      <p:sp>
        <p:nvSpPr>
          <p:cNvPr id="285" name="Google Shape;285;p15"/>
          <p:cNvSpPr/>
          <p:nvPr/>
        </p:nvSpPr>
        <p:spPr>
          <a:xfrm>
            <a:off x="1611720" y="43898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v2</a:t>
            </a:r>
            <a:endParaRPr sz="1800" b="0" i="0" u="none" strike="noStrike" cap="none">
              <a:solidFill>
                <a:srgbClr val="000000"/>
              </a:solidFill>
              <a:latin typeface="Arial"/>
              <a:ea typeface="Arial"/>
              <a:cs typeface="Arial"/>
              <a:sym typeface="Arial"/>
            </a:endParaRPr>
          </a:p>
        </p:txBody>
      </p:sp>
      <p:sp>
        <p:nvSpPr>
          <p:cNvPr id="286" name="Google Shape;286;p15"/>
          <p:cNvSpPr/>
          <p:nvPr/>
        </p:nvSpPr>
        <p:spPr>
          <a:xfrm>
            <a:off x="2052720" y="30434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v3</a:t>
            </a:r>
            <a:endParaRPr sz="1800" b="0" i="0" u="none" strike="noStrike" cap="none">
              <a:solidFill>
                <a:srgbClr val="000000"/>
              </a:solidFill>
              <a:latin typeface="Arial"/>
              <a:ea typeface="Arial"/>
              <a:cs typeface="Arial"/>
              <a:sym typeface="Arial"/>
            </a:endParaRPr>
          </a:p>
        </p:txBody>
      </p:sp>
      <p:sp>
        <p:nvSpPr>
          <p:cNvPr id="287" name="Google Shape;287;p15"/>
          <p:cNvSpPr/>
          <p:nvPr/>
        </p:nvSpPr>
        <p:spPr>
          <a:xfrm>
            <a:off x="2406240" y="43898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v4</a:t>
            </a:r>
            <a:endParaRPr sz="1800" b="0" i="0" u="none" strike="noStrike" cap="none">
              <a:solidFill>
                <a:srgbClr val="000000"/>
              </a:solidFill>
              <a:latin typeface="Arial"/>
              <a:ea typeface="Arial"/>
              <a:cs typeface="Arial"/>
              <a:sym typeface="Arial"/>
            </a:endParaRPr>
          </a:p>
        </p:txBody>
      </p:sp>
      <p:sp>
        <p:nvSpPr>
          <p:cNvPr id="288" name="Google Shape;288;p15"/>
          <p:cNvSpPr/>
          <p:nvPr/>
        </p:nvSpPr>
        <p:spPr>
          <a:xfrm>
            <a:off x="2800800" y="30679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v5</a:t>
            </a:r>
            <a:endParaRPr sz="1800" b="0" i="0" u="none" strike="noStrike" cap="none">
              <a:solidFill>
                <a:srgbClr val="000000"/>
              </a:solidFill>
              <a:latin typeface="Arial"/>
              <a:ea typeface="Arial"/>
              <a:cs typeface="Arial"/>
              <a:sym typeface="Arial"/>
            </a:endParaRPr>
          </a:p>
        </p:txBody>
      </p:sp>
      <p:sp>
        <p:nvSpPr>
          <p:cNvPr id="289" name="Google Shape;289;p15"/>
          <p:cNvSpPr/>
          <p:nvPr/>
        </p:nvSpPr>
        <p:spPr>
          <a:xfrm>
            <a:off x="3189600" y="43898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v6</a:t>
            </a:r>
            <a:endParaRPr sz="1800" b="0" i="0" u="none" strike="noStrike" cap="none">
              <a:solidFill>
                <a:srgbClr val="000000"/>
              </a:solidFill>
              <a:latin typeface="Arial"/>
              <a:ea typeface="Arial"/>
              <a:cs typeface="Arial"/>
              <a:sym typeface="Arial"/>
            </a:endParaRPr>
          </a:p>
        </p:txBody>
      </p:sp>
      <p:sp>
        <p:nvSpPr>
          <p:cNvPr id="290" name="Google Shape;290;p15"/>
          <p:cNvSpPr/>
          <p:nvPr/>
        </p:nvSpPr>
        <p:spPr>
          <a:xfrm>
            <a:off x="4245840" y="30816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v1</a:t>
            </a:r>
            <a:endParaRPr sz="1800" b="0" i="0" u="none" strike="noStrike" cap="none">
              <a:solidFill>
                <a:srgbClr val="000000"/>
              </a:solidFill>
              <a:latin typeface="Arial"/>
              <a:ea typeface="Arial"/>
              <a:cs typeface="Arial"/>
              <a:sym typeface="Arial"/>
            </a:endParaRPr>
          </a:p>
        </p:txBody>
      </p:sp>
      <p:sp>
        <p:nvSpPr>
          <p:cNvPr id="291" name="Google Shape;291;p15"/>
          <p:cNvSpPr/>
          <p:nvPr/>
        </p:nvSpPr>
        <p:spPr>
          <a:xfrm>
            <a:off x="4564080" y="45349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v2</a:t>
            </a:r>
            <a:endParaRPr sz="1800" b="0" i="0" u="none" strike="noStrike" cap="none">
              <a:solidFill>
                <a:srgbClr val="000000"/>
              </a:solidFill>
              <a:latin typeface="Arial"/>
              <a:ea typeface="Arial"/>
              <a:cs typeface="Arial"/>
              <a:sym typeface="Arial"/>
            </a:endParaRPr>
          </a:p>
        </p:txBody>
      </p:sp>
      <p:sp>
        <p:nvSpPr>
          <p:cNvPr id="292" name="Google Shape;292;p15"/>
          <p:cNvSpPr/>
          <p:nvPr/>
        </p:nvSpPr>
        <p:spPr>
          <a:xfrm>
            <a:off x="4993920" y="306576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v3</a:t>
            </a:r>
            <a:endParaRPr sz="1800" b="0" i="0" u="none" strike="noStrike" cap="none">
              <a:solidFill>
                <a:srgbClr val="000000"/>
              </a:solidFill>
              <a:latin typeface="Arial"/>
              <a:ea typeface="Arial"/>
              <a:cs typeface="Arial"/>
              <a:sym typeface="Arial"/>
            </a:endParaRPr>
          </a:p>
        </p:txBody>
      </p:sp>
      <p:sp>
        <p:nvSpPr>
          <p:cNvPr id="293" name="Google Shape;293;p15"/>
          <p:cNvSpPr/>
          <p:nvPr/>
        </p:nvSpPr>
        <p:spPr>
          <a:xfrm>
            <a:off x="5360400" y="45745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v4</a:t>
            </a:r>
            <a:endParaRPr sz="1800" b="0" i="0" u="none" strike="noStrike" cap="none">
              <a:solidFill>
                <a:srgbClr val="000000"/>
              </a:solidFill>
              <a:latin typeface="Arial"/>
              <a:ea typeface="Arial"/>
              <a:cs typeface="Arial"/>
              <a:sym typeface="Arial"/>
            </a:endParaRPr>
          </a:p>
        </p:txBody>
      </p:sp>
      <p:sp>
        <p:nvSpPr>
          <p:cNvPr id="294" name="Google Shape;294;p15"/>
          <p:cNvSpPr/>
          <p:nvPr/>
        </p:nvSpPr>
        <p:spPr>
          <a:xfrm>
            <a:off x="5742000" y="30902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v5</a:t>
            </a:r>
            <a:endParaRPr sz="1800" b="0" i="0" u="none" strike="noStrike" cap="none">
              <a:solidFill>
                <a:srgbClr val="000000"/>
              </a:solidFill>
              <a:latin typeface="Arial"/>
              <a:ea typeface="Arial"/>
              <a:cs typeface="Arial"/>
              <a:sym typeface="Arial"/>
            </a:endParaRPr>
          </a:p>
        </p:txBody>
      </p:sp>
      <p:sp>
        <p:nvSpPr>
          <p:cNvPr id="295" name="Google Shape;295;p15"/>
          <p:cNvSpPr/>
          <p:nvPr/>
        </p:nvSpPr>
        <p:spPr>
          <a:xfrm>
            <a:off x="6203160" y="45558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v6</a:t>
            </a:r>
            <a:endParaRPr sz="1800" b="0" i="0" u="none" strike="noStrike" cap="none">
              <a:solidFill>
                <a:srgbClr val="000000"/>
              </a:solidFill>
              <a:latin typeface="Arial"/>
              <a:ea typeface="Arial"/>
              <a:cs typeface="Arial"/>
              <a:sym typeface="Arial"/>
            </a:endParaRPr>
          </a:p>
        </p:txBody>
      </p:sp>
      <p:sp>
        <p:nvSpPr>
          <p:cNvPr id="297" name="Google Shape;297;p15"/>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EB30C1B1-62B9-45A0-B5BD-FE5E1840E526}" type="datetime1">
              <a:rPr lang="en-US" smtClean="0"/>
              <a:t>12/23/2025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6"/>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Triangle primitives</a:t>
            </a:r>
            <a:endParaRPr sz="4400" b="0" strike="noStrike">
              <a:solidFill>
                <a:schemeClr val="dk1"/>
              </a:solidFill>
              <a:latin typeface="Calibri"/>
              <a:ea typeface="Calibri"/>
              <a:cs typeface="Calibri"/>
              <a:sym typeface="Calibri"/>
            </a:endParaRPr>
          </a:p>
        </p:txBody>
      </p:sp>
      <p:sp>
        <p:nvSpPr>
          <p:cNvPr id="303" name="Google Shape;303;p16"/>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rgbClr val="000000"/>
              </a:buClr>
              <a:buSzPts val="2800"/>
              <a:buNone/>
            </a:pPr>
            <a:r>
              <a:rPr lang="en-US" sz="2800" b="1" i="0" u="none" strike="noStrike" cap="none" dirty="0">
                <a:solidFill>
                  <a:schemeClr val="dk1"/>
                </a:solidFill>
                <a:latin typeface="Calibri"/>
                <a:ea typeface="Calibri"/>
                <a:cs typeface="Calibri"/>
                <a:sym typeface="Calibri"/>
              </a:rPr>
              <a:t>GL_TRIANGLE_FAN: </a:t>
            </a:r>
          </a:p>
          <a:p>
            <a:pPr marL="0" marR="0" lvl="0" indent="0" algn="just" rtl="0">
              <a:lnSpc>
                <a:spcPct val="150000"/>
              </a:lnSpc>
              <a:spcBef>
                <a:spcPts val="0"/>
              </a:spcBef>
              <a:spcAft>
                <a:spcPts val="0"/>
              </a:spcAft>
              <a:buClr>
                <a:srgbClr val="000000"/>
              </a:buClr>
              <a:buSzPts val="2800"/>
              <a:buNone/>
            </a:pPr>
            <a:r>
              <a:rPr lang="en-US" sz="2800" b="0" i="0" u="none" strike="noStrike" cap="none" dirty="0">
                <a:solidFill>
                  <a:schemeClr val="dk1"/>
                </a:solidFill>
                <a:latin typeface="Calibri"/>
                <a:ea typeface="Calibri"/>
                <a:cs typeface="Calibri"/>
                <a:sym typeface="Calibri"/>
              </a:rPr>
              <a:t>The first vertex is always held fixed. From there on, every group of 2 adjacent vertices form a triangle with the first. So with a vertex stream, you get a list of triangles like so: (0, 1, 2) (0, 2, 3), (0, 3, 4), etc. A vertex stream of </a:t>
            </a:r>
            <a:r>
              <a:rPr lang="en-US" sz="2800" b="0" i="1" u="none" strike="noStrike" cap="none" dirty="0">
                <a:solidFill>
                  <a:schemeClr val="dk1"/>
                </a:solidFill>
                <a:latin typeface="Calibri"/>
                <a:ea typeface="Calibri"/>
                <a:cs typeface="Calibri"/>
                <a:sym typeface="Calibri"/>
              </a:rPr>
              <a:t>n</a:t>
            </a:r>
            <a:r>
              <a:rPr lang="en-US" sz="2800" b="0" i="0" u="none" strike="noStrike" cap="none" dirty="0">
                <a:solidFill>
                  <a:schemeClr val="dk1"/>
                </a:solidFill>
                <a:latin typeface="Calibri"/>
                <a:ea typeface="Calibri"/>
                <a:cs typeface="Calibri"/>
                <a:sym typeface="Calibri"/>
              </a:rPr>
              <a:t> length will generate </a:t>
            </a:r>
            <a:r>
              <a:rPr lang="en-US" sz="2800" b="0" i="1" u="none" strike="noStrike" cap="none" dirty="0">
                <a:solidFill>
                  <a:schemeClr val="dk1"/>
                </a:solidFill>
                <a:latin typeface="Calibri"/>
                <a:ea typeface="Calibri"/>
                <a:cs typeface="Calibri"/>
                <a:sym typeface="Calibri"/>
              </a:rPr>
              <a:t>n</a:t>
            </a:r>
            <a:r>
              <a:rPr lang="en-US" sz="2800" b="0" i="0" u="none" strike="noStrike" cap="none" dirty="0">
                <a:solidFill>
                  <a:schemeClr val="dk1"/>
                </a:solidFill>
                <a:latin typeface="Calibri"/>
                <a:ea typeface="Calibri"/>
                <a:cs typeface="Calibri"/>
                <a:sym typeface="Calibri"/>
              </a:rPr>
              <a:t>-2 triangles.</a:t>
            </a:r>
            <a:endParaRPr dirty="0"/>
          </a:p>
          <a:p>
            <a:pPr marL="0" marR="0" lvl="0" indent="0" algn="l" rtl="0">
              <a:lnSpc>
                <a:spcPct val="90000"/>
              </a:lnSpc>
              <a:spcBef>
                <a:spcPts val="1001"/>
              </a:spcBef>
              <a:spcAft>
                <a:spcPts val="0"/>
              </a:spcAft>
              <a:buClr>
                <a:schemeClr val="dk1"/>
              </a:buClr>
              <a:buSzPts val="2800"/>
              <a:buFont typeface="Calibri"/>
              <a:buNone/>
            </a:pPr>
            <a:endParaRPr sz="2800" b="0" i="0" u="none" strike="noStrike" cap="none" dirty="0">
              <a:solidFill>
                <a:schemeClr val="dk1"/>
              </a:solidFill>
              <a:latin typeface="Calibri"/>
              <a:ea typeface="Calibri"/>
              <a:cs typeface="Calibri"/>
              <a:sym typeface="Calibri"/>
            </a:endParaRPr>
          </a:p>
        </p:txBody>
      </p:sp>
      <p:sp>
        <p:nvSpPr>
          <p:cNvPr id="305" name="Google Shape;305;p16"/>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5E34CAF8-2039-4FE8-9AD3-9A28C17279E5}" type="datetime1">
              <a:rPr lang="en-US" smtClean="0"/>
              <a:t>12/23/2025</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7"/>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OpenGL Primitives : Triangle primitives</a:t>
            </a:r>
            <a:endParaRPr sz="4400" b="0" strike="noStrike">
              <a:solidFill>
                <a:schemeClr val="dk1"/>
              </a:solidFill>
              <a:latin typeface="Calibri"/>
              <a:ea typeface="Calibri"/>
              <a:cs typeface="Calibri"/>
              <a:sym typeface="Calibri"/>
            </a:endParaRPr>
          </a:p>
        </p:txBody>
      </p:sp>
      <p:pic>
        <p:nvPicPr>
          <p:cNvPr id="311" name="Google Shape;311;p17"/>
          <p:cNvPicPr preferRelativeResize="0"/>
          <p:nvPr/>
        </p:nvPicPr>
        <p:blipFill rotWithShape="1">
          <a:blip r:embed="rId3">
            <a:alphaModFix/>
          </a:blip>
          <a:srcRect/>
          <a:stretch/>
        </p:blipFill>
        <p:spPr>
          <a:xfrm>
            <a:off x="1222920" y="2576880"/>
            <a:ext cx="3073680" cy="1904760"/>
          </a:xfrm>
          <a:prstGeom prst="rect">
            <a:avLst/>
          </a:prstGeom>
          <a:noFill/>
          <a:ln>
            <a:noFill/>
          </a:ln>
        </p:spPr>
      </p:pic>
      <p:pic>
        <p:nvPicPr>
          <p:cNvPr id="312" name="Google Shape;312;p17"/>
          <p:cNvPicPr preferRelativeResize="0"/>
          <p:nvPr/>
        </p:nvPicPr>
        <p:blipFill rotWithShape="1">
          <a:blip r:embed="rId4">
            <a:alphaModFix/>
          </a:blip>
          <a:srcRect r="10731"/>
          <a:stretch/>
        </p:blipFill>
        <p:spPr>
          <a:xfrm>
            <a:off x="4251240" y="2572200"/>
            <a:ext cx="3076200" cy="1906200"/>
          </a:xfrm>
          <a:prstGeom prst="rect">
            <a:avLst/>
          </a:prstGeom>
          <a:noFill/>
          <a:ln>
            <a:noFill/>
          </a:ln>
        </p:spPr>
      </p:pic>
      <p:sp>
        <p:nvSpPr>
          <p:cNvPr id="313" name="Google Shape;313;p17"/>
          <p:cNvSpPr/>
          <p:nvPr/>
        </p:nvSpPr>
        <p:spPr>
          <a:xfrm>
            <a:off x="5795640" y="391968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v0</a:t>
            </a:r>
            <a:endParaRPr sz="1800" b="0" i="0" u="none" strike="noStrike" cap="none">
              <a:solidFill>
                <a:srgbClr val="000000"/>
              </a:solidFill>
              <a:latin typeface="Arial"/>
              <a:ea typeface="Arial"/>
              <a:cs typeface="Arial"/>
              <a:sym typeface="Arial"/>
            </a:endParaRPr>
          </a:p>
        </p:txBody>
      </p:sp>
      <p:sp>
        <p:nvSpPr>
          <p:cNvPr id="314" name="Google Shape;314;p17"/>
          <p:cNvSpPr/>
          <p:nvPr/>
        </p:nvSpPr>
        <p:spPr>
          <a:xfrm>
            <a:off x="6653520" y="391968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v1</a:t>
            </a:r>
            <a:endParaRPr sz="1800" b="0" i="0" u="none" strike="noStrike" cap="none">
              <a:solidFill>
                <a:srgbClr val="000000"/>
              </a:solidFill>
              <a:latin typeface="Arial"/>
              <a:ea typeface="Arial"/>
              <a:cs typeface="Arial"/>
              <a:sym typeface="Arial"/>
            </a:endParaRPr>
          </a:p>
        </p:txBody>
      </p:sp>
      <p:sp>
        <p:nvSpPr>
          <p:cNvPr id="315" name="Google Shape;315;p17"/>
          <p:cNvSpPr/>
          <p:nvPr/>
        </p:nvSpPr>
        <p:spPr>
          <a:xfrm>
            <a:off x="6523200" y="33224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v2</a:t>
            </a:r>
            <a:endParaRPr sz="1800" b="0" i="0" u="none" strike="noStrike" cap="none">
              <a:solidFill>
                <a:srgbClr val="000000"/>
              </a:solidFill>
              <a:latin typeface="Arial"/>
              <a:ea typeface="Arial"/>
              <a:cs typeface="Arial"/>
              <a:sym typeface="Arial"/>
            </a:endParaRPr>
          </a:p>
        </p:txBody>
      </p:sp>
      <p:sp>
        <p:nvSpPr>
          <p:cNvPr id="316" name="Google Shape;316;p17"/>
          <p:cNvSpPr/>
          <p:nvPr/>
        </p:nvSpPr>
        <p:spPr>
          <a:xfrm>
            <a:off x="5774760" y="30247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v3</a:t>
            </a:r>
            <a:endParaRPr sz="1800" b="0" i="0" u="none" strike="noStrike" cap="none">
              <a:solidFill>
                <a:srgbClr val="000000"/>
              </a:solidFill>
              <a:latin typeface="Arial"/>
              <a:ea typeface="Arial"/>
              <a:cs typeface="Arial"/>
              <a:sym typeface="Arial"/>
            </a:endParaRPr>
          </a:p>
        </p:txBody>
      </p:sp>
      <p:sp>
        <p:nvSpPr>
          <p:cNvPr id="317" name="Google Shape;317;p17"/>
          <p:cNvSpPr/>
          <p:nvPr/>
        </p:nvSpPr>
        <p:spPr>
          <a:xfrm>
            <a:off x="5071680" y="326664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v4</a:t>
            </a:r>
            <a:endParaRPr sz="1800" b="0" i="0" u="none" strike="noStrike" cap="none">
              <a:solidFill>
                <a:srgbClr val="000000"/>
              </a:solidFill>
              <a:latin typeface="Arial"/>
              <a:ea typeface="Arial"/>
              <a:cs typeface="Arial"/>
              <a:sym typeface="Arial"/>
            </a:endParaRPr>
          </a:p>
        </p:txBody>
      </p:sp>
      <p:sp>
        <p:nvSpPr>
          <p:cNvPr id="318" name="Google Shape;318;p17"/>
          <p:cNvSpPr/>
          <p:nvPr/>
        </p:nvSpPr>
        <p:spPr>
          <a:xfrm>
            <a:off x="4869720" y="391968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v5</a:t>
            </a:r>
            <a:endParaRPr sz="1800" b="0" i="0" u="none" strike="noStrike" cap="none">
              <a:solidFill>
                <a:srgbClr val="000000"/>
              </a:solidFill>
              <a:latin typeface="Arial"/>
              <a:ea typeface="Arial"/>
              <a:cs typeface="Arial"/>
              <a:sym typeface="Arial"/>
            </a:endParaRPr>
          </a:p>
        </p:txBody>
      </p:sp>
      <p:sp>
        <p:nvSpPr>
          <p:cNvPr id="319" name="Google Shape;319;p17"/>
          <p:cNvSpPr/>
          <p:nvPr/>
        </p:nvSpPr>
        <p:spPr>
          <a:xfrm>
            <a:off x="2522520" y="37897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v0</a:t>
            </a:r>
            <a:endParaRPr sz="1800" b="0" i="0" u="none" strike="noStrike" cap="none">
              <a:solidFill>
                <a:srgbClr val="000000"/>
              </a:solidFill>
              <a:latin typeface="Arial"/>
              <a:ea typeface="Arial"/>
              <a:cs typeface="Arial"/>
              <a:sym typeface="Arial"/>
            </a:endParaRPr>
          </a:p>
        </p:txBody>
      </p:sp>
      <p:sp>
        <p:nvSpPr>
          <p:cNvPr id="320" name="Google Shape;320;p17"/>
          <p:cNvSpPr/>
          <p:nvPr/>
        </p:nvSpPr>
        <p:spPr>
          <a:xfrm>
            <a:off x="3312360" y="37897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v1</a:t>
            </a:r>
            <a:endParaRPr sz="1800" b="0" i="0" u="none" strike="noStrike" cap="none">
              <a:solidFill>
                <a:srgbClr val="000000"/>
              </a:solidFill>
              <a:latin typeface="Arial"/>
              <a:ea typeface="Arial"/>
              <a:cs typeface="Arial"/>
              <a:sym typeface="Arial"/>
            </a:endParaRPr>
          </a:p>
        </p:txBody>
      </p:sp>
      <p:sp>
        <p:nvSpPr>
          <p:cNvPr id="321" name="Google Shape;321;p17"/>
          <p:cNvSpPr/>
          <p:nvPr/>
        </p:nvSpPr>
        <p:spPr>
          <a:xfrm>
            <a:off x="3156480" y="31770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v2</a:t>
            </a:r>
            <a:endParaRPr sz="1800" b="0" i="0" u="none" strike="noStrike" cap="none">
              <a:solidFill>
                <a:srgbClr val="000000"/>
              </a:solidFill>
              <a:latin typeface="Arial"/>
              <a:ea typeface="Arial"/>
              <a:cs typeface="Arial"/>
              <a:sym typeface="Arial"/>
            </a:endParaRPr>
          </a:p>
        </p:txBody>
      </p:sp>
      <p:sp>
        <p:nvSpPr>
          <p:cNvPr id="322" name="Google Shape;322;p17"/>
          <p:cNvSpPr/>
          <p:nvPr/>
        </p:nvSpPr>
        <p:spPr>
          <a:xfrm>
            <a:off x="2544480" y="289728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v3</a:t>
            </a:r>
            <a:endParaRPr sz="1800" b="0" i="0" u="none" strike="noStrike" cap="none">
              <a:solidFill>
                <a:srgbClr val="000000"/>
              </a:solidFill>
              <a:latin typeface="Arial"/>
              <a:ea typeface="Arial"/>
              <a:cs typeface="Arial"/>
              <a:sym typeface="Arial"/>
            </a:endParaRPr>
          </a:p>
        </p:txBody>
      </p:sp>
      <p:sp>
        <p:nvSpPr>
          <p:cNvPr id="323" name="Google Shape;323;p17"/>
          <p:cNvSpPr/>
          <p:nvPr/>
        </p:nvSpPr>
        <p:spPr>
          <a:xfrm>
            <a:off x="1884600" y="316080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v4</a:t>
            </a:r>
            <a:endParaRPr sz="1800" b="0" i="0" u="none" strike="noStrike" cap="none">
              <a:solidFill>
                <a:srgbClr val="000000"/>
              </a:solidFill>
              <a:latin typeface="Arial"/>
              <a:ea typeface="Arial"/>
              <a:cs typeface="Arial"/>
              <a:sym typeface="Arial"/>
            </a:endParaRPr>
          </a:p>
        </p:txBody>
      </p:sp>
      <p:sp>
        <p:nvSpPr>
          <p:cNvPr id="324" name="Google Shape;324;p17"/>
          <p:cNvSpPr/>
          <p:nvPr/>
        </p:nvSpPr>
        <p:spPr>
          <a:xfrm>
            <a:off x="1625040" y="3744720"/>
            <a:ext cx="42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v5</a:t>
            </a:r>
            <a:endParaRPr sz="1800" b="0" i="0" u="none" strike="noStrike" cap="none">
              <a:solidFill>
                <a:srgbClr val="000000"/>
              </a:solidFill>
              <a:latin typeface="Arial"/>
              <a:ea typeface="Arial"/>
              <a:cs typeface="Arial"/>
              <a:sym typeface="Arial"/>
            </a:endParaRPr>
          </a:p>
        </p:txBody>
      </p:sp>
      <p:pic>
        <p:nvPicPr>
          <p:cNvPr id="325" name="Google Shape;325;p17"/>
          <p:cNvPicPr preferRelativeResize="0"/>
          <p:nvPr/>
        </p:nvPicPr>
        <p:blipFill rotWithShape="1">
          <a:blip r:embed="rId5">
            <a:alphaModFix/>
          </a:blip>
          <a:srcRect r="1967"/>
          <a:stretch/>
        </p:blipFill>
        <p:spPr>
          <a:xfrm>
            <a:off x="7325280" y="2573640"/>
            <a:ext cx="3674880" cy="1904760"/>
          </a:xfrm>
          <a:prstGeom prst="rect">
            <a:avLst/>
          </a:prstGeom>
          <a:noFill/>
          <a:ln>
            <a:noFill/>
          </a:ln>
        </p:spPr>
      </p:pic>
      <p:sp>
        <p:nvSpPr>
          <p:cNvPr id="327" name="Google Shape;327;p17"/>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C75FAF69-7B6A-46D8-A642-F2CE19E8DA65}" type="datetime1">
              <a:rPr lang="en-US" smtClean="0"/>
              <a:t>12/23/2025</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8"/>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2D Transformation : Translation</a:t>
            </a:r>
            <a:endParaRPr sz="4400" b="0" strike="noStrike">
              <a:solidFill>
                <a:schemeClr val="dk1"/>
              </a:solidFill>
              <a:latin typeface="Calibri"/>
              <a:ea typeface="Calibri"/>
              <a:cs typeface="Calibri"/>
              <a:sym typeface="Calibri"/>
            </a:endParaRPr>
          </a:p>
        </p:txBody>
      </p:sp>
      <p:pic>
        <p:nvPicPr>
          <p:cNvPr id="333" name="Google Shape;333;p18"/>
          <p:cNvPicPr preferRelativeResize="0"/>
          <p:nvPr/>
        </p:nvPicPr>
        <p:blipFill rotWithShape="1">
          <a:blip r:embed="rId3">
            <a:alphaModFix/>
          </a:blip>
          <a:srcRect/>
          <a:stretch/>
        </p:blipFill>
        <p:spPr>
          <a:xfrm>
            <a:off x="1388520" y="2019600"/>
            <a:ext cx="3372480" cy="2818440"/>
          </a:xfrm>
          <a:prstGeom prst="rect">
            <a:avLst/>
          </a:prstGeom>
          <a:noFill/>
          <a:ln>
            <a:noFill/>
          </a:ln>
        </p:spPr>
      </p:pic>
      <p:sp>
        <p:nvSpPr>
          <p:cNvPr id="334" name="Google Shape;334;p18"/>
          <p:cNvSpPr/>
          <p:nvPr/>
        </p:nvSpPr>
        <p:spPr>
          <a:xfrm>
            <a:off x="5108400" y="1640880"/>
            <a:ext cx="5096880" cy="23418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800" b="0" i="0" u="none" strike="noStrike" cap="none">
                <a:solidFill>
                  <a:schemeClr val="dk1"/>
                </a:solidFill>
                <a:latin typeface="Calibri"/>
                <a:ea typeface="Calibri"/>
                <a:cs typeface="Calibri"/>
                <a:sym typeface="Calibri"/>
              </a:rPr>
              <a:t>From the above figure, we can write that:</a:t>
            </a: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800" b="1" i="0" u="none" strike="noStrike" cap="none">
                <a:solidFill>
                  <a:schemeClr val="dk1"/>
                </a:solidFill>
                <a:latin typeface="Calibri"/>
                <a:ea typeface="Calibri"/>
                <a:cs typeface="Calibri"/>
                <a:sym typeface="Calibri"/>
              </a:rPr>
              <a:t>X’ = X + t</a:t>
            </a:r>
            <a:r>
              <a:rPr lang="en-US" sz="2800" b="1" i="0" u="none" strike="noStrike" cap="none" baseline="-25000">
                <a:solidFill>
                  <a:schemeClr val="dk1"/>
                </a:solidFill>
                <a:latin typeface="Calibri"/>
                <a:ea typeface="Calibri"/>
                <a:cs typeface="Calibri"/>
                <a:sym typeface="Calibri"/>
              </a:rPr>
              <a:t>x</a:t>
            </a: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800" b="1" i="0" u="none" strike="noStrike" cap="none">
                <a:solidFill>
                  <a:schemeClr val="dk1"/>
                </a:solidFill>
                <a:latin typeface="Calibri"/>
                <a:ea typeface="Calibri"/>
                <a:cs typeface="Calibri"/>
                <a:sym typeface="Calibri"/>
              </a:rPr>
              <a:t>Y’ = Y + t</a:t>
            </a:r>
            <a:r>
              <a:rPr lang="en-US" sz="2800" b="1" i="0" u="none" strike="noStrike" cap="none" baseline="-25000">
                <a:solidFill>
                  <a:schemeClr val="dk1"/>
                </a:solidFill>
                <a:latin typeface="Calibri"/>
                <a:ea typeface="Calibri"/>
                <a:cs typeface="Calibri"/>
                <a:sym typeface="Calibri"/>
              </a:rPr>
              <a:t>y</a:t>
            </a:r>
            <a:endParaRPr sz="2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800" b="0" i="0" u="none" strike="noStrike" cap="none">
              <a:solidFill>
                <a:srgbClr val="000000"/>
              </a:solidFill>
              <a:latin typeface="Arial"/>
              <a:ea typeface="Arial"/>
              <a:cs typeface="Arial"/>
              <a:sym typeface="Arial"/>
            </a:endParaRPr>
          </a:p>
        </p:txBody>
      </p:sp>
      <p:pic>
        <p:nvPicPr>
          <p:cNvPr id="335" name="Google Shape;335;p18"/>
          <p:cNvPicPr preferRelativeResize="0"/>
          <p:nvPr/>
        </p:nvPicPr>
        <p:blipFill rotWithShape="1">
          <a:blip r:embed="rId4">
            <a:alphaModFix/>
          </a:blip>
          <a:srcRect/>
          <a:stretch/>
        </p:blipFill>
        <p:spPr>
          <a:xfrm>
            <a:off x="8806320" y="2386440"/>
            <a:ext cx="2258280" cy="2288520"/>
          </a:xfrm>
          <a:prstGeom prst="rect">
            <a:avLst/>
          </a:prstGeom>
          <a:noFill/>
          <a:ln>
            <a:noFill/>
          </a:ln>
        </p:spPr>
      </p:pic>
      <p:sp>
        <p:nvSpPr>
          <p:cNvPr id="336" name="Google Shape;336;p18"/>
          <p:cNvSpPr/>
          <p:nvPr/>
        </p:nvSpPr>
        <p:spPr>
          <a:xfrm>
            <a:off x="8632440" y="4768200"/>
            <a:ext cx="257076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4*4 Translation Matrix</a:t>
            </a:r>
            <a:endParaRPr sz="1800" b="0" i="0" u="none" strike="noStrike" cap="none">
              <a:solidFill>
                <a:srgbClr val="000000"/>
              </a:solidFill>
              <a:latin typeface="Arial"/>
              <a:ea typeface="Arial"/>
              <a:cs typeface="Arial"/>
              <a:sym typeface="Arial"/>
            </a:endParaRPr>
          </a:p>
        </p:txBody>
      </p:sp>
      <p:sp>
        <p:nvSpPr>
          <p:cNvPr id="337" name="Google Shape;337;p18"/>
          <p:cNvSpPr/>
          <p:nvPr/>
        </p:nvSpPr>
        <p:spPr>
          <a:xfrm>
            <a:off x="5594040" y="5243400"/>
            <a:ext cx="510804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tz = 0 Since, we are considering 2D translation</a:t>
            </a:r>
            <a:endParaRPr sz="1800" b="0" i="0" u="none" strike="noStrike" cap="none">
              <a:solidFill>
                <a:srgbClr val="000000"/>
              </a:solidFill>
              <a:latin typeface="Arial"/>
              <a:ea typeface="Arial"/>
              <a:cs typeface="Arial"/>
              <a:sym typeface="Arial"/>
            </a:endParaRPr>
          </a:p>
        </p:txBody>
      </p:sp>
      <p:cxnSp>
        <p:nvCxnSpPr>
          <p:cNvPr id="338" name="Google Shape;338;p18"/>
          <p:cNvCxnSpPr>
            <a:endCxn id="337" idx="0"/>
          </p:cNvCxnSpPr>
          <p:nvPr/>
        </p:nvCxnSpPr>
        <p:spPr>
          <a:xfrm flipH="1">
            <a:off x="8148060" y="3929400"/>
            <a:ext cx="2289900" cy="1314000"/>
          </a:xfrm>
          <a:prstGeom prst="straightConnector1">
            <a:avLst/>
          </a:prstGeom>
          <a:noFill/>
          <a:ln w="9525" cap="flat" cmpd="sng">
            <a:solidFill>
              <a:srgbClr val="70AD47"/>
            </a:solidFill>
            <a:prstDash val="solid"/>
            <a:round/>
            <a:headEnd type="none" w="sm" len="sm"/>
            <a:tailEnd type="triangle" w="med" len="med"/>
          </a:ln>
        </p:spPr>
      </p:cxnSp>
      <p:pic>
        <p:nvPicPr>
          <p:cNvPr id="339" name="Google Shape;339;p18"/>
          <p:cNvPicPr preferRelativeResize="0"/>
          <p:nvPr/>
        </p:nvPicPr>
        <p:blipFill rotWithShape="1">
          <a:blip r:embed="rId5">
            <a:alphaModFix/>
          </a:blip>
          <a:srcRect/>
          <a:stretch/>
        </p:blipFill>
        <p:spPr>
          <a:xfrm>
            <a:off x="5108400" y="3560400"/>
            <a:ext cx="3295800" cy="1533240"/>
          </a:xfrm>
          <a:prstGeom prst="rect">
            <a:avLst/>
          </a:prstGeom>
          <a:noFill/>
          <a:ln>
            <a:noFill/>
          </a:ln>
        </p:spPr>
      </p:pic>
      <p:sp>
        <p:nvSpPr>
          <p:cNvPr id="341" name="Google Shape;341;p18"/>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F24424A8-8352-4D94-9834-40F5F8D58C58}" type="datetime1">
              <a:rPr lang="en-US" smtClean="0"/>
              <a:t>12/23/2025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500"/>
                                        <p:tgtEl>
                                          <p:spTgt spid="337"/>
                                        </p:tgtEl>
                                      </p:cBhvr>
                                    </p:animEffect>
                                  </p:childTnLst>
                                </p:cTn>
                              </p:par>
                              <p:par>
                                <p:cTn id="8" presetID="10" presetClass="entr" presetSubtype="0" fill="hold" nodeType="withEffect">
                                  <p:stCondLst>
                                    <p:cond delay="0"/>
                                  </p:stCondLst>
                                  <p:childTnLst>
                                    <p:set>
                                      <p:cBhvr>
                                        <p:cTn id="9" dur="1" fill="hold">
                                          <p:stCondLst>
                                            <p:cond delay="0"/>
                                          </p:stCondLst>
                                        </p:cTn>
                                        <p:tgtEl>
                                          <p:spTgt spid="338"/>
                                        </p:tgtEl>
                                        <p:attrNameLst>
                                          <p:attrName>style.visibility</p:attrName>
                                        </p:attrNameLst>
                                      </p:cBhvr>
                                      <p:to>
                                        <p:strVal val="visible"/>
                                      </p:to>
                                    </p:set>
                                    <p:animEffect transition="in" filter="fade">
                                      <p:cBhvr>
                                        <p:cTn id="10" dur="500"/>
                                        <p:tgtEl>
                                          <p:spTgt spid="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9"/>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2D Transformation : Scaling</a:t>
            </a:r>
            <a:endParaRPr sz="4400" b="0" strike="noStrike">
              <a:solidFill>
                <a:schemeClr val="dk1"/>
              </a:solidFill>
              <a:latin typeface="Calibri"/>
              <a:ea typeface="Calibri"/>
              <a:cs typeface="Calibri"/>
              <a:sym typeface="Calibri"/>
            </a:endParaRPr>
          </a:p>
        </p:txBody>
      </p:sp>
      <p:pic>
        <p:nvPicPr>
          <p:cNvPr id="347" name="Google Shape;347;p19"/>
          <p:cNvPicPr preferRelativeResize="0"/>
          <p:nvPr/>
        </p:nvPicPr>
        <p:blipFill rotWithShape="1">
          <a:blip r:embed="rId3">
            <a:alphaModFix/>
          </a:blip>
          <a:srcRect/>
          <a:stretch/>
        </p:blipFill>
        <p:spPr>
          <a:xfrm>
            <a:off x="3300480" y="1905120"/>
            <a:ext cx="2399040" cy="1963800"/>
          </a:xfrm>
          <a:prstGeom prst="rect">
            <a:avLst/>
          </a:prstGeom>
          <a:noFill/>
          <a:ln>
            <a:noFill/>
          </a:ln>
        </p:spPr>
      </p:pic>
      <p:pic>
        <p:nvPicPr>
          <p:cNvPr id="348" name="Google Shape;348;p19"/>
          <p:cNvPicPr preferRelativeResize="0"/>
          <p:nvPr/>
        </p:nvPicPr>
        <p:blipFill rotWithShape="1">
          <a:blip r:embed="rId4">
            <a:alphaModFix/>
          </a:blip>
          <a:srcRect/>
          <a:stretch/>
        </p:blipFill>
        <p:spPr>
          <a:xfrm>
            <a:off x="1123560" y="1905120"/>
            <a:ext cx="2086560" cy="1851120"/>
          </a:xfrm>
          <a:prstGeom prst="rect">
            <a:avLst/>
          </a:prstGeom>
          <a:noFill/>
          <a:ln>
            <a:noFill/>
          </a:ln>
        </p:spPr>
      </p:pic>
      <p:pic>
        <p:nvPicPr>
          <p:cNvPr id="349" name="Google Shape;349;p19"/>
          <p:cNvPicPr preferRelativeResize="0"/>
          <p:nvPr/>
        </p:nvPicPr>
        <p:blipFill rotWithShape="1">
          <a:blip r:embed="rId5">
            <a:alphaModFix/>
          </a:blip>
          <a:srcRect/>
          <a:stretch/>
        </p:blipFill>
        <p:spPr>
          <a:xfrm>
            <a:off x="1123560" y="3724920"/>
            <a:ext cx="2086560" cy="1936080"/>
          </a:xfrm>
          <a:prstGeom prst="rect">
            <a:avLst/>
          </a:prstGeom>
          <a:noFill/>
          <a:ln>
            <a:noFill/>
          </a:ln>
        </p:spPr>
      </p:pic>
      <p:pic>
        <p:nvPicPr>
          <p:cNvPr id="350" name="Google Shape;350;p19"/>
          <p:cNvPicPr preferRelativeResize="0"/>
          <p:nvPr/>
        </p:nvPicPr>
        <p:blipFill rotWithShape="1">
          <a:blip r:embed="rId6">
            <a:alphaModFix/>
          </a:blip>
          <a:srcRect/>
          <a:stretch/>
        </p:blipFill>
        <p:spPr>
          <a:xfrm>
            <a:off x="6131880" y="1881720"/>
            <a:ext cx="4657320" cy="2057040"/>
          </a:xfrm>
          <a:prstGeom prst="rect">
            <a:avLst/>
          </a:prstGeom>
          <a:noFill/>
          <a:ln>
            <a:noFill/>
          </a:ln>
        </p:spPr>
      </p:pic>
      <p:sp>
        <p:nvSpPr>
          <p:cNvPr id="351" name="Google Shape;351;p19"/>
          <p:cNvSpPr/>
          <p:nvPr/>
        </p:nvSpPr>
        <p:spPr>
          <a:xfrm>
            <a:off x="3428640" y="3939120"/>
            <a:ext cx="2142360" cy="36396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4*4 Scaling Matrix</a:t>
            </a:r>
            <a:endParaRPr sz="1800" b="0" i="0" u="none" strike="noStrike" cap="none">
              <a:solidFill>
                <a:srgbClr val="000000"/>
              </a:solidFill>
              <a:latin typeface="Arial"/>
              <a:ea typeface="Arial"/>
              <a:cs typeface="Arial"/>
              <a:sym typeface="Arial"/>
            </a:endParaRPr>
          </a:p>
        </p:txBody>
      </p:sp>
      <p:sp>
        <p:nvSpPr>
          <p:cNvPr id="352" name="Google Shape;352;p19"/>
          <p:cNvSpPr/>
          <p:nvPr/>
        </p:nvSpPr>
        <p:spPr>
          <a:xfrm>
            <a:off x="8034840" y="4491360"/>
            <a:ext cx="2531520" cy="9126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Calibri"/>
                <a:ea typeface="Calibri"/>
                <a:cs typeface="Calibri"/>
                <a:sym typeface="Calibri"/>
              </a:rPr>
              <a:t>Sz = 1 Since, we are considering 2D translation</a:t>
            </a:r>
            <a:endParaRPr sz="1800" b="0" i="0" u="none" strike="noStrike" cap="none">
              <a:solidFill>
                <a:srgbClr val="000000"/>
              </a:solidFill>
              <a:latin typeface="Arial"/>
              <a:ea typeface="Arial"/>
              <a:cs typeface="Arial"/>
              <a:sym typeface="Arial"/>
            </a:endParaRPr>
          </a:p>
        </p:txBody>
      </p:sp>
      <p:cxnSp>
        <p:nvCxnSpPr>
          <p:cNvPr id="353" name="Google Shape;353;p19"/>
          <p:cNvCxnSpPr/>
          <p:nvPr/>
        </p:nvCxnSpPr>
        <p:spPr>
          <a:xfrm>
            <a:off x="7738920" y="3206880"/>
            <a:ext cx="702720" cy="1284480"/>
          </a:xfrm>
          <a:prstGeom prst="straightConnector1">
            <a:avLst/>
          </a:prstGeom>
          <a:noFill/>
          <a:ln w="38100" cap="flat" cmpd="sng">
            <a:solidFill>
              <a:srgbClr val="4472C4"/>
            </a:solidFill>
            <a:prstDash val="solid"/>
            <a:round/>
            <a:headEnd type="none" w="sm" len="sm"/>
            <a:tailEnd type="triangle" w="med" len="med"/>
          </a:ln>
        </p:spPr>
      </p:cxnSp>
      <p:sp>
        <p:nvSpPr>
          <p:cNvPr id="354" name="Google Shape;354;p19"/>
          <p:cNvSpPr/>
          <p:nvPr/>
        </p:nvSpPr>
        <p:spPr>
          <a:xfrm>
            <a:off x="3907440" y="4680360"/>
            <a:ext cx="3584520" cy="50580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X' = X . S</a:t>
            </a:r>
            <a:r>
              <a:rPr lang="en-US" sz="2400" b="1" i="0" u="none" strike="noStrike" cap="none" baseline="-25000">
                <a:solidFill>
                  <a:schemeClr val="dk1"/>
                </a:solidFill>
                <a:latin typeface="Calibri"/>
                <a:ea typeface="Calibri"/>
                <a:cs typeface="Calibri"/>
                <a:sym typeface="Calibri"/>
              </a:rPr>
              <a:t>X</a:t>
            </a:r>
            <a:r>
              <a:rPr lang="en-US" sz="2400" b="1" i="0" u="none" strike="noStrike" cap="none">
                <a:solidFill>
                  <a:schemeClr val="dk1"/>
                </a:solidFill>
                <a:latin typeface="Calibri"/>
                <a:ea typeface="Calibri"/>
                <a:cs typeface="Calibri"/>
                <a:sym typeface="Calibri"/>
              </a:rPr>
              <a:t> and Y' = Y . S</a:t>
            </a:r>
            <a:r>
              <a:rPr lang="en-US" sz="2400" b="1" i="0" u="none" strike="noStrike" cap="none" baseline="-25000">
                <a:solidFill>
                  <a:schemeClr val="dk1"/>
                </a:solidFill>
                <a:latin typeface="Calibri"/>
                <a:ea typeface="Calibri"/>
                <a:cs typeface="Calibri"/>
                <a:sym typeface="Calibri"/>
              </a:rPr>
              <a:t>Y</a:t>
            </a:r>
            <a:endParaRPr sz="2400" b="0" i="0" u="none" strike="noStrike" cap="none">
              <a:solidFill>
                <a:srgbClr val="000000"/>
              </a:solidFill>
              <a:latin typeface="Arial"/>
              <a:ea typeface="Arial"/>
              <a:cs typeface="Arial"/>
              <a:sym typeface="Arial"/>
            </a:endParaRPr>
          </a:p>
        </p:txBody>
      </p:sp>
      <p:sp>
        <p:nvSpPr>
          <p:cNvPr id="356" name="Google Shape;356;p19"/>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A0E7B868-7019-4515-837F-591DC2BCD620}" type="datetime1">
              <a:rPr lang="en-US" smtClean="0"/>
              <a:t>12/23/2025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2"/>
                                        </p:tgtEl>
                                        <p:attrNameLst>
                                          <p:attrName>style.visibility</p:attrName>
                                        </p:attrNameLst>
                                      </p:cBhvr>
                                      <p:to>
                                        <p:strVal val="visible"/>
                                      </p:to>
                                    </p:set>
                                    <p:animEffect transition="in" filter="fade">
                                      <p:cBhvr>
                                        <p:cTn id="7" dur="500"/>
                                        <p:tgtEl>
                                          <p:spTgt spid="352"/>
                                        </p:tgtEl>
                                      </p:cBhvr>
                                    </p:animEffect>
                                  </p:childTnLst>
                                </p:cTn>
                              </p:par>
                              <p:par>
                                <p:cTn id="8" presetID="10" presetClass="entr" presetSubtype="0" fill="hold" nodeType="withEffect">
                                  <p:stCondLst>
                                    <p:cond delay="0"/>
                                  </p:stCondLst>
                                  <p:childTnLst>
                                    <p:set>
                                      <p:cBhvr>
                                        <p:cTn id="9" dur="1" fill="hold">
                                          <p:stCondLst>
                                            <p:cond delay="0"/>
                                          </p:stCondLst>
                                        </p:cTn>
                                        <p:tgtEl>
                                          <p:spTgt spid="353"/>
                                        </p:tgtEl>
                                        <p:attrNameLst>
                                          <p:attrName>style.visibility</p:attrName>
                                        </p:attrNameLst>
                                      </p:cBhvr>
                                      <p:to>
                                        <p:strVal val="visible"/>
                                      </p:to>
                                    </p:set>
                                    <p:animEffect transition="in" filter="fade">
                                      <p:cBhvr>
                                        <p:cTn id="10" dur="500"/>
                                        <p:tgtEl>
                                          <p:spTgt spid="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0"/>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2D Transformation : Rotation</a:t>
            </a:r>
            <a:endParaRPr sz="4400" b="0" strike="noStrike">
              <a:solidFill>
                <a:schemeClr val="dk1"/>
              </a:solidFill>
              <a:latin typeface="Calibri"/>
              <a:ea typeface="Calibri"/>
              <a:cs typeface="Calibri"/>
              <a:sym typeface="Calibri"/>
            </a:endParaRPr>
          </a:p>
        </p:txBody>
      </p:sp>
      <p:pic>
        <p:nvPicPr>
          <p:cNvPr id="362" name="Google Shape;362;p20"/>
          <p:cNvPicPr preferRelativeResize="0"/>
          <p:nvPr/>
        </p:nvPicPr>
        <p:blipFill rotWithShape="1">
          <a:blip r:embed="rId3">
            <a:alphaModFix/>
          </a:blip>
          <a:srcRect/>
          <a:stretch/>
        </p:blipFill>
        <p:spPr>
          <a:xfrm>
            <a:off x="838080" y="1309320"/>
            <a:ext cx="5172480" cy="4463280"/>
          </a:xfrm>
          <a:prstGeom prst="rect">
            <a:avLst/>
          </a:prstGeom>
          <a:noFill/>
          <a:ln>
            <a:noFill/>
          </a:ln>
        </p:spPr>
      </p:pic>
      <p:pic>
        <p:nvPicPr>
          <p:cNvPr id="363" name="Google Shape;363;p20"/>
          <p:cNvPicPr preferRelativeResize="0"/>
          <p:nvPr/>
        </p:nvPicPr>
        <p:blipFill rotWithShape="1">
          <a:blip r:embed="rId4">
            <a:alphaModFix/>
          </a:blip>
          <a:srcRect/>
          <a:stretch/>
        </p:blipFill>
        <p:spPr>
          <a:xfrm>
            <a:off x="5434920" y="2047680"/>
            <a:ext cx="6494400" cy="2762640"/>
          </a:xfrm>
          <a:prstGeom prst="rect">
            <a:avLst/>
          </a:prstGeom>
          <a:noFill/>
          <a:ln>
            <a:noFill/>
          </a:ln>
        </p:spPr>
      </p:pic>
      <p:sp>
        <p:nvSpPr>
          <p:cNvPr id="365" name="Google Shape;365;p20"/>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4832F3E3-6AAC-40A5-BCD9-75192690E0FD}" type="datetime1">
              <a:rPr lang="en-US" smtClean="0"/>
              <a:t>12/23/2025</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369"/>
        <p:cNvGrpSpPr/>
        <p:nvPr/>
      </p:nvGrpSpPr>
      <p:grpSpPr>
        <a:xfrm>
          <a:off x="0" y="0"/>
          <a:ext cx="0" cy="0"/>
          <a:chOff x="0" y="0"/>
          <a:chExt cx="0" cy="0"/>
        </a:xfrm>
      </p:grpSpPr>
      <p:sp>
        <p:nvSpPr>
          <p:cNvPr id="370" name="Google Shape;370;p21"/>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dirty="0">
                <a:solidFill>
                  <a:schemeClr val="dk1"/>
                </a:solidFill>
                <a:latin typeface="Calibri"/>
                <a:ea typeface="Calibri"/>
                <a:cs typeface="Calibri"/>
                <a:sym typeface="Calibri"/>
              </a:rPr>
              <a:t>Lab Task</a:t>
            </a:r>
            <a:endParaRPr sz="4400" b="0" strike="noStrike" dirty="0">
              <a:solidFill>
                <a:schemeClr val="dk1"/>
              </a:solidFill>
              <a:latin typeface="Calibri"/>
              <a:ea typeface="Calibri"/>
              <a:cs typeface="Calibri"/>
              <a:sym typeface="Calibri"/>
            </a:endParaRPr>
          </a:p>
        </p:txBody>
      </p:sp>
      <p:sp>
        <p:nvSpPr>
          <p:cNvPr id="373" name="Google Shape;373;p21"/>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CB57F865-C720-4FF2-BD5F-1424F3A3CC5C}" type="datetime1">
              <a:rPr lang="en-US" smtClean="0"/>
              <a:t>12/23/2025</a:t>
            </a:fld>
            <a:endParaRPr/>
          </a:p>
        </p:txBody>
      </p:sp>
      <p:sp>
        <p:nvSpPr>
          <p:cNvPr id="7" name="Google Shape;371;p21">
            <a:extLst>
              <a:ext uri="{FF2B5EF4-FFF2-40B4-BE49-F238E27FC236}">
                <a16:creationId xmlns:a16="http://schemas.microsoft.com/office/drawing/2014/main" id="{719B321A-5323-4FDC-A314-1D9310081507}"/>
              </a:ext>
            </a:extLst>
          </p:cNvPr>
          <p:cNvSpPr txBox="1">
            <a:spLocks noGrp="1"/>
          </p:cNvSpPr>
          <p:nvPr>
            <p:ph type="body" idx="1"/>
          </p:nvPr>
        </p:nvSpPr>
        <p:spPr>
          <a:xfrm>
            <a:off x="838080" y="1518707"/>
            <a:ext cx="10740578" cy="460125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2800"/>
              <a:buNone/>
            </a:pPr>
            <a:r>
              <a:rPr lang="en-US" sz="2800" b="0" i="0" u="none" strike="noStrike" cap="none" dirty="0">
                <a:solidFill>
                  <a:schemeClr val="dk1"/>
                </a:solidFill>
                <a:latin typeface="Calibri"/>
                <a:ea typeface="Calibri"/>
                <a:cs typeface="Calibri"/>
                <a:sym typeface="Calibri"/>
              </a:rPr>
              <a:t>Draw the send message icon by 2 triangles:</a:t>
            </a:r>
          </a:p>
          <a:p>
            <a:pPr marL="0" marR="0" lvl="0" indent="0" algn="l" rtl="0">
              <a:lnSpc>
                <a:spcPct val="90000"/>
              </a:lnSpc>
              <a:spcBef>
                <a:spcPts val="0"/>
              </a:spcBef>
              <a:spcAft>
                <a:spcPts val="0"/>
              </a:spcAft>
              <a:buClr>
                <a:srgbClr val="000000"/>
              </a:buClr>
              <a:buSzPts val="2800"/>
              <a:buNone/>
            </a:pPr>
            <a:endParaRPr sz="2800" b="0" i="0" u="none" strike="noStrike" cap="none" dirty="0">
              <a:solidFill>
                <a:schemeClr val="dk1"/>
              </a:solidFill>
              <a:latin typeface="Calibri"/>
              <a:ea typeface="Calibri"/>
              <a:cs typeface="Calibri"/>
              <a:sym typeface="Calibri"/>
            </a:endParaRPr>
          </a:p>
        </p:txBody>
      </p:sp>
      <p:pic>
        <p:nvPicPr>
          <p:cNvPr id="9" name="Picture 2" descr="SVG, PNG Icon, Symbol. Download Image ...">
            <a:extLst>
              <a:ext uri="{FF2B5EF4-FFF2-40B4-BE49-F238E27FC236}">
                <a16:creationId xmlns:a16="http://schemas.microsoft.com/office/drawing/2014/main" id="{4A760D2E-2368-4EA9-9CA5-DB7DA9A4A7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920" y="2192226"/>
            <a:ext cx="3668291" cy="36682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377"/>
        <p:cNvGrpSpPr/>
        <p:nvPr/>
      </p:nvGrpSpPr>
      <p:grpSpPr>
        <a:xfrm>
          <a:off x="0" y="0"/>
          <a:ext cx="0" cy="0"/>
          <a:chOff x="0" y="0"/>
          <a:chExt cx="0" cy="0"/>
        </a:xfrm>
      </p:grpSpPr>
      <p:sp>
        <p:nvSpPr>
          <p:cNvPr id="378" name="Google Shape;378;p22"/>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Assignment (B)</a:t>
            </a:r>
            <a:endParaRPr sz="4400" b="0" strike="noStrike">
              <a:solidFill>
                <a:schemeClr val="dk1"/>
              </a:solidFill>
              <a:latin typeface="Calibri"/>
              <a:ea typeface="Calibri"/>
              <a:cs typeface="Calibri"/>
              <a:sym typeface="Calibri"/>
            </a:endParaRPr>
          </a:p>
        </p:txBody>
      </p:sp>
      <p:sp>
        <p:nvSpPr>
          <p:cNvPr id="379" name="Google Shape;379;p22"/>
          <p:cNvSpPr/>
          <p:nvPr/>
        </p:nvSpPr>
        <p:spPr>
          <a:xfrm>
            <a:off x="2028479" y="5834754"/>
            <a:ext cx="8196900" cy="521766"/>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800" b="0" i="0" u="none" strike="noStrike" cap="none" dirty="0">
                <a:solidFill>
                  <a:schemeClr val="dk1"/>
                </a:solidFill>
                <a:latin typeface="Calibri"/>
                <a:ea typeface="Calibri"/>
                <a:cs typeface="Calibri"/>
                <a:sym typeface="Calibri"/>
              </a:rPr>
              <a:t>Draw a 2D air vehicles</a:t>
            </a:r>
            <a:endParaRPr sz="2800" b="0" i="0" u="none" strike="noStrike" cap="none" dirty="0">
              <a:solidFill>
                <a:srgbClr val="000000"/>
              </a:solidFill>
              <a:latin typeface="Arial"/>
              <a:ea typeface="Arial"/>
              <a:cs typeface="Arial"/>
              <a:sym typeface="Arial"/>
            </a:endParaRPr>
          </a:p>
        </p:txBody>
      </p:sp>
      <p:sp>
        <p:nvSpPr>
          <p:cNvPr id="381" name="Google Shape;381;p22"/>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D5E8DBA1-F6C0-4C39-9A6B-D4D1BBEEC5A1}" type="datetime1">
              <a:rPr lang="en-US" smtClean="0"/>
              <a:t>12/23/2025</a:t>
            </a:fld>
            <a:endParaRPr/>
          </a:p>
        </p:txBody>
      </p:sp>
      <p:pic>
        <p:nvPicPr>
          <p:cNvPr id="3" name="Picture 2">
            <a:extLst>
              <a:ext uri="{FF2B5EF4-FFF2-40B4-BE49-F238E27FC236}">
                <a16:creationId xmlns:a16="http://schemas.microsoft.com/office/drawing/2014/main" id="{A5049832-6D75-4351-BA1F-01D4CBDABA50}"/>
              </a:ext>
            </a:extLst>
          </p:cNvPr>
          <p:cNvPicPr>
            <a:picLocks noChangeAspect="1"/>
          </p:cNvPicPr>
          <p:nvPr/>
        </p:nvPicPr>
        <p:blipFill>
          <a:blip r:embed="rId3"/>
          <a:stretch>
            <a:fillRect/>
          </a:stretch>
        </p:blipFill>
        <p:spPr>
          <a:xfrm>
            <a:off x="838080" y="1502298"/>
            <a:ext cx="10577699" cy="385340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2"/>
          <p:cNvSpPr txBox="1">
            <a:spLocks noGrp="1"/>
          </p:cNvSpPr>
          <p:nvPr>
            <p:ph type="title"/>
          </p:nvPr>
        </p:nvSpPr>
        <p:spPr>
          <a:xfrm>
            <a:off x="838080" y="266826"/>
            <a:ext cx="10515240" cy="82757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dirty="0">
                <a:solidFill>
                  <a:schemeClr val="dk1"/>
                </a:solidFill>
                <a:latin typeface="Calibri"/>
                <a:ea typeface="Calibri"/>
                <a:cs typeface="Calibri"/>
                <a:sym typeface="Calibri"/>
              </a:rPr>
              <a:t>Assignment (A1)</a:t>
            </a:r>
            <a:endParaRPr sz="4400" b="0" strike="noStrike" dirty="0">
              <a:solidFill>
                <a:schemeClr val="dk1"/>
              </a:solidFill>
              <a:latin typeface="Calibri"/>
              <a:ea typeface="Calibri"/>
              <a:cs typeface="Calibri"/>
              <a:sym typeface="Calibri"/>
            </a:endParaRPr>
          </a:p>
        </p:txBody>
      </p:sp>
      <p:sp>
        <p:nvSpPr>
          <p:cNvPr id="379" name="Google Shape;379;p22"/>
          <p:cNvSpPr/>
          <p:nvPr/>
        </p:nvSpPr>
        <p:spPr>
          <a:xfrm>
            <a:off x="2028479" y="5834754"/>
            <a:ext cx="8196900" cy="521766"/>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800" b="0" i="0" u="none" strike="noStrike" cap="none" dirty="0">
                <a:solidFill>
                  <a:schemeClr val="dk1"/>
                </a:solidFill>
                <a:latin typeface="Calibri"/>
                <a:ea typeface="Calibri"/>
                <a:cs typeface="Calibri"/>
                <a:sym typeface="Calibri"/>
              </a:rPr>
              <a:t>Draw a 2D vehicles</a:t>
            </a:r>
            <a:endParaRPr sz="2800" b="0" i="0" u="none" strike="noStrike" cap="none" dirty="0">
              <a:solidFill>
                <a:srgbClr val="000000"/>
              </a:solidFill>
              <a:latin typeface="Arial"/>
              <a:ea typeface="Arial"/>
              <a:cs typeface="Arial"/>
              <a:sym typeface="Arial"/>
            </a:endParaRPr>
          </a:p>
        </p:txBody>
      </p:sp>
      <p:sp>
        <p:nvSpPr>
          <p:cNvPr id="381" name="Google Shape;381;p22"/>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D5E8DBA1-F6C0-4C39-9A6B-D4D1BBEEC5A1}" type="datetime1">
              <a:rPr lang="en-US" smtClean="0"/>
              <a:t>12/23/2025</a:t>
            </a:fld>
            <a:endParaRPr/>
          </a:p>
        </p:txBody>
      </p:sp>
      <p:pic>
        <p:nvPicPr>
          <p:cNvPr id="1026" name="Picture 2" descr="2d Car Png - 2d Cars, transparent png download">
            <a:extLst>
              <a:ext uri="{FF2B5EF4-FFF2-40B4-BE49-F238E27FC236}">
                <a16:creationId xmlns:a16="http://schemas.microsoft.com/office/drawing/2014/main" id="{C7845CBE-09D9-4D3B-87CB-A51BF4D179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0913" y="1165551"/>
            <a:ext cx="4810174" cy="4526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323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2"/>
          <p:cNvSpPr txBox="1">
            <a:spLocks noGrp="1"/>
          </p:cNvSpPr>
          <p:nvPr>
            <p:ph type="title"/>
          </p:nvPr>
        </p:nvSpPr>
        <p:spPr>
          <a:xfrm>
            <a:off x="838380" y="446544"/>
            <a:ext cx="10515240" cy="82609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dirty="0">
                <a:solidFill>
                  <a:schemeClr val="dk1"/>
                </a:solidFill>
                <a:latin typeface="Calibri"/>
                <a:ea typeface="Calibri"/>
                <a:cs typeface="Calibri"/>
                <a:sym typeface="Calibri"/>
              </a:rPr>
              <a:t>Assignment (A2)</a:t>
            </a:r>
            <a:endParaRPr sz="4400" b="0" strike="noStrike" dirty="0">
              <a:solidFill>
                <a:schemeClr val="dk1"/>
              </a:solidFill>
              <a:latin typeface="Calibri"/>
              <a:ea typeface="Calibri"/>
              <a:cs typeface="Calibri"/>
              <a:sym typeface="Calibri"/>
            </a:endParaRPr>
          </a:p>
        </p:txBody>
      </p:sp>
      <p:sp>
        <p:nvSpPr>
          <p:cNvPr id="379" name="Google Shape;379;p22"/>
          <p:cNvSpPr/>
          <p:nvPr/>
        </p:nvSpPr>
        <p:spPr>
          <a:xfrm>
            <a:off x="1997250" y="6017094"/>
            <a:ext cx="8196900" cy="521766"/>
          </a:xfrm>
          <a:prstGeom prst="rect">
            <a:avLst/>
          </a:prstGeom>
          <a:noFill/>
          <a:ln>
            <a:noFill/>
          </a:ln>
        </p:spPr>
        <p:txBody>
          <a:bodyPr spcFirstLastPara="1" wrap="square" lIns="90000" tIns="45000" rIns="90000" bIns="45000" anchor="t" anchorCtr="0">
            <a:spAutoFit/>
          </a:bodyPr>
          <a:lstStyle/>
          <a:p>
            <a:pPr marL="0" marR="0" lvl="0" indent="0" algn="ctr" rtl="0">
              <a:lnSpc>
                <a:spcPct val="100000"/>
              </a:lnSpc>
              <a:spcBef>
                <a:spcPts val="0"/>
              </a:spcBef>
              <a:spcAft>
                <a:spcPts val="0"/>
              </a:spcAft>
              <a:buNone/>
            </a:pPr>
            <a:r>
              <a:rPr lang="en-US" sz="2800" b="0" i="0" u="none" strike="noStrike" cap="none" dirty="0">
                <a:solidFill>
                  <a:schemeClr val="dk1"/>
                </a:solidFill>
                <a:latin typeface="Calibri"/>
                <a:ea typeface="Calibri"/>
                <a:cs typeface="Calibri"/>
                <a:sym typeface="Calibri"/>
              </a:rPr>
              <a:t>Draw a 2D </a:t>
            </a:r>
            <a:r>
              <a:rPr lang="en-US" sz="2800" dirty="0">
                <a:solidFill>
                  <a:schemeClr val="dk1"/>
                </a:solidFill>
                <a:latin typeface="Calibri"/>
                <a:ea typeface="Calibri"/>
                <a:cs typeface="Calibri"/>
                <a:sym typeface="Calibri"/>
              </a:rPr>
              <a:t>water</a:t>
            </a:r>
            <a:r>
              <a:rPr lang="en-US" sz="2800" b="0" i="0" u="none" strike="noStrike" cap="none" dirty="0">
                <a:solidFill>
                  <a:schemeClr val="dk1"/>
                </a:solidFill>
                <a:latin typeface="Calibri"/>
                <a:ea typeface="Calibri"/>
                <a:cs typeface="Calibri"/>
                <a:sym typeface="Calibri"/>
              </a:rPr>
              <a:t> vehicles</a:t>
            </a:r>
            <a:endParaRPr sz="2800" b="0" i="0" u="none" strike="noStrike" cap="none" dirty="0">
              <a:solidFill>
                <a:srgbClr val="000000"/>
              </a:solidFill>
              <a:latin typeface="Arial"/>
              <a:ea typeface="Arial"/>
              <a:cs typeface="Arial"/>
              <a:sym typeface="Arial"/>
            </a:endParaRPr>
          </a:p>
        </p:txBody>
      </p:sp>
      <p:sp>
        <p:nvSpPr>
          <p:cNvPr id="381" name="Google Shape;381;p22"/>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D5E8DBA1-F6C0-4C39-9A6B-D4D1BBEEC5A1}" type="datetime1">
              <a:rPr lang="en-US" smtClean="0"/>
              <a:t>12/23/2025</a:t>
            </a:fld>
            <a:endParaRPr/>
          </a:p>
        </p:txBody>
      </p:sp>
      <p:pic>
        <p:nvPicPr>
          <p:cNvPr id="2050" name="Picture 2" descr="No photo description available.">
            <a:extLst>
              <a:ext uri="{FF2B5EF4-FFF2-40B4-BE49-F238E27FC236}">
                <a16:creationId xmlns:a16="http://schemas.microsoft.com/office/drawing/2014/main" id="{17D9BC1B-6A4D-417A-9130-DDD0B12B3F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859" b="26598"/>
          <a:stretch/>
        </p:blipFill>
        <p:spPr bwMode="auto">
          <a:xfrm>
            <a:off x="3126556" y="1558186"/>
            <a:ext cx="5486400" cy="4289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1377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3"/>
          <p:cNvSpPr txBox="1">
            <a:spLocks noGrp="1"/>
          </p:cNvSpPr>
          <p:nvPr>
            <p:ph type="title"/>
          </p:nvPr>
        </p:nvSpPr>
        <p:spPr>
          <a:xfrm>
            <a:off x="838080" y="365040"/>
            <a:ext cx="10515240" cy="13251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strike="noStrike">
                <a:solidFill>
                  <a:schemeClr val="dk1"/>
                </a:solidFill>
                <a:latin typeface="Calibri"/>
                <a:ea typeface="Calibri"/>
                <a:cs typeface="Calibri"/>
                <a:sym typeface="Calibri"/>
              </a:rPr>
              <a:t>References</a:t>
            </a:r>
            <a:endParaRPr sz="4400" b="0" strike="noStrike">
              <a:solidFill>
                <a:schemeClr val="dk1"/>
              </a:solidFill>
              <a:latin typeface="Calibri"/>
              <a:ea typeface="Calibri"/>
              <a:cs typeface="Calibri"/>
              <a:sym typeface="Calibri"/>
            </a:endParaRPr>
          </a:p>
        </p:txBody>
      </p:sp>
      <p:sp>
        <p:nvSpPr>
          <p:cNvPr id="390" name="Google Shape;390;p23"/>
          <p:cNvSpPr txBox="1">
            <a:spLocks noGrp="1"/>
          </p:cNvSpPr>
          <p:nvPr>
            <p:ph type="body" idx="1"/>
          </p:nvPr>
        </p:nvSpPr>
        <p:spPr>
          <a:xfrm>
            <a:off x="838080" y="1825560"/>
            <a:ext cx="10515240" cy="435096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0000"/>
              </a:buClr>
              <a:buSzPts val="2800"/>
              <a:buFont typeface="Arial"/>
              <a:buChar char="•"/>
            </a:pPr>
            <a:r>
              <a:rPr lang="en-US" sz="2800" b="0" i="0" u="sng" strike="noStrike" cap="non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https://www.khronos.org/opengl/wiki/Primitive</a:t>
            </a:r>
            <a:endParaRPr sz="2800" b="0" i="0" u="none" strike="noStrike" cap="none">
              <a:solidFill>
                <a:schemeClr val="dk1"/>
              </a:solidFill>
              <a:latin typeface="Calibri"/>
              <a:ea typeface="Calibri"/>
              <a:cs typeface="Calibri"/>
              <a:sym typeface="Calibri"/>
            </a:endParaRPr>
          </a:p>
          <a:p>
            <a:pPr marL="228600" marR="0" lvl="0" indent="-228600" algn="l" rtl="0">
              <a:lnSpc>
                <a:spcPct val="90000"/>
              </a:lnSpc>
              <a:spcBef>
                <a:spcPts val="1001"/>
              </a:spcBef>
              <a:spcAft>
                <a:spcPts val="0"/>
              </a:spcAft>
              <a:buClr>
                <a:srgbClr val="000000"/>
              </a:buClr>
              <a:buSzPts val="2800"/>
              <a:buFont typeface="Arial"/>
              <a:buChar char="•"/>
            </a:pPr>
            <a:r>
              <a:rPr lang="en-US" sz="2800" b="0" i="0" u="sng" strike="noStrike" cap="non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https://www.brainvoyager.com/bv/doc/UsersGuide/CoordsAndTransforms/SpatialTransformationMatrices.html</a:t>
            </a:r>
            <a:endParaRPr sz="2800" b="0" i="0" u="none" strike="noStrike" cap="none">
              <a:solidFill>
                <a:schemeClr val="dk1"/>
              </a:solidFill>
              <a:latin typeface="Calibri"/>
              <a:ea typeface="Calibri"/>
              <a:cs typeface="Calibri"/>
              <a:sym typeface="Calibri"/>
            </a:endParaRPr>
          </a:p>
          <a:p>
            <a:pPr marL="228600" marR="0" lvl="0" indent="-228600" algn="l" rtl="0">
              <a:lnSpc>
                <a:spcPct val="90000"/>
              </a:lnSpc>
              <a:spcBef>
                <a:spcPts val="1001"/>
              </a:spcBef>
              <a:spcAft>
                <a:spcPts val="0"/>
              </a:spcAft>
              <a:buClr>
                <a:srgbClr val="000000"/>
              </a:buClr>
              <a:buSzPts val="2800"/>
              <a:buFont typeface="Arial"/>
              <a:buChar char="•"/>
            </a:pPr>
            <a:r>
              <a:rPr lang="en-US" sz="2800" b="0" i="0" u="sng" strike="noStrike" cap="non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https://byjusexamprep.com/transformation-in-computer-graphics-i</a:t>
            </a:r>
            <a:endParaRPr sz="2800" b="0" i="0" u="none" strike="noStrike" cap="none">
              <a:solidFill>
                <a:schemeClr val="dk1"/>
              </a:solidFill>
              <a:latin typeface="Calibri"/>
              <a:ea typeface="Calibri"/>
              <a:cs typeface="Calibri"/>
              <a:sym typeface="Calibri"/>
            </a:endParaRPr>
          </a:p>
          <a:p>
            <a:pPr marL="228600" marR="0" lvl="0" indent="-228600" algn="l" rtl="0">
              <a:lnSpc>
                <a:spcPct val="90000"/>
              </a:lnSpc>
              <a:spcBef>
                <a:spcPts val="1001"/>
              </a:spcBef>
              <a:spcAft>
                <a:spcPts val="0"/>
              </a:spcAft>
              <a:buClr>
                <a:srgbClr val="000000"/>
              </a:buClr>
              <a:buSzPts val="2800"/>
              <a:buFont typeface="Arial"/>
              <a:buChar char="•"/>
            </a:pPr>
            <a:r>
              <a:rPr lang="en-US" sz="2800" b="0" i="0" u="sng" strike="noStrike" cap="non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https://www.euclideanspace.com/maths/geometry/affine/matrix4x4/index.htm</a:t>
            </a:r>
            <a:endParaRPr sz="2800" b="0" i="0" u="none" strike="noStrike" cap="none">
              <a:solidFill>
                <a:schemeClr val="dk1"/>
              </a:solidFill>
              <a:latin typeface="Calibri"/>
              <a:ea typeface="Calibri"/>
              <a:cs typeface="Calibri"/>
              <a:sym typeface="Calibri"/>
            </a:endParaRPr>
          </a:p>
          <a:p>
            <a:pPr marL="0" marR="0" lvl="0" indent="0" algn="l" rtl="0">
              <a:lnSpc>
                <a:spcPct val="90000"/>
              </a:lnSpc>
              <a:spcBef>
                <a:spcPts val="1001"/>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a:p>
            <a:pPr marL="0" marR="0" lvl="0" indent="0" algn="l" rtl="0">
              <a:lnSpc>
                <a:spcPct val="90000"/>
              </a:lnSpc>
              <a:spcBef>
                <a:spcPts val="1001"/>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p:txBody>
      </p:sp>
      <p:sp>
        <p:nvSpPr>
          <p:cNvPr id="392" name="Google Shape;392;p23"/>
          <p:cNvSpPr txBox="1">
            <a:spLocks noGrp="1"/>
          </p:cNvSpPr>
          <p:nvPr>
            <p:ph type="dt" idx="10"/>
          </p:nvPr>
        </p:nvSpPr>
        <p:spPr>
          <a:xfrm>
            <a:off x="838080" y="6356520"/>
            <a:ext cx="2742840" cy="36468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600"/>
              <a:buFont typeface="Calibri"/>
              <a:buNone/>
            </a:pPr>
            <a:fld id="{48DB5090-BE3D-4E5F-BE5A-4C88084A5B2C}" type="datetime1">
              <a:rPr lang="en-US" smtClean="0"/>
              <a:t>12/23/2025</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867</Words>
  <Application>Microsoft Office PowerPoint</Application>
  <PresentationFormat>Widescreen</PresentationFormat>
  <Paragraphs>146</Paragraphs>
  <Slides>25</Slides>
  <Notes>25</Notes>
  <HiddenSlides>4</HiddenSlides>
  <MMClips>0</MMClips>
  <ScaleCrop>false</ScaleCrop>
  <HeadingPairs>
    <vt:vector size="6" baseType="variant">
      <vt:variant>
        <vt:lpstr>Fonts Used</vt:lpstr>
      </vt:variant>
      <vt:variant>
        <vt:i4>4</vt:i4>
      </vt:variant>
      <vt:variant>
        <vt:lpstr>Theme</vt:lpstr>
      </vt:variant>
      <vt:variant>
        <vt:i4>11</vt:i4>
      </vt:variant>
      <vt:variant>
        <vt:lpstr>Slide Titles</vt:lpstr>
      </vt:variant>
      <vt:variant>
        <vt:i4>25</vt:i4>
      </vt:variant>
    </vt:vector>
  </HeadingPairs>
  <TitlesOfParts>
    <vt:vector size="40" baseType="lpstr">
      <vt:lpstr>Arial</vt:lpstr>
      <vt:lpstr>Calibri</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2D object creation and applying transformations</vt:lpstr>
      <vt:lpstr>What you will see today</vt:lpstr>
      <vt:lpstr>OpenGL Primitives</vt:lpstr>
      <vt:lpstr>OpenGL Primitives</vt:lpstr>
      <vt:lpstr>OpenGL Primitives : Point primitives</vt:lpstr>
      <vt:lpstr>OpenGL Primitives : Line primitives</vt:lpstr>
      <vt:lpstr>OpenGL Primitives : Line primitives</vt:lpstr>
      <vt:lpstr>OpenGL Primitives : Line primitives</vt:lpstr>
      <vt:lpstr>OpenGL Primitives : Line primitives</vt:lpstr>
      <vt:lpstr>OpenGL Primitives : Line primitives</vt:lpstr>
      <vt:lpstr>OpenGL Primitives : Line primitives</vt:lpstr>
      <vt:lpstr>OpenGL Primitives : Triangle primitives</vt:lpstr>
      <vt:lpstr>OpenGL Primitives : Triangle primitives</vt:lpstr>
      <vt:lpstr>OpenGL Primitives : Triangle primitives</vt:lpstr>
      <vt:lpstr>OpenGL Primitives : Triangle primitives</vt:lpstr>
      <vt:lpstr>OpenGL Primitives : Triangle primitives</vt:lpstr>
      <vt:lpstr>OpenGL Primitives : Triangle primitives</vt:lpstr>
      <vt:lpstr>2D Transformation : Translation</vt:lpstr>
      <vt:lpstr>2D Transformation : Scaling</vt:lpstr>
      <vt:lpstr>2D Transformation : Rotation</vt:lpstr>
      <vt:lpstr>Lab Task</vt:lpstr>
      <vt:lpstr>Assignment (B)</vt:lpstr>
      <vt:lpstr>Assignment (A1)</vt:lpstr>
      <vt:lpstr>Assignment (A2)</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2D object creation and applying transformations</dc:title>
  <dc:creator>Nazirul Hasan</dc:creator>
  <cp:lastModifiedBy>Tajmilur</cp:lastModifiedBy>
  <cp:revision>10</cp:revision>
  <dcterms:created xsi:type="dcterms:W3CDTF">2023-08-29T09:25:23Z</dcterms:created>
  <dcterms:modified xsi:type="dcterms:W3CDTF">2025-12-23T04:52:01Z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14</vt:i4>
  </property>
  <property fmtid="{D5CDD505-2E9C-101B-9397-08002B2CF9AE}" pid="3" name="PresentationFormat">
    <vt:lpwstr>Widescreen</vt:lpwstr>
  </property>
  <property fmtid="{D5CDD505-2E9C-101B-9397-08002B2CF9AE}" pid="4" name="Slides">
    <vt:i4>23</vt:i4>
  </property>
</Properties>
</file>