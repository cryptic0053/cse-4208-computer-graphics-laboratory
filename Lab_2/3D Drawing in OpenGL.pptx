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84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85" r:id="rId28"/>
    <p:sldId id="286" r:id="rId29"/>
    <p:sldId id="287" r:id="rId30"/>
    <p:sldId id="271" r:id="rId31"/>
    <p:sldId id="272" r:id="rId32"/>
    <p:sldId id="273" r:id="rId33"/>
    <p:sldId id="289" r:id="rId34"/>
    <p:sldId id="292" r:id="rId35"/>
    <p:sldId id="290" r:id="rId36"/>
    <p:sldId id="291" r:id="rId37"/>
    <p:sldId id="281" r:id="rId38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presProps" Target="presProps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C9B57A8-6D29-4661-99C0-4B96D373F0C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C52A368-56B1-4B84-86CA-75CCA11A402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FC854262-D6FC-4E3C-81B9-AE627E62E6C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BE5CB19-AB87-4266-95E1-4F0A9DF8223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73B777A9-A324-4DD9-A1CD-FF56ECBE5C0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929C7144-CF22-4EDA-86F1-2B64D8F0EF1C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E3D6C7A8-217C-4B74-B600-9DC88142F61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1A4F6EB6-1864-469A-892B-1F53AD75F16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205C02-4190-4B48-9DEB-1E731E40505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19B13CF5-8420-45CC-A1D5-EA61B6E641E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BE2E97E1-B6EA-4468-8A4A-6B81C1026B3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/>
          <p:cNvPicPr/>
          <p:nvPr/>
        </p:nvPicPr>
        <p:blipFill>
          <a:blip r:embed="rId3"/>
          <a:stretch/>
        </p:blipFill>
        <p:spPr>
          <a:xfrm>
            <a:off x="838080" y="6074280"/>
            <a:ext cx="1409400" cy="783360"/>
          </a:xfrm>
          <a:prstGeom prst="rect">
            <a:avLst/>
          </a:prstGeom>
          <a:ln w="0">
            <a:noFill/>
          </a:ln>
        </p:spPr>
      </p:pic>
      <p:pic>
        <p:nvPicPr>
          <p:cNvPr id="8" name="Picture 10"/>
          <p:cNvPicPr/>
          <p:nvPr/>
        </p:nvPicPr>
        <p:blipFill>
          <a:blip r:embed="rId4"/>
          <a:stretch/>
        </p:blipFill>
        <p:spPr>
          <a:xfrm>
            <a:off x="694440" y="462600"/>
            <a:ext cx="1042560" cy="118332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5593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120492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AE99C8-822C-4A09-96E9-EEB85EA79398}" type="slidenum"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/>
          <p:nvPr/>
        </p:nvPicPr>
        <p:blipFill>
          <a:blip r:embed="rId3"/>
          <a:stretch/>
        </p:blipFill>
        <p:spPr>
          <a:xfrm>
            <a:off x="838080" y="6074280"/>
            <a:ext cx="1409400" cy="783360"/>
          </a:xfrm>
          <a:prstGeom prst="rect">
            <a:avLst/>
          </a:prstGeom>
          <a:ln w="0">
            <a:noFill/>
          </a:ln>
        </p:spPr>
      </p:pic>
      <p:pic>
        <p:nvPicPr>
          <p:cNvPr id="10" name="Picture 10"/>
          <p:cNvPicPr/>
          <p:nvPr/>
        </p:nvPicPr>
        <p:blipFill>
          <a:blip r:embed="rId4"/>
          <a:stretch/>
        </p:blipFill>
        <p:spPr>
          <a:xfrm>
            <a:off x="694440" y="462600"/>
            <a:ext cx="1042560" cy="118332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5593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120492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A70A05-9A9F-4BEF-85EB-54326AD5FB04}" type="slidenum"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8"/>
          <p:cNvPicPr/>
          <p:nvPr/>
        </p:nvPicPr>
        <p:blipFill>
          <a:blip r:embed="rId3"/>
          <a:stretch/>
        </p:blipFill>
        <p:spPr>
          <a:xfrm>
            <a:off x="838080" y="6074280"/>
            <a:ext cx="1409400" cy="783360"/>
          </a:xfrm>
          <a:prstGeom prst="rect">
            <a:avLst/>
          </a:prstGeom>
          <a:ln w="0">
            <a:noFill/>
          </a:ln>
        </p:spPr>
      </p:pic>
      <p:pic>
        <p:nvPicPr>
          <p:cNvPr id="17" name="Picture 10"/>
          <p:cNvPicPr/>
          <p:nvPr/>
        </p:nvPicPr>
        <p:blipFill>
          <a:blip r:embed="rId4"/>
          <a:stretch/>
        </p:blipFill>
        <p:spPr>
          <a:xfrm>
            <a:off x="694440" y="462600"/>
            <a:ext cx="1042560" cy="118332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dt" idx="7"/>
          </p:nvPr>
        </p:nvSpPr>
        <p:spPr>
          <a:xfrm>
            <a:off x="5593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8"/>
          </p:nvPr>
        </p:nvSpPr>
        <p:spPr>
          <a:xfrm>
            <a:off x="120492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2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61AB73-4F92-415D-8477-E53C128E4524}" type="slidenum"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8"/>
          <p:cNvPicPr/>
          <p:nvPr/>
        </p:nvPicPr>
        <p:blipFill>
          <a:blip r:embed="rId3"/>
          <a:stretch/>
        </p:blipFill>
        <p:spPr>
          <a:xfrm>
            <a:off x="838080" y="6074280"/>
            <a:ext cx="1409400" cy="783360"/>
          </a:xfrm>
          <a:prstGeom prst="rect">
            <a:avLst/>
          </a:prstGeom>
          <a:ln w="0">
            <a:noFill/>
          </a:ln>
        </p:spPr>
      </p:pic>
      <p:pic>
        <p:nvPicPr>
          <p:cNvPr id="24" name="Picture 10"/>
          <p:cNvPicPr/>
          <p:nvPr/>
        </p:nvPicPr>
        <p:blipFill>
          <a:blip r:embed="rId4"/>
          <a:stretch/>
        </p:blipFill>
        <p:spPr>
          <a:xfrm>
            <a:off x="694440" y="462600"/>
            <a:ext cx="1042560" cy="1183320"/>
          </a:xfrm>
          <a:prstGeom prst="rect">
            <a:avLst/>
          </a:prstGeom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115075-79D1-4A1C-91FA-65DA1E06A209}" type="slidenum"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8"/>
          <p:cNvPicPr/>
          <p:nvPr/>
        </p:nvPicPr>
        <p:blipFill>
          <a:blip r:embed="rId3"/>
          <a:stretch/>
        </p:blipFill>
        <p:spPr>
          <a:xfrm>
            <a:off x="838080" y="6074280"/>
            <a:ext cx="1409400" cy="783360"/>
          </a:xfrm>
          <a:prstGeom prst="rect">
            <a:avLst/>
          </a:prstGeom>
          <a:ln w="0">
            <a:noFill/>
          </a:ln>
        </p:spPr>
      </p:pic>
      <p:pic>
        <p:nvPicPr>
          <p:cNvPr id="33" name="Picture 10"/>
          <p:cNvPicPr/>
          <p:nvPr/>
        </p:nvPicPr>
        <p:blipFill>
          <a:blip r:embed="rId4"/>
          <a:stretch/>
        </p:blipFill>
        <p:spPr>
          <a:xfrm>
            <a:off x="694440" y="462600"/>
            <a:ext cx="1042560" cy="1183320"/>
          </a:xfrm>
          <a:prstGeom prst="rect">
            <a:avLst/>
          </a:prstGeom>
          <a:ln w="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3"/>
          </p:nvPr>
        </p:nvSpPr>
        <p:spPr>
          <a:xfrm>
            <a:off x="5593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14"/>
          </p:nvPr>
        </p:nvSpPr>
        <p:spPr>
          <a:xfrm>
            <a:off x="120492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DBDD89-9176-4846-AC33-479C1AAFCF27}" type="slidenum"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8"/>
          <p:cNvPicPr/>
          <p:nvPr/>
        </p:nvPicPr>
        <p:blipFill>
          <a:blip r:embed="rId3"/>
          <a:stretch/>
        </p:blipFill>
        <p:spPr>
          <a:xfrm>
            <a:off x="838080" y="6074280"/>
            <a:ext cx="1409400" cy="783360"/>
          </a:xfrm>
          <a:prstGeom prst="rect">
            <a:avLst/>
          </a:prstGeom>
          <a:ln w="0">
            <a:noFill/>
          </a:ln>
        </p:spPr>
      </p:pic>
      <p:pic>
        <p:nvPicPr>
          <p:cNvPr id="40" name="Picture 10"/>
          <p:cNvPicPr/>
          <p:nvPr/>
        </p:nvPicPr>
        <p:blipFill>
          <a:blip r:embed="rId4"/>
          <a:stretch/>
        </p:blipFill>
        <p:spPr>
          <a:xfrm>
            <a:off x="694440" y="462600"/>
            <a:ext cx="1042560" cy="118332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dt" idx="16"/>
          </p:nvPr>
        </p:nvSpPr>
        <p:spPr>
          <a:xfrm>
            <a:off x="5593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17"/>
          </p:nvPr>
        </p:nvSpPr>
        <p:spPr>
          <a:xfrm>
            <a:off x="120492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6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D8BCE5-6913-496A-8B0D-FC2A856A2146}" type="slidenum"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8"/>
          <p:cNvPicPr/>
          <p:nvPr/>
        </p:nvPicPr>
        <p:blipFill>
          <a:blip r:embed="rId3"/>
          <a:stretch/>
        </p:blipFill>
        <p:spPr>
          <a:xfrm>
            <a:off x="838080" y="6074280"/>
            <a:ext cx="1409400" cy="783360"/>
          </a:xfrm>
          <a:prstGeom prst="rect">
            <a:avLst/>
          </a:prstGeom>
          <a:ln w="0">
            <a:noFill/>
          </a:ln>
        </p:spPr>
      </p:pic>
      <p:pic>
        <p:nvPicPr>
          <p:cNvPr id="51" name="Picture 10"/>
          <p:cNvPicPr/>
          <p:nvPr/>
        </p:nvPicPr>
        <p:blipFill>
          <a:blip r:embed="rId4"/>
          <a:stretch/>
        </p:blipFill>
        <p:spPr>
          <a:xfrm>
            <a:off x="694440" y="462600"/>
            <a:ext cx="1042560" cy="1183320"/>
          </a:xfrm>
          <a:prstGeom prst="rect">
            <a:avLst/>
          </a:prstGeom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57" name="PlaceHolder 6"/>
          <p:cNvSpPr>
            <a:spLocks noGrp="1"/>
          </p:cNvSpPr>
          <p:nvPr>
            <p:ph type="dt" idx="19"/>
          </p:nvPr>
        </p:nvSpPr>
        <p:spPr>
          <a:xfrm>
            <a:off x="5593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ftr" idx="20"/>
          </p:nvPr>
        </p:nvSpPr>
        <p:spPr>
          <a:xfrm>
            <a:off x="120492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96ABE7-59AB-4DFE-B524-5E49AA89B67D}" type="slidenum"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8"/>
          <p:cNvPicPr/>
          <p:nvPr/>
        </p:nvPicPr>
        <p:blipFill>
          <a:blip r:embed="rId3"/>
          <a:stretch/>
        </p:blipFill>
        <p:spPr>
          <a:xfrm>
            <a:off x="838080" y="6074280"/>
            <a:ext cx="1409400" cy="783360"/>
          </a:xfrm>
          <a:prstGeom prst="rect">
            <a:avLst/>
          </a:prstGeom>
          <a:ln w="0">
            <a:noFill/>
          </a:ln>
        </p:spPr>
      </p:pic>
      <p:pic>
        <p:nvPicPr>
          <p:cNvPr id="61" name="Picture 10"/>
          <p:cNvPicPr/>
          <p:nvPr/>
        </p:nvPicPr>
        <p:blipFill>
          <a:blip r:embed="rId4"/>
          <a:stretch/>
        </p:blipFill>
        <p:spPr>
          <a:xfrm>
            <a:off x="694440" y="462600"/>
            <a:ext cx="1042560" cy="1183320"/>
          </a:xfrm>
          <a:prstGeom prst="rect">
            <a:avLst/>
          </a:prstGeom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dt" idx="22"/>
          </p:nvPr>
        </p:nvSpPr>
        <p:spPr>
          <a:xfrm>
            <a:off x="5593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ftr" idx="23"/>
          </p:nvPr>
        </p:nvSpPr>
        <p:spPr>
          <a:xfrm>
            <a:off x="120492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5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7451A7-B652-4159-A9C8-FAADFB554890}" type="slidenum"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8"/>
          <p:cNvPicPr/>
          <p:nvPr/>
        </p:nvPicPr>
        <p:blipFill>
          <a:blip r:embed="rId3"/>
          <a:stretch/>
        </p:blipFill>
        <p:spPr>
          <a:xfrm>
            <a:off x="838080" y="6074280"/>
            <a:ext cx="1409400" cy="783360"/>
          </a:xfrm>
          <a:prstGeom prst="rect">
            <a:avLst/>
          </a:prstGeom>
          <a:ln w="0">
            <a:noFill/>
          </a:ln>
        </p:spPr>
      </p:pic>
      <p:pic>
        <p:nvPicPr>
          <p:cNvPr id="68" name="Picture 10"/>
          <p:cNvPicPr/>
          <p:nvPr/>
        </p:nvPicPr>
        <p:blipFill>
          <a:blip r:embed="rId4"/>
          <a:stretch/>
        </p:blipFill>
        <p:spPr>
          <a:xfrm>
            <a:off x="694440" y="462600"/>
            <a:ext cx="1042560" cy="1183320"/>
          </a:xfrm>
          <a:prstGeom prst="rect">
            <a:avLst/>
          </a:prstGeom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dt" idx="25"/>
          </p:nvPr>
        </p:nvSpPr>
        <p:spPr>
          <a:xfrm>
            <a:off x="5593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ftr" idx="26"/>
          </p:nvPr>
        </p:nvSpPr>
        <p:spPr>
          <a:xfrm>
            <a:off x="120492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1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48CA7A-522D-4743-9951-2CC69FB6E07B}" type="slidenum"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8"/>
          <p:cNvPicPr/>
          <p:nvPr/>
        </p:nvPicPr>
        <p:blipFill>
          <a:blip r:embed="rId3"/>
          <a:stretch/>
        </p:blipFill>
        <p:spPr>
          <a:xfrm>
            <a:off x="838080" y="6074280"/>
            <a:ext cx="1409400" cy="783360"/>
          </a:xfrm>
          <a:prstGeom prst="rect">
            <a:avLst/>
          </a:prstGeom>
          <a:ln w="0">
            <a:noFill/>
          </a:ln>
        </p:spPr>
      </p:pic>
      <p:pic>
        <p:nvPicPr>
          <p:cNvPr id="73" name="Picture 10"/>
          <p:cNvPicPr/>
          <p:nvPr/>
        </p:nvPicPr>
        <p:blipFill>
          <a:blip r:embed="rId4"/>
          <a:stretch/>
        </p:blipFill>
        <p:spPr>
          <a:xfrm>
            <a:off x="694440" y="462600"/>
            <a:ext cx="1042560" cy="1183320"/>
          </a:xfrm>
          <a:prstGeom prst="rect">
            <a:avLst/>
          </a:prstGeom>
          <a:ln w="0">
            <a:noFill/>
          </a:ln>
        </p:spPr>
      </p:pic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</p:txBody>
      </p:sp>
      <p:sp>
        <p:nvSpPr>
          <p:cNvPr id="77" name="PlaceHolder 4"/>
          <p:cNvSpPr>
            <a:spLocks noGrp="1"/>
          </p:cNvSpPr>
          <p:nvPr>
            <p:ph type="dt" idx="28"/>
          </p:nvPr>
        </p:nvSpPr>
        <p:spPr>
          <a:xfrm>
            <a:off x="5593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ftr" idx="29"/>
          </p:nvPr>
        </p:nvSpPr>
        <p:spPr>
          <a:xfrm>
            <a:off x="120492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01D4BF-80AC-41BB-8375-7256489FAE3E}" type="slidenum"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8"/>
          <p:cNvPicPr/>
          <p:nvPr/>
        </p:nvPicPr>
        <p:blipFill>
          <a:blip r:embed="rId3"/>
          <a:stretch/>
        </p:blipFill>
        <p:spPr>
          <a:xfrm>
            <a:off x="838080" y="6074280"/>
            <a:ext cx="1409400" cy="783360"/>
          </a:xfrm>
          <a:prstGeom prst="rect">
            <a:avLst/>
          </a:prstGeom>
          <a:ln w="0">
            <a:noFill/>
          </a:ln>
        </p:spPr>
      </p:pic>
      <p:pic>
        <p:nvPicPr>
          <p:cNvPr id="81" name="Picture 10"/>
          <p:cNvPicPr/>
          <p:nvPr/>
        </p:nvPicPr>
        <p:blipFill>
          <a:blip r:embed="rId4"/>
          <a:stretch/>
        </p:blipFill>
        <p:spPr>
          <a:xfrm>
            <a:off x="694440" y="462600"/>
            <a:ext cx="1042560" cy="1183320"/>
          </a:xfrm>
          <a:prstGeom prst="rect">
            <a:avLst/>
          </a:prstGeom>
          <a:ln w="0">
            <a:noFill/>
          </a:ln>
        </p:spPr>
      </p:pic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 idx="31"/>
          </p:nvPr>
        </p:nvSpPr>
        <p:spPr>
          <a:xfrm>
            <a:off x="5593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32"/>
          </p:nvPr>
        </p:nvSpPr>
        <p:spPr>
          <a:xfrm>
            <a:off x="120492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2D7D1F-0E3F-4E4F-92F8-598FFBCE1424}" type="slidenum"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edev.stackexchange.com/questions/120338/what-does-a-perspective-projection-matrix-look-like-in-opengl" TargetMode="External"/><Relationship Id="rId2" Type="http://schemas.openxmlformats.org/officeDocument/2006/relationships/hyperlink" Target="https://learnopengl.com/Getting-started/Coordinate-Systems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geeksforgeeks.org/window-to-viewport-transformation-in-computer-graphics-with-implementa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757880" y="0"/>
            <a:ext cx="8676000" cy="32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Calibri Light"/>
              </a:rPr>
              <a:t>3D object creation and applying transformations</a:t>
            </a:r>
            <a:endParaRPr lang="en-U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2201760" y="3879130"/>
            <a:ext cx="389412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Dr. Sk. Md. </a:t>
            </a:r>
            <a:r>
              <a:rPr lang="en-US" sz="2400" b="0" strike="noStrike" spc="-1" dirty="0" err="1">
                <a:solidFill>
                  <a:schemeClr val="dk1"/>
                </a:solidFill>
                <a:latin typeface="Calibri"/>
              </a:rPr>
              <a:t>Masudul</a:t>
            </a: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 Ahsan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Professor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CSE, KUET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ubtitle 2"/>
          <p:cNvSpPr/>
          <p:nvPr/>
        </p:nvSpPr>
        <p:spPr>
          <a:xfrm>
            <a:off x="7376160" y="3879130"/>
            <a:ext cx="3894120" cy="190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Md Tajmilur Rahman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Lecturer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CSE, KUET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141560" y="114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What you will see today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1141560" y="2019240"/>
            <a:ext cx="9905760" cy="3665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How to draw a 3D Object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Different Coordinate System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Camera/View Space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Orthogonal Projection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Perspective Projection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Viewport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DBE25D-F2CE-421F-92C5-391C7A7D30CB}" type="slidenum">
              <a:t>2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29EBCC1-C226-4DC7-BC41-65002A62E487}" type="datetime1">
              <a:rPr lang="en-GB"/>
              <a:t>14/01/2026</a:t>
            </a:fld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How to draw a 3D Object?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4" name="Picture 5"/>
          <p:cNvPicPr/>
          <p:nvPr/>
        </p:nvPicPr>
        <p:blipFill>
          <a:blip r:embed="rId2"/>
          <a:srcRect r="1849"/>
          <a:stretch/>
        </p:blipFill>
        <p:spPr>
          <a:xfrm>
            <a:off x="3040920" y="1690560"/>
            <a:ext cx="5996520" cy="43779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C57E38-D022-4079-AEB7-C09FA006DDE2}" type="slidenum">
              <a:t>3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9D30AA-C396-4B07-A376-F5D7160A8495}" type="datetime1">
              <a:rPr lang="en-GB"/>
              <a:t>14/01/2026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Different Coordinate System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6" name="Content Placeholder 5"/>
          <p:cNvPicPr/>
          <p:nvPr/>
        </p:nvPicPr>
        <p:blipFill>
          <a:blip r:embed="rId2"/>
          <a:stretch/>
        </p:blipFill>
        <p:spPr>
          <a:xfrm>
            <a:off x="2080440" y="1418400"/>
            <a:ext cx="8719560" cy="44755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480B90-303D-44C6-B813-36CB85066D4A}" type="slidenum">
              <a:t>4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911FDA0-E9EB-4FAF-BBD3-F333776ABEF4}" type="datetime1">
              <a:rPr lang="en-GB"/>
              <a:t>14/01/2026</a:t>
            </a:fld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281977" y="15762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 dirty="0">
                <a:solidFill>
                  <a:schemeClr val="dk1"/>
                </a:solidFill>
                <a:latin typeface="Calibri Light"/>
              </a:rPr>
              <a:t>Camera/ View Space</a:t>
            </a:r>
            <a:endParaRPr lang="en-US" sz="4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Specification: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P</a:t>
            </a:r>
            <a:r>
              <a:rPr lang="en-US" sz="1200" b="0" strike="noStrike" spc="-1" dirty="0">
                <a:solidFill>
                  <a:schemeClr val="dk1"/>
                </a:solidFill>
                <a:latin typeface="Calibri"/>
              </a:rPr>
              <a:t>0 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:</a:t>
            </a: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View or eye point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P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</a:rPr>
              <a:t>ref 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: Center or look at point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V : View-up vector plane</a:t>
            </a:r>
          </a:p>
        </p:txBody>
      </p:sp>
      <p:pic>
        <p:nvPicPr>
          <p:cNvPr id="99" name="Picture 5"/>
          <p:cNvPicPr/>
          <p:nvPr/>
        </p:nvPicPr>
        <p:blipFill>
          <a:blip r:embed="rId2"/>
          <a:stretch/>
        </p:blipFill>
        <p:spPr>
          <a:xfrm>
            <a:off x="7807617" y="681480"/>
            <a:ext cx="3924360" cy="43887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C4FC556-9ACD-491E-8E8D-6EBA68BDF57B}" type="slidenum">
              <a:t>5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0F5CDF-49E5-4DF7-85C8-F0D7544D156C}" type="datetime1">
              <a:rPr lang="en-GB"/>
              <a:t>14/01/2026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27CD54-B0ED-4041-9483-DAF88F551DAE}"/>
              </a:ext>
            </a:extLst>
          </p:cNvPr>
          <p:cNvSpPr txBox="1"/>
          <p:nvPr/>
        </p:nvSpPr>
        <p:spPr>
          <a:xfrm>
            <a:off x="927770" y="4444384"/>
            <a:ext cx="744323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::mat4 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lookAt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::vec3 eye,   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camera position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::vec3 direction,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looks at direction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::vec3 up     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camera's up direction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931668" y="136800"/>
            <a:ext cx="8595000" cy="805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 dirty="0">
                <a:solidFill>
                  <a:schemeClr val="dk1"/>
                </a:solidFill>
                <a:latin typeface="Calibri Light"/>
              </a:rPr>
              <a:t>Camera/View Space</a:t>
            </a:r>
            <a:endParaRPr lang="en-US" sz="4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Computation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 err="1">
                <a:solidFill>
                  <a:schemeClr val="dk1"/>
                </a:solidFill>
                <a:latin typeface="Calibri"/>
              </a:rPr>
              <a:t>Z</a:t>
            </a:r>
            <a:r>
              <a:rPr lang="en-US" sz="1800" b="0" strike="noStrike" spc="-1" dirty="0" err="1">
                <a:solidFill>
                  <a:schemeClr val="dk1"/>
                </a:solidFill>
                <a:latin typeface="Calibri"/>
              </a:rPr>
              <a:t>v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= N = P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0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 – P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ref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 err="1">
                <a:solidFill>
                  <a:schemeClr val="dk1"/>
                </a:solidFill>
                <a:latin typeface="Calibri"/>
              </a:rPr>
              <a:t>X</a:t>
            </a:r>
            <a:r>
              <a:rPr lang="en-US" sz="1800" b="0" strike="noStrike" spc="-1" dirty="0" err="1">
                <a:solidFill>
                  <a:schemeClr val="dk1"/>
                </a:solidFill>
                <a:latin typeface="Calibri"/>
              </a:rPr>
              <a:t>v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en-US" sz="3200" b="0" strike="noStrike" spc="-1" dirty="0">
                <a:solidFill>
                  <a:schemeClr val="dk1"/>
                </a:solidFill>
                <a:latin typeface="Calibri"/>
              </a:rPr>
              <a:t>= 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V × N = U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 err="1">
                <a:solidFill>
                  <a:schemeClr val="dk1"/>
                </a:solidFill>
                <a:latin typeface="Calibri"/>
              </a:rPr>
              <a:t>Y</a:t>
            </a:r>
            <a:r>
              <a:rPr lang="en-US" sz="1800" b="0" strike="noStrike" spc="-1" dirty="0" err="1">
                <a:solidFill>
                  <a:schemeClr val="dk1"/>
                </a:solidFill>
                <a:latin typeface="Calibri"/>
              </a:rPr>
              <a:t>v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= N × U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 dirty="0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2" name="Picture 5"/>
          <p:cNvPicPr/>
          <p:nvPr/>
        </p:nvPicPr>
        <p:blipFill>
          <a:blip r:embed="rId2"/>
          <a:stretch/>
        </p:blipFill>
        <p:spPr>
          <a:xfrm>
            <a:off x="5719079" y="1645560"/>
            <a:ext cx="3978029" cy="3814100"/>
          </a:xfrm>
          <a:prstGeom prst="rect">
            <a:avLst/>
          </a:prstGeom>
          <a:ln w="0">
            <a:noFill/>
          </a:ln>
        </p:spPr>
      </p:pic>
      <p:pic>
        <p:nvPicPr>
          <p:cNvPr id="103" name="Picture 6"/>
          <p:cNvPicPr/>
          <p:nvPr/>
        </p:nvPicPr>
        <p:blipFill>
          <a:blip r:embed="rId3"/>
          <a:stretch/>
        </p:blipFill>
        <p:spPr>
          <a:xfrm>
            <a:off x="1203781" y="3882258"/>
            <a:ext cx="3074040" cy="22665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E83AFE-9DD1-4771-9716-3CAFF3E99105}" type="slidenum">
              <a:t>6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6450B-29AC-4C15-B453-0C9A12D0E05E}" type="datetime1">
              <a:rPr lang="en-GB"/>
              <a:t>14/01/2026</a:t>
            </a:fld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 dirty="0">
                <a:solidFill>
                  <a:schemeClr val="dk1"/>
                </a:solidFill>
                <a:latin typeface="Calibri Light"/>
              </a:rPr>
              <a:t>Camera/View Space</a:t>
            </a:r>
            <a:endParaRPr lang="en-US" sz="4400" b="0" strike="noStrike" spc="-1" dirty="0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5" name="Picture 5"/>
          <p:cNvPicPr/>
          <p:nvPr/>
        </p:nvPicPr>
        <p:blipFill>
          <a:blip r:embed="rId2"/>
          <a:stretch/>
        </p:blipFill>
        <p:spPr>
          <a:xfrm>
            <a:off x="687600" y="1958040"/>
            <a:ext cx="10816920" cy="3368880"/>
          </a:xfrm>
          <a:prstGeom prst="rect">
            <a:avLst/>
          </a:prstGeom>
          <a:ln w="0">
            <a:noFill/>
          </a:ln>
        </p:spPr>
      </p:pic>
      <p:sp>
        <p:nvSpPr>
          <p:cNvPr id="106" name="Rectangle 6"/>
          <p:cNvSpPr/>
          <p:nvPr/>
        </p:nvSpPr>
        <p:spPr>
          <a:xfrm>
            <a:off x="7394760" y="4836960"/>
            <a:ext cx="582840" cy="476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800" b="0" strike="noStrike" spc="-1">
                <a:solidFill>
                  <a:schemeClr val="accent1">
                    <a:lumMod val="50000"/>
                  </a:schemeClr>
                </a:solidFill>
                <a:latin typeface="Calibri"/>
              </a:rPr>
              <a:t>dz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825A5C5-602E-42C3-B74D-62C5B1329C8A}" type="slidenum">
              <a:t>7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EDE26EE-CD66-468F-8BA9-37C1707ADB5D}" type="datetime1">
              <a:rPr lang="en-GB"/>
              <a:t>14/01/2026</a:t>
            </a:fld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Perspective Projection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8" name="Content Placeholder 5"/>
          <p:cNvPicPr/>
          <p:nvPr/>
        </p:nvPicPr>
        <p:blipFill>
          <a:blip r:embed="rId2"/>
          <a:stretch/>
        </p:blipFill>
        <p:spPr>
          <a:xfrm>
            <a:off x="7167240" y="1371240"/>
            <a:ext cx="4601880" cy="4115160"/>
          </a:xfrm>
          <a:prstGeom prst="rect">
            <a:avLst/>
          </a:prstGeom>
          <a:ln w="0">
            <a:noFill/>
          </a:ln>
        </p:spPr>
      </p:pic>
      <p:pic>
        <p:nvPicPr>
          <p:cNvPr id="109" name="Picture 7"/>
          <p:cNvPicPr/>
          <p:nvPr/>
        </p:nvPicPr>
        <p:blipFill>
          <a:blip r:embed="rId3"/>
          <a:stretch/>
        </p:blipFill>
        <p:spPr>
          <a:xfrm>
            <a:off x="732600" y="2092680"/>
            <a:ext cx="6434280" cy="29919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6C3E037-CCA5-4D3A-8431-1BCFFAC7DEE7}" type="slidenum">
              <a:t>8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F19F4B6-5B82-4F66-BBAC-92899C8E292F}" type="datetime1">
              <a:rPr lang="en-GB"/>
              <a:t>14/01/2026</a:t>
            </a:fld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AE466-AFF7-4B4C-AF4E-DD42A967B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GLM Projection Matrix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DFD7E-6A48-4AA2-8B4C-462FE13D77E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696824" y="1989054"/>
            <a:ext cx="10190376" cy="3980075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::mat4 </a:t>
            </a:r>
            <a:r>
              <a:rPr lang="en-US" sz="2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::perspective(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float </a:t>
            </a:r>
            <a:r>
              <a:rPr lang="en-US" sz="2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fovy</a:t>
            </a: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   </a:t>
            </a:r>
            <a:r>
              <a:rPr lang="en-US" sz="2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field of view (vertical)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float aspect,  </a:t>
            </a:r>
            <a:r>
              <a:rPr lang="en-US" sz="2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width / height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float near,    </a:t>
            </a:r>
            <a:r>
              <a:rPr lang="en-US" sz="2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near clipping plane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float far      </a:t>
            </a:r>
            <a:r>
              <a:rPr lang="en-US" sz="2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far clipping plane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536950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icture 5"/>
          <p:cNvPicPr/>
          <p:nvPr/>
        </p:nvPicPr>
        <p:blipFill>
          <a:blip r:embed="rId2"/>
          <a:stretch/>
        </p:blipFill>
        <p:spPr>
          <a:xfrm>
            <a:off x="7948440" y="684720"/>
            <a:ext cx="4067280" cy="3191040"/>
          </a:xfrm>
          <a:prstGeom prst="rect">
            <a:avLst/>
          </a:prstGeom>
          <a:ln w="0">
            <a:noFill/>
          </a:ln>
        </p:spPr>
      </p:pic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Orthographic Projection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2" name="Arrow: Down 8"/>
          <p:cNvSpPr/>
          <p:nvPr/>
        </p:nvSpPr>
        <p:spPr>
          <a:xfrm>
            <a:off x="10302120" y="3281400"/>
            <a:ext cx="297720" cy="974160"/>
          </a:xfrm>
          <a:prstGeom prst="down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Cube 9"/>
          <p:cNvSpPr/>
          <p:nvPr/>
        </p:nvSpPr>
        <p:spPr>
          <a:xfrm>
            <a:off x="9982080" y="4776480"/>
            <a:ext cx="980280" cy="977760"/>
          </a:xfrm>
          <a:prstGeom prst="cube">
            <a:avLst>
              <a:gd name="adj" fmla="val 25000"/>
            </a:avLst>
          </a:prstGeom>
          <a:gradFill rotWithShape="0"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114" name="Straight Connector 11"/>
          <p:cNvCxnSpPr/>
          <p:nvPr/>
        </p:nvCxnSpPr>
        <p:spPr>
          <a:xfrm flipV="1">
            <a:off x="10472400" y="4389480"/>
            <a:ext cx="360" cy="38700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cxnSp>
        <p:nvCxnSpPr>
          <p:cNvPr id="115" name="Straight Connector 13"/>
          <p:cNvCxnSpPr/>
          <p:nvPr/>
        </p:nvCxnSpPr>
        <p:spPr>
          <a:xfrm flipV="1">
            <a:off x="10863360" y="5227200"/>
            <a:ext cx="490680" cy="936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cxnSp>
        <p:nvCxnSpPr>
          <p:cNvPr id="116" name="Straight Connector 17"/>
          <p:cNvCxnSpPr/>
          <p:nvPr/>
        </p:nvCxnSpPr>
        <p:spPr>
          <a:xfrm flipV="1">
            <a:off x="10828440" y="4563000"/>
            <a:ext cx="276480" cy="32940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117" name="TextBox 22"/>
          <p:cNvSpPr/>
          <p:nvPr/>
        </p:nvSpPr>
        <p:spPr>
          <a:xfrm>
            <a:off x="11109600" y="5189040"/>
            <a:ext cx="7693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X</a:t>
            </a: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norm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23"/>
          <p:cNvSpPr/>
          <p:nvPr/>
        </p:nvSpPr>
        <p:spPr>
          <a:xfrm>
            <a:off x="9736200" y="4349160"/>
            <a:ext cx="7329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Ynorm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24"/>
          <p:cNvSpPr/>
          <p:nvPr/>
        </p:nvSpPr>
        <p:spPr>
          <a:xfrm>
            <a:off x="11011680" y="4241160"/>
            <a:ext cx="7390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Znorm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25"/>
          <p:cNvSpPr/>
          <p:nvPr/>
        </p:nvSpPr>
        <p:spPr>
          <a:xfrm>
            <a:off x="10772280" y="4577760"/>
            <a:ext cx="8305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(1,1,1)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26"/>
          <p:cNvSpPr/>
          <p:nvPr/>
        </p:nvSpPr>
        <p:spPr>
          <a:xfrm>
            <a:off x="9274680" y="5754600"/>
            <a:ext cx="10512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(-1,-1,-1)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27"/>
          <p:cNvSpPr/>
          <p:nvPr/>
        </p:nvSpPr>
        <p:spPr>
          <a:xfrm rot="16200000">
            <a:off x="10106640" y="3386520"/>
            <a:ext cx="14976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Normalization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Picture 30"/>
          <p:cNvPicPr/>
          <p:nvPr/>
        </p:nvPicPr>
        <p:blipFill>
          <a:blip r:embed="rId3"/>
          <a:stretch/>
        </p:blipFill>
        <p:spPr>
          <a:xfrm>
            <a:off x="838080" y="1576440"/>
            <a:ext cx="2742840" cy="1816920"/>
          </a:xfrm>
          <a:prstGeom prst="rect">
            <a:avLst/>
          </a:prstGeom>
          <a:ln w="0">
            <a:noFill/>
          </a:ln>
        </p:spPr>
      </p:pic>
      <p:pic>
        <p:nvPicPr>
          <p:cNvPr id="124" name="Picture 31"/>
          <p:cNvPicPr/>
          <p:nvPr/>
        </p:nvPicPr>
        <p:blipFill>
          <a:blip r:embed="rId4"/>
          <a:stretch/>
        </p:blipFill>
        <p:spPr>
          <a:xfrm>
            <a:off x="2515320" y="2901960"/>
            <a:ext cx="5634360" cy="30200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2C2C6B-FABD-47B9-8773-2BD4FFF6FD89}" type="slidenum">
              <a:t>10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71685EB-2D1D-4994-B859-CDC959B69297}" type="datetime1">
              <a:rPr lang="en-GB"/>
              <a:t>14/01/2026</a:t>
            </a:fld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Viewport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838080" y="15606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7836" lnSpcReduction="10000"/>
          </a:bodyPr>
          <a:lstStyle/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glViewport(0, 0 ,windowWidth ,windowHeight) - sets the region within a window that is used for mapping the clipping volume coordinates to physical window coordinates. </a:t>
            </a: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First two parameters are the x and y coordinate values of the lower left corner of the window and the last two are the width and height of that window.</a:t>
            </a: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Must be less than or equal to the original window width and height.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6687BE-5CD5-4248-AEFA-9A6C2D52C473}" type="slidenum">
              <a:t>11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B2FCA32-6910-4C80-A7E9-D4AE0D7A090E}" type="datetime1">
              <a:rPr lang="en-GB"/>
              <a:t>14/01/2026</a:t>
            </a:fld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Viewport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8" name="Picture 9"/>
          <p:cNvPicPr/>
          <p:nvPr/>
        </p:nvPicPr>
        <p:blipFill>
          <a:blip r:embed="rId2"/>
          <a:stretch/>
        </p:blipFill>
        <p:spPr>
          <a:xfrm>
            <a:off x="2550960" y="1206720"/>
            <a:ext cx="7089480" cy="44442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278206D-E898-4711-8547-7E2C406ED8F7}" type="slidenum">
              <a:t>12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82FB241-E392-4791-972B-B603E5A79FEA}" type="datetime1">
              <a:rPr lang="en-GB"/>
              <a:t>14/01/2026</a:t>
            </a:fld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GL_DEPTH_TEST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1648080" y="2004840"/>
            <a:ext cx="908748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Makes OpenGL to consider the distance of objects from viewer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Which one to render and which one to discard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By default disabled.</a:t>
            </a: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6F008A"/>
                </a:solidFill>
                <a:highlight>
                  <a:srgbClr val="FFFFFF"/>
                </a:highlight>
                <a:latin typeface="Cascadia Mono"/>
              </a:rPr>
              <a:t>glEnable</a:t>
            </a:r>
            <a:r>
              <a:rPr lang="en-US" sz="2800" b="0" strike="noStrike" spc="-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en-US" sz="2800" b="0" strike="noStrike" spc="-1">
                <a:solidFill>
                  <a:srgbClr val="6F008A"/>
                </a:solidFill>
                <a:highlight>
                  <a:srgbClr val="FFFFFF"/>
                </a:highlight>
                <a:latin typeface="Cascadia Mono"/>
              </a:rPr>
              <a:t>GL_DEPTH_TEST</a:t>
            </a:r>
            <a:r>
              <a:rPr lang="en-US" sz="2800" b="0" strike="noStrike" spc="-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);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02E9D2B-3A5E-4579-9F8C-8C6A5FE02B0C}" type="slidenum">
              <a:t>13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473E564-F9F2-4B34-B838-326161E8E8BB}" type="datetime1">
              <a:rPr lang="en-GB"/>
              <a:t>14/01/2026</a:t>
            </a:fld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Winding order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2" name="Content Placeholder 5"/>
          <p:cNvPicPr/>
          <p:nvPr/>
        </p:nvPicPr>
        <p:blipFill>
          <a:blip r:embed="rId2"/>
          <a:stretch/>
        </p:blipFill>
        <p:spPr>
          <a:xfrm>
            <a:off x="2921400" y="2172600"/>
            <a:ext cx="6348960" cy="36568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288093-C228-4FD6-BA1F-E70E4A9975D3}" type="slidenum">
              <a:t>14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EB32873-6530-437D-A43F-84E2326F0D11}" type="datetime1">
              <a:rPr lang="en-GB"/>
              <a:t>14/01/2026</a:t>
            </a:fld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Winding order: Viewer POV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4" name="Content Placeholder 5"/>
          <p:cNvPicPr/>
          <p:nvPr/>
        </p:nvPicPr>
        <p:blipFill>
          <a:blip r:embed="rId2"/>
          <a:stretch/>
        </p:blipFill>
        <p:spPr>
          <a:xfrm>
            <a:off x="2603880" y="2096640"/>
            <a:ext cx="6983640" cy="38091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1C8F37-B4C3-4B66-ABC9-3DB1C4615FAE}" type="slidenum">
              <a:t>15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F31CFDE-E090-482B-AE1A-05910E6736C8}" type="datetime1">
              <a:rPr lang="en-GB"/>
              <a:t>14/01/2026</a:t>
            </a:fld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Element Buffer Object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1097280" y="18918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To eliminate duplication of vertex data</a:t>
            </a:r>
          </a:p>
        </p:txBody>
      </p:sp>
      <p:pic>
        <p:nvPicPr>
          <p:cNvPr id="137" name="Picture 5"/>
          <p:cNvPicPr/>
          <p:nvPr/>
        </p:nvPicPr>
        <p:blipFill>
          <a:blip r:embed="rId2"/>
          <a:stretch/>
        </p:blipFill>
        <p:spPr>
          <a:xfrm>
            <a:off x="838080" y="2886120"/>
            <a:ext cx="4229280" cy="2362320"/>
          </a:xfrm>
          <a:prstGeom prst="rect">
            <a:avLst/>
          </a:prstGeom>
          <a:ln w="0">
            <a:noFill/>
          </a:ln>
        </p:spPr>
      </p:pic>
      <p:pic>
        <p:nvPicPr>
          <p:cNvPr id="138" name="Picture 7"/>
          <p:cNvPicPr/>
          <p:nvPr/>
        </p:nvPicPr>
        <p:blipFill>
          <a:blip r:embed="rId3"/>
          <a:stretch/>
        </p:blipFill>
        <p:spPr>
          <a:xfrm>
            <a:off x="5866920" y="2962440"/>
            <a:ext cx="5838480" cy="22093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C59FDFD-7A53-4E35-87A6-337E82887534}" type="slidenum">
              <a:t>16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683F1D2-F6AE-4BC7-8DFE-7861EEDCA00B}" type="datetime1">
              <a:rPr lang="en-GB"/>
              <a:t>14/01/2026</a:t>
            </a:fld>
            <a:endParaRPr 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03012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 dirty="0">
                <a:solidFill>
                  <a:schemeClr val="dk1"/>
                </a:solidFill>
                <a:latin typeface="Calibri Light"/>
              </a:rPr>
              <a:t>Element Buffer Object</a:t>
            </a:r>
            <a:endParaRPr lang="en-US" sz="4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1097280" y="1611984"/>
            <a:ext cx="10515240" cy="463077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To eliminate duplication of vertex data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C59FDFD-7A53-4E35-87A6-337E82887534}" type="slidenum">
              <a:t>17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683F1D2-F6AE-4BC7-8DFE-7861EEDCA00B}" type="datetime1">
              <a:rPr lang="en-GB"/>
              <a:t>14/01/2026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B23E13-A3D5-4BED-8691-07C6D0B5C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024" y="2322843"/>
            <a:ext cx="4973772" cy="35312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893CD5-57E0-4442-88DD-9C09C3A61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512" y="2322843"/>
            <a:ext cx="5159800" cy="173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455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DE59B-D479-4E7A-8AA2-F6BD31A10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935859"/>
          </a:xfrm>
        </p:spPr>
        <p:txBody>
          <a:bodyPr/>
          <a:lstStyle/>
          <a:p>
            <a:r>
              <a:rPr lang="en-US" dirty="0"/>
              <a:t>VBO Layout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9AA2B1-A8B3-46A1-BBDC-F3B312894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364" y="1845741"/>
            <a:ext cx="10492874" cy="29053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18119E-201D-4603-BB24-00CCFF359E71}"/>
              </a:ext>
            </a:extLst>
          </p:cNvPr>
          <p:cNvSpPr txBox="1"/>
          <p:nvPr/>
        </p:nvSpPr>
        <p:spPr>
          <a:xfrm>
            <a:off x="3680659" y="5089528"/>
            <a:ext cx="4830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VBO with Vertex attribute with Position and Color</a:t>
            </a:r>
          </a:p>
        </p:txBody>
      </p:sp>
    </p:spTree>
    <p:extLst>
      <p:ext uri="{BB962C8B-B14F-4D97-AF65-F5344CB8AC3E}">
        <p14:creationId xmlns:p14="http://schemas.microsoft.com/office/powerpoint/2010/main" val="3575032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DE59B-D479-4E7A-8AA2-F6BD31A10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935859"/>
          </a:xfrm>
        </p:spPr>
        <p:txBody>
          <a:bodyPr/>
          <a:lstStyle/>
          <a:p>
            <a:r>
              <a:rPr lang="en-US" dirty="0"/>
              <a:t>VBO Layout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8119E-201D-4603-BB24-00CCFF359E71}"/>
              </a:ext>
            </a:extLst>
          </p:cNvPr>
          <p:cNvSpPr txBox="1"/>
          <p:nvPr/>
        </p:nvSpPr>
        <p:spPr>
          <a:xfrm>
            <a:off x="2993041" y="5372435"/>
            <a:ext cx="6798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VBO with Vertex attribute with Position, Color and Texture Co-ordinate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C655F2-225E-445A-ACE5-8DFD29DCC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177" y="1890498"/>
            <a:ext cx="9459645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081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Element Buffer Object (contd.)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0" name="Picture 2" descr="Image of VAO's structure / what it stores now also with EBO bindings."/>
          <p:cNvPicPr/>
          <p:nvPr/>
        </p:nvPicPr>
        <p:blipFill>
          <a:blip r:embed="rId2"/>
          <a:stretch/>
        </p:blipFill>
        <p:spPr>
          <a:xfrm>
            <a:off x="1182596" y="1429798"/>
            <a:ext cx="7173360" cy="48477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5EFC12-1127-49A5-99E6-82E71872FDA4}" type="slidenum">
              <a:t>20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08C6B68-8B4E-438E-A086-CEBBBC1DFF1D}" type="datetime1">
              <a:rPr lang="en-GB"/>
              <a:t>14/01/2026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DF45A6-7DE5-4385-901F-0759316DB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469" y="4111961"/>
            <a:ext cx="2601204" cy="16940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678DEC-A4CF-4C34-B1BA-BA91759370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480" y="1429798"/>
            <a:ext cx="3471183" cy="24644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Instructions before the lab task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Calibri Light"/>
              <a:buAutoNum type="arabicPeriod"/>
            </a:pPr>
            <a:r>
              <a:rPr lang="en-US" sz="3200" b="1" strike="noStrike" spc="-1">
                <a:solidFill>
                  <a:srgbClr val="FF0000"/>
                </a:solidFill>
                <a:latin typeface="Calibri"/>
              </a:rPr>
              <a:t>Follow the instructions properly.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Create a new project. (Please)</a:t>
            </a: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Configure the new project. [Hint: C:\opengl\Include, …]</a:t>
            </a: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For each shared file, do</a:t>
            </a:r>
          </a:p>
          <a:p>
            <a:pPr marL="971640" lvl="1" indent="-5144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romanUcPeriod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Create a new file in the project.</a:t>
            </a:r>
          </a:p>
          <a:p>
            <a:pPr marL="971640" lvl="1" indent="-5144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romanUcPeriod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Rename it as the given file.</a:t>
            </a:r>
          </a:p>
          <a:p>
            <a:pPr marL="971640" lvl="1" indent="-5144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romanUcPeriod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Copy the content of the given file into the new file.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B6B2AF-1EF0-45E1-AA5C-7AE65A2B3857}" type="slidenum">
              <a:t>21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2018C81-7917-432B-A452-CB414E1DE060}" type="datetime1">
              <a:rPr lang="en-GB"/>
              <a:t>14/01/2026</a:t>
            </a:fld>
            <a:endParaRPr 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Lab Task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4" name="TextBox 7"/>
          <p:cNvSpPr/>
          <p:nvPr/>
        </p:nvSpPr>
        <p:spPr>
          <a:xfrm>
            <a:off x="4538230" y="5866623"/>
            <a:ext cx="3306459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Draw a 3D Book Shelf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952CC80-E63A-4B46-AE70-C15A76AE3E84}" type="slidenum">
              <a:t>22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5DF2938-94F1-44F6-AE1E-9F65BF7E6EC1}" type="datetime1">
              <a:rPr lang="en-GB"/>
              <a:t>14/01/2026</a:t>
            </a:fld>
            <a:endParaRPr lang="en-GB"/>
          </a:p>
        </p:txBody>
      </p:sp>
      <p:pic>
        <p:nvPicPr>
          <p:cNvPr id="1026" name="Picture 2" descr="Simple bookshelf plans | HowToSpecialist - How to Build, Step by Step DIY  Plans">
            <a:extLst>
              <a:ext uri="{FF2B5EF4-FFF2-40B4-BE49-F238E27FC236}">
                <a16:creationId xmlns:a16="http://schemas.microsoft.com/office/drawing/2014/main" id="{23349642-2B54-4F09-9BB1-4BAB2B32CA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8" r="19911"/>
          <a:stretch/>
        </p:blipFill>
        <p:spPr bwMode="auto">
          <a:xfrm>
            <a:off x="4254235" y="1717311"/>
            <a:ext cx="3874447" cy="4122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EB1C-DE83-475F-9E7A-927CB7555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496" y="164985"/>
            <a:ext cx="7645966" cy="530506"/>
          </a:xfrm>
        </p:spPr>
        <p:txBody>
          <a:bodyPr/>
          <a:lstStyle/>
          <a:p>
            <a:pPr algn="ctr"/>
            <a:r>
              <a:rPr lang="en-US" dirty="0"/>
              <a:t>Assignment B1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E7930B-B314-49EA-8417-65A3FFB52DA1}"/>
              </a:ext>
            </a:extLst>
          </p:cNvPr>
          <p:cNvSpPr txBox="1"/>
          <p:nvPr/>
        </p:nvSpPr>
        <p:spPr>
          <a:xfrm>
            <a:off x="7859432" y="6292905"/>
            <a:ext cx="33465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spc="-1" dirty="0">
                <a:solidFill>
                  <a:schemeClr val="dk1"/>
                </a:solidFill>
                <a:latin typeface="Calibri"/>
              </a:rPr>
              <a:t>Create a Model of 3D Airplane</a:t>
            </a:r>
            <a:endParaRPr lang="en-US" sz="2000" dirty="0"/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81A5D9C9-E413-4E00-B162-7E196F637C23}"/>
              </a:ext>
            </a:extLst>
          </p:cNvPr>
          <p:cNvSpPr/>
          <p:nvPr/>
        </p:nvSpPr>
        <p:spPr>
          <a:xfrm>
            <a:off x="732240" y="1690560"/>
            <a:ext cx="5725122" cy="40919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Implement a viewing transformation (Bird’s Eye View like camera).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Implement Pitch (key X), Yaw (key Y) and Roll (key Z) rotations.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Implement moving forward (key W), backward (key S), left (key A), right (key D), up (key E), and down ( key R) like a flying simulator.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Implement rotating the camera around a look at point using key F.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Rotating Fan (key G), Turn on/ off light (L).</a:t>
            </a: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spc="-1" dirty="0">
                <a:solidFill>
                  <a:schemeClr val="dk1"/>
                </a:solidFill>
                <a:latin typeface="Calibri"/>
              </a:rPr>
              <a:t>Doors and windows can be opened and closed.</a:t>
            </a: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Simulate take off and landing of the plane and functions of the dynamic equipment.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6" name="Picture 2" descr="Generic Airplane 3D model">
            <a:extLst>
              <a:ext uri="{FF2B5EF4-FFF2-40B4-BE49-F238E27FC236}">
                <a16:creationId xmlns:a16="http://schemas.microsoft.com/office/drawing/2014/main" id="{7E6DC343-125E-49E7-A273-A77F447A6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6017" y="925715"/>
            <a:ext cx="5530391" cy="3110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eneric Airplane 3D model">
            <a:extLst>
              <a:ext uri="{FF2B5EF4-FFF2-40B4-BE49-F238E27FC236}">
                <a16:creationId xmlns:a16="http://schemas.microsoft.com/office/drawing/2014/main" id="{F190C7A0-D0DE-42AA-8763-548F88D51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6017" y="4299526"/>
            <a:ext cx="2746829" cy="1545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eneric Airplane 3D model">
            <a:extLst>
              <a:ext uri="{FF2B5EF4-FFF2-40B4-BE49-F238E27FC236}">
                <a16:creationId xmlns:a16="http://schemas.microsoft.com/office/drawing/2014/main" id="{CB466F4E-5F3A-4CB9-9F83-931B01EA2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0729" y="4332269"/>
            <a:ext cx="2659296" cy="1545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4999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EB1C-DE83-475F-9E7A-927CB7555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496" y="164985"/>
            <a:ext cx="7645966" cy="530506"/>
          </a:xfrm>
        </p:spPr>
        <p:txBody>
          <a:bodyPr/>
          <a:lstStyle/>
          <a:p>
            <a:pPr algn="ctr"/>
            <a:r>
              <a:rPr lang="en-US"/>
              <a:t>Assignment A2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E7930B-B314-49EA-8417-65A3FFB52DA1}"/>
              </a:ext>
            </a:extLst>
          </p:cNvPr>
          <p:cNvSpPr txBox="1"/>
          <p:nvPr/>
        </p:nvSpPr>
        <p:spPr>
          <a:xfrm>
            <a:off x="7632441" y="6150114"/>
            <a:ext cx="37380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spc="-1" dirty="0">
                <a:solidFill>
                  <a:schemeClr val="dk1"/>
                </a:solidFill>
                <a:latin typeface="Calibri"/>
              </a:rPr>
              <a:t>Create a Model of 3D gymnasium </a:t>
            </a: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with different dynamic equipment </a:t>
            </a:r>
            <a:endParaRPr lang="en-US" sz="2000" dirty="0"/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81A5D9C9-E413-4E00-B162-7E196F637C23}"/>
              </a:ext>
            </a:extLst>
          </p:cNvPr>
          <p:cNvSpPr/>
          <p:nvPr/>
        </p:nvSpPr>
        <p:spPr>
          <a:xfrm>
            <a:off x="732240" y="1690560"/>
            <a:ext cx="5725122" cy="37841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Implement a viewing transformation (Bird’s Eye View like camera).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Implement Pitch (key X), Yaw (key Y) and Roll (key Z) rotations.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Implement moving forward (key W), backward (key S), left (key A), right (key D), up (key E), and down ( key R) like a flying simulator.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Implement rotating the camera around a look at point using key F.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Rotating Fan (key G), Turn on/ off light (L).</a:t>
            </a: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spc="-1" dirty="0">
                <a:solidFill>
                  <a:schemeClr val="dk1"/>
                </a:solidFill>
                <a:latin typeface="Calibri"/>
              </a:rPr>
              <a:t>Doors and windows can be opened and closed.</a:t>
            </a: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Simulate the function of the dynamic equipment.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511" y="1074107"/>
            <a:ext cx="4953397" cy="294054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441" y="4199551"/>
            <a:ext cx="3573535" cy="176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61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EB1C-DE83-475F-9E7A-927CB7555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496" y="164985"/>
            <a:ext cx="7645966" cy="530506"/>
          </a:xfrm>
        </p:spPr>
        <p:txBody>
          <a:bodyPr/>
          <a:lstStyle/>
          <a:p>
            <a:pPr algn="ctr"/>
            <a:r>
              <a:rPr lang="en-US" dirty="0"/>
              <a:t>Assignment B2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E7930B-B314-49EA-8417-65A3FFB52DA1}"/>
              </a:ext>
            </a:extLst>
          </p:cNvPr>
          <p:cNvSpPr txBox="1"/>
          <p:nvPr/>
        </p:nvSpPr>
        <p:spPr>
          <a:xfrm>
            <a:off x="8969866" y="6292905"/>
            <a:ext cx="17107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Draw a 3D Bus </a:t>
            </a:r>
            <a:endParaRPr lang="en-US" sz="2000" dirty="0"/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81A5D9C9-E413-4E00-B162-7E196F637C23}"/>
              </a:ext>
            </a:extLst>
          </p:cNvPr>
          <p:cNvSpPr/>
          <p:nvPr/>
        </p:nvSpPr>
        <p:spPr>
          <a:xfrm>
            <a:off x="732240" y="1690560"/>
            <a:ext cx="5725122" cy="37841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Implement a viewing transformation (Bird’s Eye View like camera).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Implement Pitch (key X), Yaw (key Y) and Roll (key Z) rotations.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Implement moving forward (key W), backward (key S), left (key A), right (key D), up (key E), and down ( key R) like a flying simulator.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Implement rotating the camera around a look at point using key F.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Rotating Fan (key G), Turn on/ off light (L).</a:t>
            </a: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spc="-1" dirty="0">
                <a:solidFill>
                  <a:schemeClr val="dk1"/>
                </a:solidFill>
                <a:latin typeface="Calibri"/>
              </a:rPr>
              <a:t>Doors and windows can be opened and closed.</a:t>
            </a: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Simulate driving the bus.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BDCBDA-D4E4-47D5-891E-B444E5611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4432" y="785456"/>
            <a:ext cx="4187938" cy="2708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8AF076-24EB-4B75-B315-4CA531DE2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432" y="3584162"/>
            <a:ext cx="2435992" cy="22604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B26D95-69BB-474D-B067-7FB3146F6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4596" y="3584162"/>
            <a:ext cx="2416595" cy="226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5730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EB1C-DE83-475F-9E7A-927CB7555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016810"/>
          </a:xfrm>
        </p:spPr>
        <p:txBody>
          <a:bodyPr/>
          <a:lstStyle/>
          <a:p>
            <a:pPr algn="ctr"/>
            <a:r>
              <a:rPr lang="en-US"/>
              <a:t>Assignment A1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8D67CD-5812-4316-9005-929435DFE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767" y="1772665"/>
            <a:ext cx="5202017" cy="33943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E7930B-B314-49EA-8417-65A3FFB52DA1}"/>
              </a:ext>
            </a:extLst>
          </p:cNvPr>
          <p:cNvSpPr txBox="1"/>
          <p:nvPr/>
        </p:nvSpPr>
        <p:spPr>
          <a:xfrm>
            <a:off x="8052849" y="5431131"/>
            <a:ext cx="27785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Draw a 3D Laboratory </a:t>
            </a:r>
            <a:endParaRPr lang="en-US" sz="2000" dirty="0"/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81A5D9C9-E413-4E00-B162-7E196F637C23}"/>
              </a:ext>
            </a:extLst>
          </p:cNvPr>
          <p:cNvSpPr/>
          <p:nvPr/>
        </p:nvSpPr>
        <p:spPr>
          <a:xfrm>
            <a:off x="732240" y="1690560"/>
            <a:ext cx="5725122" cy="34764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Implement a viewing transformation (Bird’s Eye View like camera).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Implement Pitch (key X), Yaw (key Y) and Roll (key Z) rotations.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Implement moving forward (key W), backward (key S), left (key A), right (key D), up (key E), and down ( key R) like a flying simulator.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Implement rotating the camera around a look at point using key F.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Rotating Fan (key G), Turn on/ off light (L).</a:t>
            </a: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spc="-1" dirty="0">
                <a:solidFill>
                  <a:schemeClr val="dk1"/>
                </a:solidFill>
                <a:latin typeface="Calibri"/>
              </a:rPr>
              <a:t>Doors and windows can be opened and closed.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0716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References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sng" strike="noStrike" spc="-1">
                <a:solidFill>
                  <a:schemeClr val="dk1"/>
                </a:solidFill>
                <a:uFillTx/>
                <a:latin typeface="Calibri"/>
                <a:hlinkClick r:id="rId2"/>
              </a:rPr>
              <a:t>https://learnopengl.com/Getting-started/Coordinate-Systems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sng" strike="noStrike" spc="-1">
                <a:solidFill>
                  <a:schemeClr val="dk1"/>
                </a:solidFill>
                <a:uFillTx/>
                <a:latin typeface="Calibri"/>
                <a:hlinkClick r:id="rId3"/>
              </a:rPr>
              <a:t>https://gamedev.stackexchange.com/questions/120338/what-does-a-perspective-projection-matrix-look-like-in-opengl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sng" strike="noStrike" spc="-1">
                <a:solidFill>
                  <a:schemeClr val="dk1"/>
                </a:solidFill>
                <a:uFillTx/>
                <a:latin typeface="Calibri"/>
                <a:hlinkClick r:id="rId4"/>
              </a:rPr>
              <a:t>https://www.geeksforgeeks.org/window-to-viewport-transformation-in-computer-graphics-with-implementation/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Dr. Sk. Md. Masudul Ahsan, (2022), L4 3D Viewing2_HoV1 [PDF document], Khulna University of Engineering &amp; Technology.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1A910CD-65D4-4D9A-8E1C-E41501D394FC}" type="slidenum">
              <a:t>27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D8945DE-BAE7-41EB-90A0-A1E5CC607825}" type="datetime1">
              <a:rPr lang="en-GB"/>
              <a:t>14/01/2026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2468</TotalTime>
  <Words>1026</Words>
  <Application>Microsoft Office PowerPoint</Application>
  <PresentationFormat>Widescreen</PresentationFormat>
  <Paragraphs>158</Paragraphs>
  <Slides>27</Slides>
  <Notes>0</Notes>
  <HiddenSlides>6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27</vt:i4>
      </vt:variant>
    </vt:vector>
  </HeadingPairs>
  <TitlesOfParts>
    <vt:vector size="46" baseType="lpstr">
      <vt:lpstr>Arial</vt:lpstr>
      <vt:lpstr>Calibri</vt:lpstr>
      <vt:lpstr>Calibri Light</vt:lpstr>
      <vt:lpstr>Cascadia Mono</vt:lpstr>
      <vt:lpstr>Courier New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3D object creation and applying transformations</vt:lpstr>
      <vt:lpstr>What you will see today</vt:lpstr>
      <vt:lpstr>How to draw a 3D Object?</vt:lpstr>
      <vt:lpstr>Different Coordinate System</vt:lpstr>
      <vt:lpstr>Camera/ View Space</vt:lpstr>
      <vt:lpstr>Camera/View Space</vt:lpstr>
      <vt:lpstr>Camera/View Space</vt:lpstr>
      <vt:lpstr>Perspective Projection</vt:lpstr>
      <vt:lpstr>GLM Projection Matrix </vt:lpstr>
      <vt:lpstr>Orthographic Projection</vt:lpstr>
      <vt:lpstr>Viewport</vt:lpstr>
      <vt:lpstr>Viewport</vt:lpstr>
      <vt:lpstr>GL_DEPTH_TEST</vt:lpstr>
      <vt:lpstr>Winding order</vt:lpstr>
      <vt:lpstr>Winding order: Viewer POV</vt:lpstr>
      <vt:lpstr>Element Buffer Object</vt:lpstr>
      <vt:lpstr>Element Buffer Object</vt:lpstr>
      <vt:lpstr>VBO Layout</vt:lpstr>
      <vt:lpstr>VBO Layout</vt:lpstr>
      <vt:lpstr>Element Buffer Object (contd.)</vt:lpstr>
      <vt:lpstr>Instructions before the lab task</vt:lpstr>
      <vt:lpstr>Lab Task</vt:lpstr>
      <vt:lpstr>Assignment B1</vt:lpstr>
      <vt:lpstr>Assignment A2</vt:lpstr>
      <vt:lpstr>Assignment B2</vt:lpstr>
      <vt:lpstr>Assignment A1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Opengl Primitives and 2d transformation</dc:title>
  <dc:subject/>
  <dc:creator>Nazirul Hasan</dc:creator>
  <dc:description/>
  <cp:lastModifiedBy>Tajmilur</cp:lastModifiedBy>
  <cp:revision>132</cp:revision>
  <cp:lastPrinted>2024-11-05T05:55:47Z</cp:lastPrinted>
  <dcterms:created xsi:type="dcterms:W3CDTF">2023-08-29T09:25:23Z</dcterms:created>
  <dcterms:modified xsi:type="dcterms:W3CDTF">2026-01-14T03:53:55Z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10</vt:i4>
  </property>
  <property fmtid="{D5CDD505-2E9C-101B-9397-08002B2CF9AE}" pid="3" name="PresentationFormat">
    <vt:lpwstr>Widescreen</vt:lpwstr>
  </property>
  <property fmtid="{D5CDD505-2E9C-101B-9397-08002B2CF9AE}" pid="4" name="Slides">
    <vt:i4>26</vt:i4>
  </property>
</Properties>
</file>